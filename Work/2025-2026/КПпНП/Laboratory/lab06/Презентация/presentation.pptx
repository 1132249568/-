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latex-project.org/" TargetMode="External" /><Relationship Id="rId3" Type="http://schemas.openxmlformats.org/officeDocument/2006/relationships/hyperlink" Target="https://www.ctan.org/" TargetMode="External" /><Relationship Id="rId4" Type="http://schemas.openxmlformats.org/officeDocument/2006/relationships/hyperlink" Target="https://ctan.org/pkg/biblatex" TargetMode="External" /><Relationship Id="rId5" Type="http://schemas.openxmlformats.org/officeDocument/2006/relationships/hyperlink" Target="https://ctan.org/pkg/biber" TargetMode="External" /><Relationship Id="rId6" Type="http://schemas.openxmlformats.org/officeDocument/2006/relationships/hyperlink" Target="https://www.overleaf.com/learn" TargetMode="External" /><Relationship Id="rId7" Type="http://schemas.openxmlformats.org/officeDocument/2006/relationships/hyperlink" Target="https://tex.stackexchange.com/" TargetMode="External" /><Relationship Id="rId8" Type="http://schemas.openxmlformats.org/officeDocument/2006/relationships/hyperlink" Target="https://www.latex.ru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Работа с библиографией в LaTeX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Использование BibTeX и biblatex</a:t>
            </a:r>
            <a:br/>
            <a:br/>
            <a:r>
              <a:rPr/>
              <a:t>Викторов Егор</a:t>
            </a:r>
            <a:br/>
            <a:r>
              <a:rPr/>
              <a:t>Группа НПМмд02-24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2025-11-22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План презентации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Введение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Актуальность темы</a:t>
            </a:r>
          </a:p>
          <a:p>
            <a:pPr lvl="0" indent="0" marL="0">
              <a:buNone/>
            </a:pPr>
            <a:r>
              <a:rPr/>
              <a:t>0.5 </a:t>
            </a:r>
            <a:r>
              <a:rPr b="1"/>
              <a:t>Проблемы ручного оформления:</a:t>
            </a:r>
          </a:p>
          <a:p>
            <a:pPr lvl="0"/>
            <a:r>
              <a:rPr/>
              <a:t> Трудоемкость</a:t>
            </a:r>
          </a:p>
          <a:p>
            <a:pPr lvl="0"/>
            <a:r>
              <a:rPr/>
              <a:t> Высокая вероятность ошибок</a:t>
            </a:r>
          </a:p>
          <a:p>
            <a:pPr lvl="0"/>
            <a:r>
              <a:rPr/>
              <a:t> Сложность изменения стиля</a:t>
            </a:r>
          </a:p>
          <a:p>
            <a:pPr lvl="0"/>
            <a:r>
              <a:rPr/>
              <a:t> Неединообразие оформления</a:t>
            </a:r>
          </a:p>
          <a:p>
            <a:pPr lvl="0" indent="0" marL="0">
              <a:buNone/>
            </a:pPr>
            <a:r>
              <a:rPr/>
              <a:t>0.5 </a:t>
            </a:r>
            <a:r>
              <a:rPr b="1"/>
              <a:t>Преимущества автоматизации:</a:t>
            </a:r>
          </a:p>
          <a:p>
            <a:pPr lvl="0"/>
            <a:r>
              <a:rPr/>
              <a:t> Экономия времени</a:t>
            </a:r>
          </a:p>
          <a:p>
            <a:pPr lvl="0"/>
            <a:r>
              <a:rPr/>
              <a:t> Минимум ошибок</a:t>
            </a:r>
          </a:p>
          <a:p>
            <a:pPr lvl="0"/>
            <a:r>
              <a:rPr/>
              <a:t> Легкая смена стиля</a:t>
            </a:r>
          </a:p>
          <a:p>
            <a:pPr lvl="0"/>
            <a:r>
              <a:rPr/>
              <a:t> Единый формат</a:t>
            </a:r>
          </a:p>
          <a:p>
            <a:pPr lvl="0" indent="0" marL="0">
              <a:buNone/>
            </a:pPr>
            <a:r>
              <a:rPr/>
              <a:t>Вывод Автоматизация управления библиографией — необходимость для современных научных публикаций</a:t>
            </a:r>
          </a:p>
          <a:p>
            <a:pPr lvl="0" indent="0" marL="0">
              <a:buNone/>
            </a:pPr>
            <a:r>
              <a:rPr/>
              <a:t>Цель и задачи работы</a:t>
            </a:r>
          </a:p>
          <a:p>
            <a:pPr lvl="0" indent="0" marL="0">
              <a:buNone/>
            </a:pPr>
            <a:r>
              <a:rPr/>
              <a:t>Цель работы Изучение методов работы с библиографическими ссылками в системе LaTeX и освоение инструментов BibTeX и biblatex</a:t>
            </a:r>
          </a:p>
          <a:p>
            <a:pPr lvl="0" indent="0" marL="0">
              <a:buNone/>
            </a:pPr>
            <a:r>
              <a:rPr b="1"/>
              <a:t>Задачи работы:</a:t>
            </a:r>
          </a:p>
          <a:p>
            <a:pPr lvl="0" indent="-342900" marL="342900">
              <a:buAutoNum type="arabicPeriod"/>
            </a:pPr>
            <a:r>
              <a:rPr/>
              <a:t>Изучить структуру файлов библиографии формата </a:t>
            </a:r>
            <a:r>
              <a:rPr>
                <a:latin typeface="Courier"/>
              </a:rPr>
              <a:t>.bib</a:t>
            </a:r>
          </a:p>
          <a:p>
            <a:pPr lvl="0" indent="-342900" marL="342900">
              <a:buAutoNum type="arabicPeriod"/>
            </a:pPr>
            <a:r>
              <a:rPr/>
              <a:t>Освоить различные типы библиографических записей</a:t>
            </a:r>
          </a:p>
          <a:p>
            <a:pPr lvl="0" indent="-342900" marL="342900">
              <a:buAutoNum type="arabicPeriod"/>
            </a:pPr>
            <a:r>
              <a:rPr/>
              <a:t>Научиться использовать команды цитирования</a:t>
            </a:r>
          </a:p>
          <a:p>
            <a:pPr lvl="0" indent="-342900" marL="342900">
              <a:buAutoNum type="arabicPeriod"/>
            </a:pPr>
            <a:r>
              <a:rPr/>
              <a:t>Изучить различные стили оформления библиографии</a:t>
            </a:r>
          </a:p>
          <a:p>
            <a:pPr lvl="0" indent="-342900" marL="342900">
              <a:buAutoNum type="arabicPeriod"/>
            </a:pPr>
            <a:r>
              <a:rPr/>
              <a:t>Настроить автоматическую компиляцию документа</a:t>
            </a:r>
          </a:p>
          <a:p>
            <a:pPr lvl="0" indent="-342900" marL="342900">
              <a:buAutoNum type="arabicPeriod"/>
            </a:pPr>
            <a:r>
              <a:rPr/>
              <a:t>Создать документ с корректно оформленными ссылками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Теоретическая часть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История развития</a:t>
            </a:r>
          </a:p>
          <a:p>
            <a:pPr lvl="0"/>
            <a:r>
              <a:rPr b="1"/>
              <a:t>1978</a:t>
            </a:r>
            <a:r>
              <a:rPr/>
              <a:t> — Дональд Кнут создает TeX</a:t>
            </a:r>
          </a:p>
          <a:p>
            <a:pPr lvl="0"/>
            <a:r>
              <a:rPr b="1"/>
              <a:t>1985</a:t>
            </a:r>
            <a:r>
              <a:rPr/>
              <a:t> — Лесли Лампорт разрабатывает LaTeX</a:t>
            </a:r>
          </a:p>
          <a:p>
            <a:pPr lvl="0"/>
            <a:r>
              <a:rPr b="1"/>
              <a:t>1988</a:t>
            </a:r>
            <a:r>
              <a:rPr/>
              <a:t> — Орен Паташник представляет BibTeX</a:t>
            </a:r>
          </a:p>
          <a:p>
            <a:pPr lvl="0"/>
            <a:r>
              <a:rPr b="1"/>
              <a:t>2006</a:t>
            </a:r>
            <a:r>
              <a:rPr/>
              <a:t> — Филипп Леман создает biblatex</a:t>
            </a:r>
          </a:p>
          <a:p>
            <a:pPr lvl="0" indent="0" marL="0">
              <a:buNone/>
            </a:pPr>
            <a:r>
              <a:rPr/>
              <a:t>BibTeX vs biblatex</a:t>
            </a:r>
          </a:p>
          <a:p>
            <a:pPr lvl="0" indent="0" marL="0">
              <a:buNone/>
            </a:pPr>
            <a:r>
              <a:rPr/>
              <a:t>0.48</a:t>
            </a:r>
          </a:p>
          <a:p>
            <a:pPr lvl="0" indent="0" marL="0">
              <a:buNone/>
            </a:pPr>
            <a:r>
              <a:rPr/>
              <a:t>BibTeX </a:t>
            </a:r>
            <a:r>
              <a:rPr b="1"/>
              <a:t>Преимущества:</a:t>
            </a:r>
          </a:p>
          <a:p>
            <a:pPr lvl="0"/>
            <a:r>
              <a:rPr/>
              <a:t>Простота</a:t>
            </a:r>
          </a:p>
          <a:p>
            <a:pPr lvl="0"/>
            <a:r>
              <a:rPr/>
              <a:t>Стабильность</a:t>
            </a:r>
          </a:p>
          <a:p>
            <a:pPr lvl="0"/>
            <a:r>
              <a:rPr/>
              <a:t>Широкая поддержка</a:t>
            </a:r>
          </a:p>
          <a:p>
            <a:pPr lvl="0" indent="0" marL="0">
              <a:buNone/>
            </a:pPr>
            <a:r>
              <a:rPr b="1"/>
              <a:t>Недостатки:</a:t>
            </a:r>
          </a:p>
          <a:p>
            <a:pPr lvl="0"/>
            <a:r>
              <a:rPr/>
              <a:t>Ограниченная Unicode поддержка</a:t>
            </a:r>
          </a:p>
          <a:p>
            <a:pPr lvl="0"/>
            <a:r>
              <a:rPr/>
              <a:t>Сложность настройки</a:t>
            </a:r>
          </a:p>
          <a:p>
            <a:pPr lvl="0"/>
            <a:r>
              <a:rPr/>
              <a:t>Устаревший код</a:t>
            </a:r>
          </a:p>
          <a:p>
            <a:pPr lvl="0" indent="0" marL="0">
              <a:buNone/>
            </a:pPr>
            <a:r>
              <a:rPr/>
              <a:t>0.48</a:t>
            </a:r>
          </a:p>
          <a:p>
            <a:pPr lvl="0" indent="0" marL="0">
              <a:buNone/>
            </a:pPr>
            <a:r>
              <a:rPr/>
              <a:t>biblatex </a:t>
            </a:r>
            <a:r>
              <a:rPr b="1"/>
              <a:t>Преимущества:</a:t>
            </a:r>
          </a:p>
          <a:p>
            <a:pPr lvl="0"/>
            <a:r>
              <a:rPr/>
              <a:t>Полная Unicode поддержка</a:t>
            </a:r>
          </a:p>
          <a:p>
            <a:pPr lvl="0"/>
            <a:r>
              <a:rPr/>
              <a:t>Гибкая настройка</a:t>
            </a:r>
          </a:p>
          <a:p>
            <a:pPr lvl="0"/>
            <a:r>
              <a:rPr/>
              <a:t>Современный подход</a:t>
            </a:r>
          </a:p>
          <a:p>
            <a:pPr lvl="0"/>
            <a:r>
              <a:rPr/>
              <a:t>Backend Biber</a:t>
            </a:r>
          </a:p>
          <a:p>
            <a:pPr lvl="0" indent="0" marL="0">
              <a:buNone/>
            </a:pPr>
            <a:r>
              <a:rPr b="1"/>
              <a:t>Недостатки:</a:t>
            </a:r>
          </a:p>
          <a:p>
            <a:pPr lvl="0"/>
            <a:r>
              <a:rPr/>
              <a:t>Более сложный</a:t>
            </a:r>
          </a:p>
          <a:p>
            <a:pPr lvl="0"/>
            <a:r>
              <a:rPr/>
              <a:t>Требует изучения</a:t>
            </a:r>
          </a:p>
          <a:p>
            <a:pPr lvl="0" indent="0" marL="0">
              <a:buNone/>
            </a:pPr>
            <a:r>
              <a:rPr/>
              <a:t>Структура файла библиографии </a:t>
            </a:r>
            <a:r>
              <a:rPr b="1"/>
              <a:t>Общая структура записи:</a:t>
            </a:r>
          </a:p>
          <a:p>
            <a:pPr lvl="0" indent="0">
              <a:buNone/>
            </a:pPr>
            <a:r>
              <a:rPr>
                <a:latin typeface="Courier"/>
              </a:rPr>
              <a:t>@ТИП_ИСТОЧНИКА{ключ_цитирования,
  поле1 = {значение1},
  поле2 = {значение2},
  поле3 = {значение3}
}</a:t>
            </a:r>
          </a:p>
          <a:p>
            <a:pPr lvl="0" indent="0" marL="0">
              <a:buNone/>
            </a:pPr>
            <a:r>
              <a:rPr b="1"/>
              <a:t>Пример записи книги:</a:t>
            </a:r>
          </a:p>
          <a:p>
            <a:pPr lvl="0" indent="0">
              <a:buNone/>
            </a:pPr>
            <a:r>
              <a:rPr>
                <a:latin typeface="Courier"/>
              </a:rPr>
              <a:t>@book{knuth1984,
  author    = {Donald E. Knuth},
  title     = {The TeXbook},
  publisher = {Addison-Wesley},
  year      = {1984},
  isbn      = {0-201-13447-0}
}</a:t>
            </a:r>
          </a:p>
          <a:p>
            <a:pPr lvl="0" indent="0" marL="0">
              <a:buNone/>
            </a:pPr>
            <a:r>
              <a:rPr/>
              <a:t>Типы библиографических записей</a:t>
            </a:r>
          </a:p>
          <a:p>
            <a:pPr lvl="0" indent="0" marL="0">
              <a:buNone/>
            </a:pPr>
            <a:r>
              <a:rPr/>
              <a:t>0.48 </a:t>
            </a:r>
            <a:r>
              <a:rPr b="1"/>
              <a:t>Печатные издания:</a:t>
            </a:r>
          </a:p>
          <a:p>
            <a:pPr lvl="0"/>
            <a:r>
              <a:rPr>
                <a:latin typeface="Courier"/>
              </a:rPr>
              <a:t>@book</a:t>
            </a:r>
            <a:r>
              <a:rPr/>
              <a:t> — книга</a:t>
            </a:r>
          </a:p>
          <a:p>
            <a:pPr lvl="0"/>
            <a:r>
              <a:rPr>
                <a:latin typeface="Courier"/>
              </a:rPr>
              <a:t>@article</a:t>
            </a:r>
            <a:r>
              <a:rPr/>
              <a:t> — статья</a:t>
            </a:r>
          </a:p>
          <a:p>
            <a:pPr lvl="0"/>
            <a:r>
              <a:rPr>
                <a:latin typeface="Courier"/>
              </a:rPr>
              <a:t>@inproceedings</a:t>
            </a:r>
            <a:r>
              <a:rPr/>
              <a:t> — конференция</a:t>
            </a:r>
          </a:p>
          <a:p>
            <a:pPr lvl="0"/>
            <a:r>
              <a:rPr>
                <a:latin typeface="Courier"/>
              </a:rPr>
              <a:t>@phdthesis</a:t>
            </a:r>
            <a:r>
              <a:rPr/>
              <a:t> — диссертация</a:t>
            </a:r>
          </a:p>
          <a:p>
            <a:pPr lvl="0"/>
            <a:r>
              <a:rPr>
                <a:latin typeface="Courier"/>
              </a:rPr>
              <a:t>@manual</a:t>
            </a:r>
            <a:r>
              <a:rPr/>
              <a:t> — руководство</a:t>
            </a:r>
          </a:p>
          <a:p>
            <a:pPr lvl="0" indent="0" marL="0">
              <a:buNone/>
            </a:pPr>
            <a:r>
              <a:rPr/>
              <a:t>0.48 </a:t>
            </a:r>
            <a:r>
              <a:rPr b="1"/>
              <a:t>Электронные ресурсы:</a:t>
            </a:r>
          </a:p>
          <a:p>
            <a:pPr lvl="0"/>
            <a:r>
              <a:rPr>
                <a:latin typeface="Courier"/>
              </a:rPr>
              <a:t>@online</a:t>
            </a:r>
            <a:r>
              <a:rPr/>
              <a:t> — веб-сайт</a:t>
            </a:r>
          </a:p>
          <a:p>
            <a:pPr lvl="0"/>
            <a:r>
              <a:rPr>
                <a:latin typeface="Courier"/>
              </a:rPr>
              <a:t>@techreport</a:t>
            </a:r>
            <a:r>
              <a:rPr/>
              <a:t> — тех. отчет</a:t>
            </a:r>
          </a:p>
          <a:p>
            <a:pPr lvl="0"/>
            <a:r>
              <a:rPr>
                <a:latin typeface="Courier"/>
              </a:rPr>
              <a:t>@misc</a:t>
            </a:r>
            <a:r>
              <a:rPr/>
              <a:t> — прочее</a:t>
            </a:r>
          </a:p>
          <a:p>
            <a:pPr lvl="0"/>
            <a:r>
              <a:rPr>
                <a:latin typeface="Courier"/>
              </a:rPr>
              <a:t>@unpublished</a:t>
            </a:r>
            <a:r>
              <a:rPr/>
              <a:t> — неопубликованное</a:t>
            </a:r>
          </a:p>
          <a:p>
            <a:pPr lvl="0" indent="0" marL="0">
              <a:buNone/>
            </a:pPr>
            <a:r>
              <a:rPr/>
              <a:t>Совет Выбирайте наиболее подходящий тип для каждого источника — это влияет на форматирование в списке литературы</a:t>
            </a:r>
          </a:p>
          <a:p>
            <a:pPr lvl="0" indent="0" marL="0">
              <a:buNone/>
            </a:pPr>
            <a:r>
              <a:rPr/>
              <a:t>Команды цитирования</a:t>
            </a:r>
          </a:p>
          <a:p>
            <a:pPr lvl="0" indent="0" marL="0">
              <a:buNone/>
            </a:pPr>
            <a:r>
              <a:rPr/>
              <a:t>Важно! Выбор команды зависит от стиля цитирования и контекста использования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Практическая часть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Настройка документа </a:t>
            </a:r>
            <a:r>
              <a:rPr b="1"/>
              <a:t>Подключение пакета biblatex:</a:t>
            </a:r>
          </a:p>
          <a:p>
            <a:pPr lvl="0" indent="0">
              <a:buNone/>
            </a:pPr>
            <a:r>
              <a:rPr>
                <a:latin typeface="Courier"/>
              </a:rPr>
              <a:t>\usepackage[
  backend=biber,        % Используем Biber
  style=gost-numeric,   % Стиль ГОСТ
  sorting=none,         % Без сортировки
  maxbibnames=99,       % Все авторы
  doi=true,             % Показывать DOI
  isbn=true,            % Показывать ISBN
  url=true              % Показывать URL
]{biblatex}
\addbibresource{references.bib}</a:t>
            </a:r>
          </a:p>
          <a:p>
            <a:pPr lvl="0" indent="0" marL="0">
              <a:buNone/>
            </a:pPr>
            <a:r>
              <a:rPr b="1"/>
              <a:t>Вывод списка литературы:</a:t>
            </a:r>
          </a:p>
          <a:p>
            <a:pPr lvl="0" indent="0">
              <a:buNone/>
            </a:pPr>
            <a:r>
              <a:rPr>
                <a:latin typeface="Courier"/>
              </a:rPr>
              <a:t>\printbibliography[title={Список литературы}]</a:t>
            </a:r>
          </a:p>
          <a:p>
            <a:pPr lvl="0" indent="0" marL="0">
              <a:buNone/>
            </a:pPr>
            <a:r>
              <a:rPr/>
              <a:t>Процесс компиляции</a:t>
            </a:r>
          </a:p>
          <a:p>
            <a:pPr lvl="0" indent="0" marL="0">
              <a:buNone/>
            </a:pPr>
            <a:r>
              <a:rPr/>
              <a:t>Автоматизация с latexmk </a:t>
            </a:r>
            <a:r>
              <a:rPr b="1"/>
              <a:t>Создание файла .latexmkrc:</a:t>
            </a:r>
          </a:p>
          <a:p>
            <a:pPr lvl="0" indent="0">
              <a:buNone/>
            </a:pPr>
            <a:r>
              <a:rPr>
                <a:solidFill>
                  <a:srgbClr val="19177C"/>
                </a:solidFill>
                <a:latin typeface="Courier"/>
              </a:rPr>
              <a:t>$pdf_mode</a:t>
            </a:r>
            <a:r>
              <a:rPr>
                <a:latin typeface="Courier"/>
              </a:rPr>
              <a:t> = 1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br/>
            <a:r>
              <a:rPr>
                <a:solidFill>
                  <a:srgbClr val="19177C"/>
                </a:solidFill>
                <a:latin typeface="Courier"/>
              </a:rPr>
              <a:t>$biber</a:t>
            </a:r>
            <a:r>
              <a:rPr>
                <a:latin typeface="Courier"/>
              </a:rPr>
              <a:t> = </a:t>
            </a:r>
            <a:r>
              <a:rPr>
                <a:solidFill>
                  <a:srgbClr val="4070A0"/>
                </a:solidFill>
                <a:latin typeface="Courier"/>
              </a:rPr>
              <a:t>'biber %O %S'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br/>
            <a:r>
              <a:rPr>
                <a:solidFill>
                  <a:srgbClr val="19177C"/>
                </a:solidFill>
                <a:latin typeface="Courier"/>
              </a:rPr>
              <a:t>$pdflatex</a:t>
            </a:r>
            <a:r>
              <a:rPr>
                <a:latin typeface="Courier"/>
              </a:rPr>
              <a:t> = </a:t>
            </a:r>
            <a:r>
              <a:rPr>
                <a:solidFill>
                  <a:srgbClr val="4070A0"/>
                </a:solidFill>
                <a:latin typeface="Courier"/>
              </a:rPr>
              <a:t>'pdflatex -interaction=nonstopmode'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</a:p>
          <a:p>
            <a:pPr lvl="0" indent="0" marL="0">
              <a:buNone/>
            </a:pPr>
            <a:r>
              <a:rPr b="1"/>
              <a:t>Команды компиляции: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Компиляция</a:t>
            </a:r>
            <a:br/>
            <a:r>
              <a:rPr>
                <a:latin typeface="Courier"/>
              </a:rPr>
              <a:t>latexmk </a:t>
            </a:r>
            <a:r>
              <a:rPr>
                <a:solidFill>
                  <a:srgbClr val="7D9029"/>
                </a:solidFill>
                <a:latin typeface="Courier"/>
              </a:rPr>
              <a:t>-pdf</a:t>
            </a:r>
            <a:r>
              <a:rPr>
                <a:latin typeface="Courier"/>
              </a:rPr>
              <a:t> document.tex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Очистка временных файлов</a:t>
            </a:r>
            <a:br/>
            <a:r>
              <a:rPr>
                <a:latin typeface="Courier"/>
              </a:rPr>
              <a:t>latexmk </a:t>
            </a:r>
            <a:r>
              <a:rPr>
                <a:solidFill>
                  <a:srgbClr val="7D9029"/>
                </a:solidFill>
                <a:latin typeface="Courier"/>
              </a:rPr>
              <a:t>-c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Полная очистка</a:t>
            </a:r>
            <a:br/>
            <a:r>
              <a:rPr>
                <a:latin typeface="Courier"/>
              </a:rPr>
              <a:t>latexmk </a:t>
            </a:r>
            <a:r>
              <a:rPr>
                <a:solidFill>
                  <a:srgbClr val="7D9029"/>
                </a:solidFill>
                <a:latin typeface="Courier"/>
              </a:rPr>
              <a:t>-C</a:t>
            </a:r>
          </a:p>
          <a:p>
            <a:pPr lvl="0" indent="0" marL="0">
              <a:buNone/>
            </a:pPr>
            <a:r>
              <a:rPr/>
              <a:t>Примеры цитирования</a:t>
            </a:r>
          </a:p>
          <a:p>
            <a:pPr lvl="0" indent="0" marL="0">
              <a:buNone/>
            </a:pPr>
            <a:r>
              <a:rPr/>
              <a:t>Цитирование книги Классическая книга по TeX  является фундаментальным трудом.</a:t>
            </a:r>
          </a:p>
          <a:p>
            <a:pPr lvl="0" indent="0" marL="0">
              <a:buNone/>
            </a:pPr>
            <a:r>
              <a:rPr/>
              <a:t>Цитирование статьи Историческая статья  оказала значительное влияние.</a:t>
            </a:r>
          </a:p>
          <a:p>
            <a:pPr lvl="0" indent="0" marL="0">
              <a:buNone/>
            </a:pPr>
            <a:r>
              <a:rPr/>
              <a:t>Множественное цитирование Основы LaTeX описаны во многих источниках .</a:t>
            </a:r>
          </a:p>
          <a:p>
            <a:pPr lvl="0" indent="0" marL="0">
              <a:buNone/>
            </a:pPr>
            <a:r>
              <a:rPr/>
              <a:t>Онлайн-ресурс Официальная документация доступна на сайте .</a:t>
            </a:r>
          </a:p>
          <a:p>
            <a:pPr lvl="0" indent="0" marL="0">
              <a:buNone/>
            </a:pPr>
            <a:r>
              <a:rPr/>
              <a:t>Стили оформления библиографии</a:t>
            </a:r>
          </a:p>
          <a:p>
            <a:pPr lvl="0" indent="0" marL="0">
              <a:buNone/>
            </a:pPr>
            <a:r>
              <a:rPr/>
              <a:t>0.48 </a:t>
            </a:r>
            <a:r>
              <a:rPr b="1"/>
              <a:t>Числовые стили:</a:t>
            </a:r>
          </a:p>
          <a:p>
            <a:pPr lvl="0"/>
            <a:r>
              <a:rPr>
                <a:latin typeface="Courier"/>
              </a:rPr>
              <a:t>numeric</a:t>
            </a:r>
            <a:r>
              <a:rPr/>
              <a:t> — [1], [2], [3]</a:t>
            </a:r>
          </a:p>
          <a:p>
            <a:pPr lvl="0"/>
            <a:r>
              <a:rPr>
                <a:latin typeface="Courier"/>
              </a:rPr>
              <a:t>ieee</a:t>
            </a:r>
            <a:r>
              <a:rPr/>
              <a:t> — стиль IEEE</a:t>
            </a:r>
          </a:p>
          <a:p>
            <a:pPr lvl="0"/>
            <a:r>
              <a:rPr>
                <a:latin typeface="Courier"/>
              </a:rPr>
              <a:t>gost-numeric</a:t>
            </a:r>
            <a:r>
              <a:rPr/>
              <a:t> — ГОСТ</a:t>
            </a:r>
          </a:p>
          <a:p>
            <a:pPr lvl="0" indent="0" marL="0">
              <a:buNone/>
            </a:pPr>
            <a:r>
              <a:rPr b="1"/>
              <a:t>Алфавитные стили:</a:t>
            </a:r>
          </a:p>
          <a:p>
            <a:pPr lvl="0"/>
            <a:r>
              <a:rPr>
                <a:latin typeface="Courier"/>
              </a:rPr>
              <a:t>alphabetic</a:t>
            </a:r>
            <a:r>
              <a:rPr/>
              <a:t> — [Knu84]</a:t>
            </a:r>
          </a:p>
          <a:p>
            <a:pPr lvl="0"/>
            <a:r>
              <a:rPr>
                <a:latin typeface="Courier"/>
              </a:rPr>
              <a:t>authoryear</a:t>
            </a:r>
            <a:r>
              <a:rPr/>
              <a:t> — (Knuth, 1984)</a:t>
            </a:r>
          </a:p>
          <a:p>
            <a:pPr lvl="0"/>
            <a:r>
              <a:rPr>
                <a:latin typeface="Courier"/>
              </a:rPr>
              <a:t>gost-authoryear</a:t>
            </a:r>
            <a:r>
              <a:rPr/>
              <a:t> — ГОСТ</a:t>
            </a:r>
          </a:p>
          <a:p>
            <a:pPr lvl="0" indent="0" marL="0">
              <a:buNone/>
            </a:pPr>
            <a:r>
              <a:rPr/>
              <a:t>0.48 </a:t>
            </a:r>
            <a:r>
              <a:rPr b="1"/>
              <a:t>Специализированные:</a:t>
            </a:r>
          </a:p>
          <a:p>
            <a:pPr lvl="0"/>
            <a:r>
              <a:rPr>
                <a:latin typeface="Courier"/>
              </a:rPr>
              <a:t>apa</a:t>
            </a:r>
            <a:r>
              <a:rPr/>
              <a:t> — APA стиль</a:t>
            </a:r>
          </a:p>
          <a:p>
            <a:pPr lvl="0"/>
            <a:r>
              <a:rPr>
                <a:latin typeface="Courier"/>
              </a:rPr>
              <a:t>mla</a:t>
            </a:r>
            <a:r>
              <a:rPr/>
              <a:t> — MLA стиль</a:t>
            </a:r>
          </a:p>
          <a:p>
            <a:pPr lvl="0"/>
            <a:r>
              <a:rPr>
                <a:latin typeface="Courier"/>
              </a:rPr>
              <a:t>chicago</a:t>
            </a:r>
            <a:r>
              <a:rPr/>
              <a:t> — Чикаго</a:t>
            </a:r>
          </a:p>
          <a:p>
            <a:pPr lvl="0"/>
            <a:r>
              <a:rPr>
                <a:latin typeface="Courier"/>
              </a:rPr>
              <a:t>nature</a:t>
            </a:r>
            <a:r>
              <a:rPr/>
              <a:t> — Nature</a:t>
            </a:r>
          </a:p>
          <a:p>
            <a:pPr lvl="0"/>
            <a:r>
              <a:rPr>
                <a:latin typeface="Courier"/>
              </a:rPr>
              <a:t>science</a:t>
            </a:r>
            <a:r>
              <a:rPr/>
              <a:t> — Science</a:t>
            </a:r>
          </a:p>
          <a:p>
            <a:pPr lvl="0" indent="0" marL="0">
              <a:buNone/>
            </a:pPr>
            <a:r>
              <a:rPr/>
              <a:t>Примечание Стиль легко изменить, изменив один параметр в настройках biblatex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Анализ результатов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Сравнение методов оформления</a:t>
            </a:r>
          </a:p>
          <a:p>
            <a:pPr lvl="0" indent="0" marL="0">
              <a:buNone/>
            </a:pPr>
            <a:r>
              <a:rPr/>
              <a:t>Вывод Автоматизация превосходит ручное оформление по всем критериям</a:t>
            </a:r>
          </a:p>
          <a:p>
            <a:pPr lvl="0" indent="0" marL="0">
              <a:buNone/>
            </a:pPr>
            <a:r>
              <a:rPr/>
              <a:t>Преимущества biblatex</a:t>
            </a:r>
          </a:p>
          <a:p>
            <a:pPr lvl="0" indent="0" marL="0">
              <a:buNone/>
            </a:pPr>
            <a:r>
              <a:rPr/>
              <a:t>0.48</a:t>
            </a:r>
          </a:p>
          <a:p>
            <a:pPr lvl="0" indent="0" marL="0">
              <a:buNone/>
            </a:pPr>
            <a:r>
              <a:rPr/>
              <a:t>Технические</a:t>
            </a:r>
          </a:p>
          <a:p>
            <a:pPr lvl="0"/>
            <a:r>
              <a:rPr/>
              <a:t> Полная Unicode поддержка</a:t>
            </a:r>
          </a:p>
          <a:p>
            <a:pPr lvl="0"/>
            <a:r>
              <a:rPr/>
              <a:t> Гибкая настройка</a:t>
            </a:r>
          </a:p>
          <a:p>
            <a:pPr lvl="0"/>
            <a:r>
              <a:rPr/>
              <a:t> Мощный backend Biber</a:t>
            </a:r>
          </a:p>
          <a:p>
            <a:pPr lvl="0"/>
            <a:r>
              <a:rPr/>
              <a:t> Локализация</a:t>
            </a:r>
          </a:p>
          <a:p>
            <a:pPr lvl="0" indent="0" marL="0">
              <a:buNone/>
            </a:pPr>
            <a:r>
              <a:rPr/>
              <a:t>0.48</a:t>
            </a:r>
          </a:p>
          <a:p>
            <a:pPr lvl="0" indent="0" marL="0">
              <a:buNone/>
            </a:pPr>
            <a:r>
              <a:rPr/>
              <a:t>Практические</a:t>
            </a:r>
          </a:p>
          <a:p>
            <a:pPr lvl="0"/>
            <a:r>
              <a:rPr/>
              <a:t> Экономия времени</a:t>
            </a:r>
          </a:p>
          <a:p>
            <a:pPr lvl="0"/>
            <a:r>
              <a:rPr/>
              <a:t> Минимум ошибок</a:t>
            </a:r>
          </a:p>
          <a:p>
            <a:pPr lvl="0"/>
            <a:r>
              <a:rPr/>
              <a:t> Переиспользование</a:t>
            </a:r>
          </a:p>
          <a:p>
            <a:pPr lvl="0"/>
            <a:r>
              <a:rPr/>
              <a:t> Единый стиль</a:t>
            </a:r>
          </a:p>
          <a:p>
            <a:pPr lvl="0" indent="0" marL="0">
              <a:buNone/>
            </a:pPr>
            <a:r>
              <a:rPr/>
              <a:t> Рекомендуется для всех новых проектов!</a:t>
            </a:r>
          </a:p>
          <a:p>
            <a:pPr lvl="0" indent="0" marL="0">
              <a:buNone/>
            </a:pPr>
            <a:r>
              <a:rPr/>
              <a:t>Рекомендации по использованию</a:t>
            </a:r>
          </a:p>
          <a:p>
            <a:pPr lvl="0" indent="-342900" marL="342900">
              <a:buAutoNum type="arabicPeriod"/>
            </a:pPr>
            <a:r>
              <a:rPr b="1"/>
              <a:t>Выбор инструмента</a:t>
            </a:r>
          </a:p>
          <a:p>
            <a:pPr lvl="1"/>
            <a:r>
              <a:rPr/>
              <a:t>Используйте biblatex для новых проектов</a:t>
            </a:r>
          </a:p>
          <a:p>
            <a:pPr lvl="1"/>
            <a:r>
              <a:rPr/>
              <a:t>Выбирайте backend=biber для Unicode</a:t>
            </a:r>
          </a:p>
          <a:p>
            <a:pPr lvl="0" indent="-342900" marL="342900">
              <a:buAutoNum type="arabicPeriod"/>
            </a:pPr>
            <a:r>
              <a:rPr b="1"/>
              <a:t>Организация файлов</a:t>
            </a:r>
          </a:p>
          <a:p>
            <a:pPr lvl="1"/>
            <a:r>
              <a:rPr/>
              <a:t>Храните библиографию в отдельном .bib файле</a:t>
            </a:r>
          </a:p>
          <a:p>
            <a:pPr lvl="1"/>
            <a:r>
              <a:rPr/>
              <a:t>Используйте осмысленные ключи цитирования</a:t>
            </a:r>
          </a:p>
          <a:p>
            <a:pPr lvl="0" indent="-342900" marL="342900">
              <a:buAutoNum type="arabicPeriod"/>
            </a:pPr>
            <a:r>
              <a:rPr b="1"/>
              <a:t>Инструменты</a:t>
            </a:r>
          </a:p>
          <a:p>
            <a:pPr lvl="1"/>
            <a:r>
              <a:rPr/>
              <a:t>JabRef или Zotero для управления базой</a:t>
            </a:r>
          </a:p>
          <a:p>
            <a:pPr lvl="1"/>
            <a:r>
              <a:rPr/>
              <a:t>latexmk для автоматической компиляции</a:t>
            </a:r>
          </a:p>
          <a:p>
            <a:pPr lvl="0" indent="-342900" marL="342900">
              <a:buAutoNum type="arabicPeriod"/>
            </a:pPr>
            <a:r>
              <a:rPr b="1"/>
              <a:t>Безопасность</a:t>
            </a:r>
          </a:p>
          <a:p>
            <a:pPr lvl="1"/>
            <a:r>
              <a:rPr/>
              <a:t>Регулярно делайте резервные копии</a:t>
            </a:r>
          </a:p>
          <a:p>
            <a:pPr lvl="1"/>
            <a:r>
              <a:rPr/>
              <a:t>Используйте систему контроля версий (Git)</a:t>
            </a:r>
          </a:p>
          <a:p>
            <a:pPr lvl="0" indent="0" marL="0">
              <a:buNone/>
            </a:pPr>
            <a:r>
              <a:rPr/>
              <a:t>Типичные ошибки и их решение</a:t>
            </a:r>
          </a:p>
          <a:p>
            <a:pPr lvl="0" indent="0" marL="0">
              <a:buNone/>
            </a:pPr>
            <a:r>
              <a:rPr/>
              <a:t>Ошибка 1: Библиография не появляется </a:t>
            </a:r>
            <a:r>
              <a:rPr b="1"/>
              <a:t>Решение:</a:t>
            </a:r>
            <a:r>
              <a:rPr/>
              <a:t> Проверьте последовательность компиляции (pdflatex → biber → pdflatex → pdflatex)</a:t>
            </a:r>
          </a:p>
          <a:p>
            <a:pPr lvl="0" indent="0" marL="0">
              <a:buNone/>
            </a:pPr>
            <a:r>
              <a:rPr/>
              <a:t>Ошибка 2: Неправильная кодировка </a:t>
            </a:r>
            <a:r>
              <a:rPr b="1"/>
              <a:t>Решение:</a:t>
            </a:r>
            <a:r>
              <a:rPr/>
              <a:t> Убедитесь, что .bib файл сохранен в UTF-8</a:t>
            </a:r>
          </a:p>
          <a:p>
            <a:pPr lvl="0" indent="0" marL="0">
              <a:buNone/>
            </a:pPr>
            <a:r>
              <a:rPr/>
              <a:t>Ошибка 3: Источник не цитируется </a:t>
            </a:r>
            <a:r>
              <a:rPr b="1"/>
              <a:t>Решение:</a:t>
            </a:r>
            <a:r>
              <a:rPr/>
              <a:t> Проверьте правильность ключа цитирования и наличие записи в .bib</a:t>
            </a:r>
          </a:p>
          <a:p>
            <a:pPr lvl="0" indent="0" marL="0">
              <a:buNone/>
            </a:pPr>
            <a:r>
              <a:rPr/>
              <a:t>Ошибка 4: Неправильный формат </a:t>
            </a:r>
            <a:r>
              <a:rPr b="1"/>
              <a:t>Решение:</a:t>
            </a:r>
            <a:r>
              <a:rPr/>
              <a:t> Проверьте синтаксис записи в .bib файле (запятые, скобки)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Результаты работы </a:t>
            </a:r>
            <a:r>
              <a:rPr b="1"/>
              <a:t>Выполнено:</a:t>
            </a:r>
          </a:p>
          <a:p>
            <a:pPr lvl="0"/>
            <a:r>
              <a:rPr/>
              <a:t>Изучена структура файлов библиографии</a:t>
            </a:r>
          </a:p>
          <a:p>
            <a:pPr lvl="0"/>
            <a:r>
              <a:rPr/>
              <a:t>Освоены типы библиографических записей</a:t>
            </a:r>
          </a:p>
          <a:p>
            <a:pPr lvl="0"/>
            <a:r>
              <a:rPr/>
              <a:t>Изучены команды цитирования</a:t>
            </a:r>
          </a:p>
          <a:p>
            <a:pPr lvl="0"/>
            <a:r>
              <a:rPr/>
              <a:t>Рассмотрены различные стили оформления</a:t>
            </a:r>
          </a:p>
          <a:p>
            <a:pPr lvl="0"/>
            <a:r>
              <a:rPr/>
              <a:t>Настроена автоматическая компиляция</a:t>
            </a:r>
          </a:p>
          <a:p>
            <a:pPr lvl="0"/>
            <a:r>
              <a:rPr/>
              <a:t>Создан документ с корректными ссылками</a:t>
            </a:r>
          </a:p>
          <a:p>
            <a:pPr lvl="0" indent="0" marL="0">
              <a:buNone/>
            </a:pPr>
            <a:r>
              <a:rPr/>
              <a:t>Итог Все поставленные задачи выполнены, цель работы достигнута</a:t>
            </a:r>
          </a:p>
          <a:p>
            <a:pPr lvl="0" indent="0" marL="0">
              <a:buNone/>
            </a:pPr>
            <a:r>
              <a:rPr/>
              <a:t>Практическая значимость </a:t>
            </a:r>
            <a:r>
              <a:rPr b="1"/>
              <a:t>Полученные навыки применимы для:</a:t>
            </a:r>
          </a:p>
          <a:p>
            <a:pPr lvl="0" indent="0" marL="0">
              <a:buNone/>
            </a:pPr>
            <a:r>
              <a:rPr/>
              <a:t>2</a:t>
            </a:r>
          </a:p>
          <a:p>
            <a:pPr lvl="0"/>
            <a:r>
              <a:rPr/>
              <a:t>Курсовых работ</a:t>
            </a:r>
          </a:p>
          <a:p>
            <a:pPr lvl="0"/>
            <a:r>
              <a:rPr/>
              <a:t>Дипломных проектов</a:t>
            </a:r>
          </a:p>
          <a:p>
            <a:pPr lvl="0"/>
            <a:r>
              <a:rPr/>
              <a:t>Научных статей</a:t>
            </a:r>
          </a:p>
          <a:p>
            <a:pPr lvl="0"/>
            <a:r>
              <a:rPr/>
              <a:t>Диссертаций</a:t>
            </a:r>
          </a:p>
          <a:p>
            <a:pPr lvl="0"/>
            <a:r>
              <a:rPr/>
              <a:t>Технических отчетов</a:t>
            </a:r>
          </a:p>
          <a:p>
            <a:pPr lvl="0"/>
            <a:r>
              <a:rPr/>
              <a:t>Книг и монографий</a:t>
            </a:r>
          </a:p>
          <a:p>
            <a:pPr lvl="0"/>
            <a:r>
              <a:rPr/>
              <a:t>Презентаций</a:t>
            </a:r>
          </a:p>
          <a:p>
            <a:pPr lvl="0"/>
            <a:r>
              <a:rPr/>
              <a:t>Учебных пособий</a:t>
            </a:r>
          </a:p>
          <a:p>
            <a:pPr lvl="0" indent="0" marL="0">
              <a:buNone/>
            </a:pPr>
            <a:r>
              <a:rPr/>
              <a:t>Перспективы Освоение biblatex открывает возможности для профессионального оформления любых научных и технических документов</a:t>
            </a:r>
          </a:p>
          <a:p>
            <a:pPr lvl="0" indent="0" marL="0">
              <a:buNone/>
            </a:pPr>
            <a:r>
              <a:rPr/>
              <a:t>Дальнейшее развитие </a:t>
            </a:r>
            <a:r>
              <a:rPr b="1"/>
              <a:t>Направления для изучения:</a:t>
            </a:r>
          </a:p>
          <a:p>
            <a:pPr lvl="0" indent="-342900" marL="342900">
              <a:buAutoNum type="arabicPeriod"/>
            </a:pPr>
            <a:r>
              <a:rPr b="1"/>
              <a:t>Продвинутые возможности biblatex</a:t>
            </a:r>
          </a:p>
          <a:p>
            <a:pPr lvl="1"/>
            <a:r>
              <a:rPr/>
              <a:t>Создание собственных стилей</a:t>
            </a:r>
          </a:p>
          <a:p>
            <a:pPr lvl="1"/>
            <a:r>
              <a:rPr/>
              <a:t>Настройка полей и форматов</a:t>
            </a:r>
          </a:p>
          <a:p>
            <a:pPr lvl="1"/>
            <a:r>
              <a:rPr/>
              <a:t>Работа с мультиязычными источниками</a:t>
            </a:r>
          </a:p>
          <a:p>
            <a:pPr lvl="0" indent="-342900" marL="342900">
              <a:buAutoNum type="arabicPeriod"/>
            </a:pPr>
            <a:r>
              <a:rPr b="1"/>
              <a:t>Интеграция с другими инструментами</a:t>
            </a:r>
          </a:p>
          <a:p>
            <a:pPr lvl="1"/>
            <a:r>
              <a:rPr/>
              <a:t>Менеджеры библиографии (JabRef, Zotero)</a:t>
            </a:r>
          </a:p>
          <a:p>
            <a:pPr lvl="1"/>
            <a:r>
              <a:rPr/>
              <a:t>Системы контроля версий (Git)</a:t>
            </a:r>
          </a:p>
          <a:p>
            <a:pPr lvl="1"/>
            <a:r>
              <a:rPr/>
              <a:t>Онлайн-редакторы (Overleaf)</a:t>
            </a:r>
          </a:p>
          <a:p>
            <a:pPr lvl="0" indent="-342900" marL="342900">
              <a:buAutoNum type="arabicPeriod"/>
            </a:pPr>
            <a:r>
              <a:rPr b="1"/>
              <a:t>Автоматизация рабочего процесса</a:t>
            </a:r>
          </a:p>
          <a:p>
            <a:pPr lvl="1"/>
            <a:r>
              <a:rPr/>
              <a:t>Скрипты для обработки библиографии</a:t>
            </a:r>
          </a:p>
          <a:p>
            <a:pPr lvl="1"/>
            <a:r>
              <a:rPr/>
              <a:t>CI/CD для LaTeX документов</a:t>
            </a:r>
          </a:p>
          <a:p>
            <a:pPr lvl="1"/>
            <a:r>
              <a:rPr/>
              <a:t>Шаблоны и заготовки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Полезные ресурсы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Официальная документация</a:t>
            </a:r>
          </a:p>
          <a:p>
            <a:pPr lvl="0" indent="0" marL="0">
              <a:buNone/>
            </a:pPr>
            <a:r>
              <a:rPr/>
              <a:t>Основные ресурсы</a:t>
            </a:r>
          </a:p>
          <a:p>
            <a:pPr lvl="0"/>
            <a:r>
              <a:rPr/>
              <a:t> The LaTeX Project: </a:t>
            </a:r>
            <a:r>
              <a:rPr>
                <a:hlinkClick r:id="rId2"/>
              </a:rPr>
              <a:t>https://www.latex-project.org/</a:t>
            </a:r>
          </a:p>
          <a:p>
            <a:pPr lvl="0"/>
            <a:r>
              <a:rPr/>
              <a:t> CTAN: </a:t>
            </a:r>
            <a:r>
              <a:rPr>
                <a:hlinkClick r:id="rId3"/>
              </a:rPr>
              <a:t>https://www.ctan.org/</a:t>
            </a:r>
          </a:p>
          <a:p>
            <a:pPr lvl="0"/>
            <a:r>
              <a:rPr/>
              <a:t> Biblatex manual: </a:t>
            </a:r>
            <a:r>
              <a:rPr>
                <a:hlinkClick r:id="rId4"/>
              </a:rPr>
              <a:t>https://ctan.org/pkg/biblatex</a:t>
            </a:r>
          </a:p>
          <a:p>
            <a:pPr lvl="0"/>
            <a:r>
              <a:rPr/>
              <a:t> Biber manual: </a:t>
            </a:r>
            <a:r>
              <a:rPr>
                <a:hlinkClick r:id="rId5"/>
              </a:rPr>
              <a:t>https://ctan.org/pkg/biber</a:t>
            </a:r>
          </a:p>
          <a:p>
            <a:pPr lvl="0" indent="0" marL="0">
              <a:buNone/>
            </a:pPr>
            <a:r>
              <a:rPr/>
              <a:t>Обучающие материалы</a:t>
            </a:r>
          </a:p>
          <a:p>
            <a:pPr lvl="0"/>
            <a:r>
              <a:rPr/>
              <a:t> Overleaf Learn: </a:t>
            </a:r>
            <a:r>
              <a:rPr>
                <a:hlinkClick r:id="rId6"/>
              </a:rPr>
              <a:t>https://www.overleaf.com/learn</a:t>
            </a:r>
          </a:p>
          <a:p>
            <a:pPr lvl="0"/>
            <a:r>
              <a:rPr/>
              <a:t> TeX Stack Exchange: </a:t>
            </a:r>
            <a:r>
              <a:rPr>
                <a:hlinkClick r:id="rId7"/>
              </a:rPr>
              <a:t>https://tex.stackexchange.com/</a:t>
            </a:r>
          </a:p>
          <a:p>
            <a:pPr lvl="0"/>
            <a:r>
              <a:rPr/>
              <a:t> LaTeX.ru: </a:t>
            </a:r>
            <a:r>
              <a:rPr>
                <a:hlinkClick r:id="rId8"/>
              </a:rPr>
              <a:t>https://www.latex.ru/</a:t>
            </a:r>
          </a:p>
          <a:p>
            <a:pPr lvl="0" indent="0" marL="0">
              <a:buNone/>
            </a:pPr>
            <a:r>
              <a:rPr/>
              <a:t>Инструменты</a:t>
            </a:r>
          </a:p>
          <a:p>
            <a:pPr lvl="0" indent="0" marL="0">
              <a:buNone/>
            </a:pPr>
            <a:r>
              <a:rPr/>
              <a:t>0.48</a:t>
            </a:r>
          </a:p>
          <a:p>
            <a:pPr lvl="0" indent="0" marL="0">
              <a:buNone/>
            </a:pPr>
            <a:r>
              <a:rPr/>
              <a:t>Менеджеры библиографии</a:t>
            </a:r>
          </a:p>
          <a:p>
            <a:pPr lvl="0"/>
            <a:r>
              <a:rPr/>
              <a:t> JabRef</a:t>
            </a:r>
          </a:p>
          <a:p>
            <a:pPr lvl="0"/>
            <a:r>
              <a:rPr/>
              <a:t> Zotero</a:t>
            </a:r>
          </a:p>
          <a:p>
            <a:pPr lvl="0"/>
            <a:r>
              <a:rPr/>
              <a:t> Mendeley</a:t>
            </a:r>
          </a:p>
          <a:p>
            <a:pPr lvl="0"/>
            <a:r>
              <a:rPr/>
              <a:t> EndNote</a:t>
            </a:r>
          </a:p>
          <a:p>
            <a:pPr lvl="0" indent="0" marL="0">
              <a:buNone/>
            </a:pPr>
            <a:r>
              <a:rPr/>
              <a:t>Редакторы LaTeX</a:t>
            </a:r>
          </a:p>
          <a:p>
            <a:pPr lvl="0"/>
            <a:r>
              <a:rPr/>
              <a:t> TeXstudio</a:t>
            </a:r>
          </a:p>
          <a:p>
            <a:pPr lvl="0"/>
            <a:r>
              <a:rPr/>
              <a:t> TeXmaker</a:t>
            </a:r>
          </a:p>
          <a:p>
            <a:pPr lvl="0"/>
            <a:r>
              <a:rPr/>
              <a:t> Overleaf</a:t>
            </a:r>
          </a:p>
          <a:p>
            <a:pPr lvl="0"/>
            <a:r>
              <a:rPr/>
              <a:t> VS Code + LaTeX Workshop</a:t>
            </a:r>
          </a:p>
          <a:p>
            <a:pPr lvl="0" indent="0" marL="0">
              <a:buNone/>
            </a:pPr>
            <a:r>
              <a:rPr/>
              <a:t>0.48</a:t>
            </a:r>
          </a:p>
          <a:p>
            <a:pPr lvl="0" indent="0" marL="0">
              <a:buNone/>
            </a:pPr>
            <a:r>
              <a:rPr/>
              <a:t>Дистрибутивы TeX</a:t>
            </a:r>
          </a:p>
          <a:p>
            <a:pPr lvl="0"/>
            <a:r>
              <a:rPr/>
              <a:t> MiKTeX (Windows)</a:t>
            </a:r>
          </a:p>
          <a:p>
            <a:pPr lvl="0"/>
            <a:r>
              <a:rPr/>
              <a:t> TeX Live (Linux)</a:t>
            </a:r>
          </a:p>
          <a:p>
            <a:pPr lvl="0"/>
            <a:r>
              <a:rPr/>
              <a:t> MacTeX (macOS)</a:t>
            </a:r>
          </a:p>
          <a:p>
            <a:pPr lvl="0" indent="0" marL="0">
              <a:buNone/>
            </a:pPr>
            <a:r>
              <a:rPr/>
              <a:t>Утилиты</a:t>
            </a:r>
          </a:p>
          <a:p>
            <a:pPr lvl="0"/>
            <a:r>
              <a:rPr/>
              <a:t> latexmk</a:t>
            </a:r>
          </a:p>
          <a:p>
            <a:pPr lvl="0"/>
            <a:r>
              <a:rPr/>
              <a:t> arara</a:t>
            </a:r>
          </a:p>
          <a:p>
            <a:pPr lvl="0"/>
            <a:r>
              <a:rPr/>
              <a:t> Git</a:t>
            </a:r>
          </a:p>
          <a:p>
            <a:pPr lvl="0"/>
            <a:r>
              <a:rPr/>
              <a:t> make</a:t>
            </a:r>
          </a:p>
          <a:p>
            <a:pPr lvl="0" indent="0" marL="0">
              <a:buNone/>
            </a:pPr>
            <a:r>
              <a:rPr/>
              <a:t>Спасибо за внимание!</a:t>
            </a:r>
          </a:p>
          <a:p>
            <a:pPr lvl="0" indent="0" marL="0">
              <a:buNone/>
            </a:pPr>
            <a:r>
              <a:rPr/>
              <a:t>Вопросы?</a:t>
            </a:r>
          </a:p>
          <a:p>
            <a:pPr lvl="0" indent="0" marL="0">
              <a:buNone/>
            </a:pPr>
            <a:r>
              <a:rPr/>
              <a:t>Список литературы</a:t>
            </a:r>
          </a:p>
          <a:p>
            <a:pPr lvl="0" indent="0" marL="0">
              <a:buNone/>
            </a:pPr>
            <a:r>
              <a:rPr/>
              <a:t>Приложение A: Пример .bib файла</a:t>
            </a:r>
          </a:p>
          <a:p>
            <a:pPr lvl="0" indent="0">
              <a:buNone/>
            </a:pPr>
            <a:r>
              <a:rPr>
                <a:latin typeface="Courier"/>
              </a:rPr>
              <a:t>@book{knuth1984,
  author    = {Donald E. Knuth},
  title     = {The TeXbook},
  publisher = {Addison-Wesley Professional},
  year      = {1984},
  isbn      = {0-201-13447-0}
}
@article{dijkstra1968,
  author  = {Edsger W. Dijkstra},
  title   = {Go To Statement Considered Harmful},
  journal = {Communications of the ACM},
  year    = {1968},
  volume  = {11},
  number  = {3},
  pages   = {147--148}
}
@online{latex-project,
  author  = {{The LaTeX Project}},
  title   = {LaTeX – A document preparation system},
  year    = {2024},
  url     = {https://www.latex-project.org/}
}</a:t>
            </a:r>
          </a:p>
          <a:p>
            <a:pPr lvl="0" indent="0" marL="0">
              <a:buNone/>
            </a:pPr>
            <a:r>
              <a:rPr/>
              <a:t>Приложение B: Команды компиляции </a:t>
            </a:r>
            <a:r>
              <a:rPr b="1"/>
              <a:t>Вариант 1: Ручная компиляция</a:t>
            </a:r>
          </a:p>
          <a:p>
            <a:pPr lvl="0" indent="0">
              <a:buNone/>
            </a:pPr>
            <a:r>
              <a:rPr>
                <a:latin typeface="Courier"/>
              </a:rPr>
              <a:t>pdflatex document.tex</a:t>
            </a:r>
            <a:br/>
            <a:r>
              <a:rPr>
                <a:latin typeface="Courier"/>
              </a:rPr>
              <a:t>biber document</a:t>
            </a:r>
            <a:br/>
            <a:r>
              <a:rPr>
                <a:latin typeface="Courier"/>
              </a:rPr>
              <a:t>pdflatex document.tex</a:t>
            </a:r>
            <a:br/>
            <a:r>
              <a:rPr>
                <a:latin typeface="Courier"/>
              </a:rPr>
              <a:t>pdflatex document.tex</a:t>
            </a:r>
          </a:p>
          <a:p>
            <a:pPr lvl="0" indent="0" marL="0">
              <a:buNone/>
            </a:pPr>
            <a:r>
              <a:rPr b="1"/>
              <a:t>Вариант 2: С использованием latexmk</a:t>
            </a:r>
          </a:p>
          <a:p>
            <a:pPr lvl="0" indent="0">
              <a:buNone/>
            </a:pPr>
            <a:r>
              <a:rPr>
                <a:latin typeface="Courier"/>
              </a:rPr>
              <a:t>latexmk </a:t>
            </a:r>
            <a:r>
              <a:rPr>
                <a:solidFill>
                  <a:srgbClr val="7D9029"/>
                </a:solidFill>
                <a:latin typeface="Courier"/>
              </a:rPr>
              <a:t>-pdf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-bibtex</a:t>
            </a:r>
            <a:r>
              <a:rPr>
                <a:latin typeface="Courier"/>
              </a:rPr>
              <a:t> document.tex</a:t>
            </a:r>
          </a:p>
          <a:p>
            <a:pPr lvl="0" indent="0" marL="0">
              <a:buNone/>
            </a:pPr>
            <a:r>
              <a:rPr b="1"/>
              <a:t>Вариант 3: Makefile</a:t>
            </a:r>
          </a:p>
          <a:p>
            <a:pPr lvl="0" indent="0">
              <a:buNone/>
            </a:pPr>
            <a:r>
              <a:rPr>
                <a:solidFill>
                  <a:srgbClr val="40A070"/>
                </a:solidFill>
                <a:latin typeface="Courier"/>
              </a:rPr>
              <a:t>all:</a:t>
            </a:r>
            <a:br/>
            <a:r>
              <a:rPr b="1">
                <a:solidFill>
                  <a:srgbClr val="FF0000"/>
                </a:solidFill>
                <a:latin typeface="Courier"/>
              </a:rPr>
              <a:t> </a:t>
            </a:r>
            <a:r>
              <a:rPr>
                <a:latin typeface="Courier"/>
              </a:rPr>
              <a:t>pdflatex document.tex</a:t>
            </a:r>
            <a:br/>
            <a:r>
              <a:rPr>
                <a:latin typeface="Courier"/>
              </a:rPr>
              <a:t> biber document</a:t>
            </a:r>
            <a:br/>
            <a:r>
              <a:rPr>
                <a:latin typeface="Courier"/>
              </a:rPr>
              <a:t> pdflatex document.tex</a:t>
            </a:r>
            <a:br/>
            <a:r>
              <a:rPr>
                <a:latin typeface="Courier"/>
              </a:rPr>
              <a:t> pdflatex document.tex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Работа с библиографией в LaTeX</dc:title>
  <dc:creator>Викторов Егор Группа НПМмд02-24</dc:creator>
  <cp:keywords/>
  <dcterms:created xsi:type="dcterms:W3CDTF">2025-11-22T13:47:37Z</dcterms:created>
  <dcterms:modified xsi:type="dcterms:W3CDTF">2025-11-22T13:47:37Z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graphy">
    <vt:lpwstr/>
  </property>
  <property fmtid="{D5CDD505-2E9C-101B-9397-08002B2CF9AE}" pid="3" name="date">
    <vt:lpwstr>2025-11-22</vt:lpwstr>
  </property>
  <property fmtid="{D5CDD505-2E9C-101B-9397-08002B2CF9AE}" pid="4" name="subtitle">
    <vt:lpwstr>Использование BibTeX и biblatex</vt:lpwstr>
  </property>
</Properties>
</file>