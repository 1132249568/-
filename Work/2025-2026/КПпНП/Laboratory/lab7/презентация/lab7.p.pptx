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Создание научных постеров</a:t>
            </a:r>
            <a:br/>
            <a:r>
              <a:rPr/>
              <a:t>с использованием пакета tikzposter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Отчет по изучению возможностей LaTeX</a:t>
            </a:r>
            <a:br/>
            <a:br/>
            <a:r>
              <a:rPr/>
              <a:t>Студент группы НПМмд02-24 Викторов Егор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2025-12-06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Содержание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Введение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Что такое научный постер?</a:t>
            </a:r>
          </a:p>
          <a:p>
            <a:pPr lvl="0" indent="0" marL="0">
              <a:buNone/>
            </a:pPr>
            <a:r>
              <a:rPr/>
              <a:t>0.5 </a:t>
            </a:r>
            <a:r>
              <a:rPr b="1"/>
              <a:t>Научный постер</a:t>
            </a:r>
            <a:r>
              <a:rPr/>
              <a:t> — это визуальное представление результатов исследования</a:t>
            </a:r>
          </a:p>
          <a:p>
            <a:pPr lvl="0" indent="0" marL="0">
              <a:buNone/>
            </a:pPr>
            <a:r>
              <a:rPr b="1"/>
              <a:t>Используется для:</a:t>
            </a:r>
          </a:p>
          <a:p>
            <a:pPr lvl="0"/>
            <a:r>
              <a:rPr/>
              <a:t>Конференций</a:t>
            </a:r>
          </a:p>
          <a:p>
            <a:pPr lvl="0"/>
            <a:r>
              <a:rPr/>
              <a:t>Симпозиумов</a:t>
            </a:r>
          </a:p>
          <a:p>
            <a:pPr lvl="0"/>
            <a:r>
              <a:rPr/>
              <a:t>Защиты работ</a:t>
            </a:r>
          </a:p>
          <a:p>
            <a:pPr lvl="0"/>
            <a:r>
              <a:rPr/>
              <a:t>Научных выставок</a:t>
            </a:r>
          </a:p>
          <a:p>
            <a:pPr lvl="0" indent="0" marL="0">
              <a:buNone/>
            </a:pPr>
            <a:r>
              <a:rPr/>
              <a:t>0.5</a:t>
            </a:r>
          </a:p>
          <a:p>
            <a:pPr lvl="0" indent="0" marL="0">
              <a:buNone/>
            </a:pPr>
            <a:r>
              <a:rPr/>
              <a:t>Цель и задачи работы</a:t>
            </a:r>
          </a:p>
          <a:p>
            <a:pPr lvl="0" indent="0" marL="0">
              <a:buNone/>
            </a:pPr>
            <a:r>
              <a:rPr/>
              <a:t>Цель Изучение основных возможностей пакета </a:t>
            </a:r>
            <a:r>
              <a:rPr>
                <a:latin typeface="Courier"/>
              </a:rPr>
              <a:t>tikzposter</a:t>
            </a:r>
            <a:r>
              <a:rPr/>
              <a:t> и освоение методов создания структурированных научных постеров</a:t>
            </a:r>
          </a:p>
          <a:p>
            <a:pPr lvl="0" indent="0" marL="0">
              <a:buNone/>
            </a:pPr>
            <a:r>
              <a:rPr/>
              <a:t>Задачи</a:t>
            </a:r>
          </a:p>
          <a:p>
            <a:pPr lvl="0" indent="-342900" marL="342900">
              <a:buAutoNum type="arabicPeriod"/>
            </a:pPr>
            <a:r>
              <a:rPr/>
              <a:t>Изучить работу с многоколоночными макетами</a:t>
            </a:r>
          </a:p>
          <a:p>
            <a:pPr lvl="0" indent="-342900" marL="342900">
              <a:buAutoNum type="arabicPeriod"/>
            </a:pPr>
            <a:r>
              <a:rPr/>
              <a:t>Освоить создание и форматирование блоков контента</a:t>
            </a:r>
          </a:p>
          <a:p>
            <a:pPr lvl="0" indent="-342900" marL="342900">
              <a:buAutoNum type="arabicPeriod"/>
            </a:pPr>
            <a:r>
              <a:rPr/>
              <a:t>Научиться вставлять графические элементы</a:t>
            </a:r>
          </a:p>
          <a:p>
            <a:pPr lvl="0" indent="-342900" marL="342900">
              <a:buAutoNum type="arabicPeriod"/>
            </a:pPr>
            <a:r>
              <a:rPr/>
              <a:t>Изучить работу с цветовым оформлением</a:t>
            </a:r>
          </a:p>
          <a:p>
            <a:pPr lvl="0" indent="-342900" marL="342900">
              <a:buAutoNum type="arabicPeriod"/>
            </a:pPr>
            <a:r>
              <a:rPr/>
              <a:t>Освоить добавление заметок и аннотаций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Структура постера и колонки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Основы работы с колонками </a:t>
            </a:r>
            <a:r>
              <a:rPr b="1"/>
              <a:t>Окружение columns</a:t>
            </a:r>
            <a:r>
              <a:rPr/>
              <a:t> позволяет создавать многоколоночные макеты</a:t>
            </a:r>
          </a:p>
          <a:p>
            <a:pPr lvl="0" indent="0">
              <a:buNone/>
            </a:pPr>
            <a:r>
              <a:rPr>
                <a:latin typeface="Courier"/>
              </a:rPr>
              <a:t>\begin{columns}
  \column{.33}
  % Первая колонка (33% ширины)
  \column{.33}
  % Вторая колонка (33% ширины)
  \column{.33}
  % Третья колонка (33% ширины)
\end{columns}</a:t>
            </a:r>
          </a:p>
          <a:p>
            <a:pPr lvl="0" indent="0" marL="0">
              <a:buNone/>
            </a:pPr>
            <a:r>
              <a:rPr/>
              <a:t>Важно! Числовое значение определяет относительную ширину колонки (от 0 до 1)</a:t>
            </a:r>
          </a:p>
          <a:p>
            <a:pPr lvl="0" indent="0" marL="0">
              <a:buNone/>
            </a:pPr>
            <a:r>
              <a:rPr/>
              <a:t>Визуализация колонок</a:t>
            </a:r>
          </a:p>
          <a:p>
            <a:pPr lvl="0" indent="0" marL="0">
              <a:buNone/>
            </a:pPr>
            <a:r>
              <a:rPr/>
              <a:t>Колонки различной ширины </a:t>
            </a:r>
            <a:r>
              <a:rPr b="1"/>
              <a:t>Асимметричный макет</a:t>
            </a:r>
            <a:r>
              <a:rPr/>
              <a:t> для разных типов контента:</a:t>
            </a:r>
          </a:p>
          <a:p>
            <a:pPr lvl="0" indent="0">
              <a:buNone/>
            </a:pPr>
            <a:r>
              <a:rPr>
                <a:latin typeface="Courier"/>
              </a:rPr>
              <a:t>\begin{columns}
  \column{.7}
  % Широкая колонка (70% ширины)
  \block{Основные результаты}{
    Здесь размещается основной контент,
    графики, таблицы
  }
  \column{.3}
  % Узкая колонка (30% ширины)
  \block{Дополнительно}{
    Ссылки, определения, примечания
  }
\end{columns}</a:t>
            </a:r>
          </a:p>
          <a:p>
            <a:pPr lvl="0" indent="0" marL="0">
              <a:buNone/>
            </a:pPr>
            <a:r>
              <a:rPr/>
              <a:t>Практические рекомендации по колонкам</a:t>
            </a:r>
          </a:p>
          <a:p>
            <a:pPr lvl="0" indent="0" marL="0">
              <a:buNone/>
            </a:pPr>
            <a:r>
              <a:rPr/>
              <a:t>0.5</a:t>
            </a:r>
          </a:p>
          <a:p>
            <a:pPr lvl="0" indent="0" marL="0">
              <a:buNone/>
            </a:pPr>
            <a:r>
              <a:rPr/>
              <a:t>Рекомендации</a:t>
            </a:r>
          </a:p>
          <a:p>
            <a:pPr lvl="0"/>
            <a:r>
              <a:rPr/>
              <a:t>Сумма ширин ≈ 1.0</a:t>
            </a:r>
          </a:p>
          <a:p>
            <a:pPr lvl="0"/>
            <a:r>
              <a:rPr/>
              <a:t>Оптимально: 2-3 колонки</a:t>
            </a:r>
          </a:p>
          <a:p>
            <a:pPr lvl="0"/>
            <a:r>
              <a:rPr/>
              <a:t>Широкие — для основного текста</a:t>
            </a:r>
          </a:p>
          <a:p>
            <a:pPr lvl="0"/>
            <a:r>
              <a:rPr/>
              <a:t>Узкие — для списков и ссылок</a:t>
            </a:r>
          </a:p>
          <a:p>
            <a:pPr lvl="0" indent="0" marL="0">
              <a:buNone/>
            </a:pPr>
            <a:r>
              <a:rPr/>
              <a:t>0.5</a:t>
            </a:r>
          </a:p>
          <a:p>
            <a:pPr lvl="0" indent="0" marL="0">
              <a:buNone/>
            </a:pPr>
            <a:r>
              <a:rPr/>
              <a:t>Примеры пропорций</a:t>
            </a:r>
          </a:p>
          <a:p>
            <a:pPr lvl="0"/>
            <a:r>
              <a:rPr/>
              <a:t>0.33 + 0.33 + 0.33 = 0.99 ✓</a:t>
            </a:r>
          </a:p>
          <a:p>
            <a:pPr lvl="0"/>
            <a:r>
              <a:rPr/>
              <a:t>0.5 + 0.5 = 1.0 ✓</a:t>
            </a:r>
          </a:p>
          <a:p>
            <a:pPr lvl="0"/>
            <a:r>
              <a:rPr/>
              <a:t>0.7 + 0.3 = 1.0 ✓</a:t>
            </a:r>
          </a:p>
          <a:p>
            <a:pPr lvl="0"/>
            <a:r>
              <a:rPr/>
              <a:t>0.6 + 0.4 = 1.0 ✓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Работа с блоками контента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Базовый синтаксис блоков </a:t>
            </a:r>
            <a:r>
              <a:rPr b="1"/>
              <a:t>Команда \block</a:t>
            </a:r>
            <a:r>
              <a:rPr/>
              <a:t> создает блок контента:</a:t>
            </a:r>
          </a:p>
          <a:p>
            <a:pPr lvl="0" indent="0">
              <a:buNone/>
            </a:pPr>
            <a:r>
              <a:rPr>
                <a:latin typeface="Courier"/>
              </a:rPr>
              <a:t>\block{Заголовок блока}{
  Содержимое блока может включать:
  - Текст
  - Списки
  - Формулы
  - Изображения
}</a:t>
            </a:r>
          </a:p>
          <a:p>
            <a:pPr lvl="0" indent="0" marL="0">
              <a:buNone/>
            </a:pPr>
            <a:r>
              <a:rPr/>
              <a:t>0.5 </a:t>
            </a:r>
            <a:r>
              <a:rPr b="1"/>
              <a:t>С заголовком:</a:t>
            </a:r>
          </a:p>
          <a:p>
            <a:pPr lvl="0" indent="0">
              <a:buNone/>
            </a:pPr>
            <a:r>
              <a:rPr>
                <a:latin typeface="Courier"/>
              </a:rPr>
              <a:t>\block{Заголовок}{Текст}</a:t>
            </a:r>
          </a:p>
          <a:p>
            <a:pPr lvl="0" indent="0" marL="0">
              <a:buNone/>
            </a:pPr>
            <a:r>
              <a:rPr/>
              <a:t>0.5 </a:t>
            </a:r>
            <a:r>
              <a:rPr b="1"/>
              <a:t>Без заголовка:</a:t>
            </a:r>
          </a:p>
          <a:p>
            <a:pPr lvl="0" indent="0">
              <a:buNone/>
            </a:pPr>
            <a:r>
              <a:rPr>
                <a:latin typeface="Courier"/>
              </a:rPr>
              <a:t>\block{}{Текст}</a:t>
            </a:r>
          </a:p>
          <a:p>
            <a:pPr lvl="0" indent="0" marL="0">
              <a:buNone/>
            </a:pPr>
            <a:r>
              <a:rPr/>
              <a:t>Добавление заметок к блокам </a:t>
            </a:r>
            <a:r>
              <a:rPr b="1"/>
              <a:t>Команда \note</a:t>
            </a:r>
            <a:r>
              <a:rPr/>
              <a:t> создает заметку со стрелкой:</a:t>
            </a:r>
          </a:p>
          <a:p>
            <a:pPr lvl="0" indent="0">
              <a:buNone/>
            </a:pPr>
            <a:r>
              <a:rPr>
                <a:latin typeface="Courier"/>
              </a:rPr>
              <a:t>\block{Заголовок}{
  Основное содержимое блока
  \vspace{2cm}  % Место для заметки
}
\note[targetoffsetx=5cm, 
      targetoffsety=-3cm, 
      width=8cm]{
  Это заметка, указывающая на блок выше
}</a:t>
            </a:r>
          </a:p>
          <a:p>
            <a:pPr lvl="0" indent="0" marL="0">
              <a:buNone/>
            </a:pPr>
            <a:r>
              <a:rPr/>
              <a:t>Параметры заметок</a:t>
            </a:r>
          </a:p>
          <a:p>
            <a:pPr lvl="0" indent="0" marL="0">
              <a:buNone/>
            </a:pPr>
            <a:r>
              <a:rPr/>
              <a:t>Основные параметры команды \note</a:t>
            </a:r>
          </a:p>
          <a:p>
            <a:pPr lvl="0" indent="0" marL="0">
              <a:buNone/>
            </a:pPr>
            <a:r>
              <a:rPr b="1">
                <a:latin typeface="Courier"/>
              </a:rPr>
              <a:t>targetoffsetx</a:t>
            </a:r>
          </a:p>
          <a:p>
            <a:pPr lvl="0" indent="0" marL="1270000">
              <a:buNone/>
            </a:pPr>
            <a:r>
              <a:rPr sz="2000"/>
              <a:t>Горизонтальное смещение стрелки относительно центра блока</a:t>
            </a:r>
          </a:p>
          <a:p>
            <a:pPr lvl="0" indent="0" marL="0">
              <a:buNone/>
            </a:pPr>
            <a:r>
              <a:rPr b="1">
                <a:latin typeface="Courier"/>
              </a:rPr>
              <a:t>targetoffsety</a:t>
            </a:r>
          </a:p>
          <a:p>
            <a:pPr lvl="0" indent="0" marL="1270000">
              <a:buNone/>
            </a:pPr>
            <a:r>
              <a:rPr sz="2000"/>
              <a:t>Вертикальное смещение стрелки</a:t>
            </a:r>
          </a:p>
          <a:p>
            <a:pPr lvl="0" indent="0" marL="0">
              <a:buNone/>
            </a:pPr>
            <a:r>
              <a:rPr b="1">
                <a:latin typeface="Courier"/>
              </a:rPr>
              <a:t>width</a:t>
            </a:r>
          </a:p>
          <a:p>
            <a:pPr lvl="0" indent="0" marL="1270000">
              <a:buNone/>
            </a:pPr>
            <a:r>
              <a:rPr sz="2000"/>
              <a:t>Ширина текстового блока заметки</a:t>
            </a:r>
          </a:p>
          <a:p>
            <a:pPr lvl="0" indent="0" marL="0">
              <a:buNone/>
            </a:pPr>
            <a:r>
              <a:rPr/>
              <a:t>Не забудьте! Используйте </a:t>
            </a:r>
            <a:r>
              <a:rPr>
                <a:latin typeface="Courier"/>
              </a:rPr>
              <a:t>\vspace</a:t>
            </a:r>
            <a:r>
              <a:rPr/>
              <a:t> для создания пространства под заметку в основном блоке</a:t>
            </a:r>
          </a:p>
          <a:p>
            <a:pPr lvl="0" indent="0" marL="0">
              <a:buNone/>
            </a:pPr>
            <a:r>
              <a:rPr/>
              <a:t>Визуализация заметок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Вставка графических элементов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Особенности работы с изображениями</a:t>
            </a:r>
          </a:p>
          <a:p>
            <a:pPr lvl="0" indent="0" marL="0">
              <a:buNone/>
            </a:pPr>
            <a:r>
              <a:rPr/>
              <a:t>Важное ограничение! В tikzposter </a:t>
            </a:r>
            <a:r>
              <a:rPr b="1"/>
              <a:t>нельзя</a:t>
            </a:r>
            <a:r>
              <a:rPr/>
              <a:t> использовать окружение </a:t>
            </a:r>
            <a:r>
              <a:rPr>
                <a:latin typeface="Courier"/>
              </a:rPr>
              <a:t>figure</a:t>
            </a:r>
          </a:p>
          <a:p>
            <a:pPr lvl="0" indent="0" marL="0">
              <a:buNone/>
            </a:pPr>
            <a:r>
              <a:rPr b="1"/>
              <a:t>Вместо этого используется:</a:t>
            </a:r>
          </a:p>
          <a:p>
            <a:pPr lvl="0"/>
            <a:r>
              <a:rPr/>
              <a:t>Окружение </a:t>
            </a:r>
            <a:r>
              <a:rPr>
                <a:latin typeface="Courier"/>
              </a:rPr>
              <a:t>center</a:t>
            </a:r>
          </a:p>
          <a:p>
            <a:pPr lvl="0"/>
            <a:r>
              <a:rPr/>
              <a:t>Команда </a:t>
            </a:r>
            <a:r>
              <a:rPr>
                <a:latin typeface="Courier"/>
              </a:rPr>
              <a:t>\captionof{figure}{...}</a:t>
            </a:r>
          </a:p>
          <a:p>
            <a:pPr lvl="0"/>
            <a:r>
              <a:rPr/>
              <a:t>Пакет </a:t>
            </a:r>
            <a:r>
              <a:rPr>
                <a:latin typeface="Courier"/>
              </a:rPr>
              <a:t>caption</a:t>
            </a:r>
            <a:r>
              <a:rPr/>
              <a:t> (обязательно!)</a:t>
            </a:r>
          </a:p>
          <a:p>
            <a:pPr lvl="0" indent="0">
              <a:buNone/>
            </a:pPr>
            <a:r>
              <a:rPr>
                <a:latin typeface="Courier"/>
              </a:rPr>
              <a:t>% В преамбуле:
\usepackage{caption}</a:t>
            </a:r>
          </a:p>
          <a:p>
            <a:pPr lvl="0" indent="0" marL="0">
              <a:buNone/>
            </a:pPr>
            <a:r>
              <a:rPr/>
              <a:t>Вставка растровых изображений</a:t>
            </a:r>
          </a:p>
          <a:p>
            <a:pPr lvl="0" indent="0">
              <a:buNone/>
            </a:pPr>
            <a:r>
              <a:rPr>
                <a:latin typeface="Courier"/>
              </a:rPr>
              <a:t>\block{Результаты эксперимента}{
  \begin{center}
    \includegraphics[width=0.8\textwidth]{image.png}
    \captionof{figure}{Подпись к изображению}
  \end{center}
}</a:t>
            </a:r>
          </a:p>
          <a:p>
            <a:pPr lvl="0" indent="0" marL="0">
              <a:buNone/>
            </a:pPr>
            <a:r>
              <a:rPr/>
              <a:t>Поддерживаемые форматы</a:t>
            </a:r>
          </a:p>
          <a:p>
            <a:pPr lvl="0"/>
            <a:r>
              <a:rPr/>
              <a:t>PNG — для скриншотов и растровой графики</a:t>
            </a:r>
          </a:p>
          <a:p>
            <a:pPr lvl="0"/>
            <a:r>
              <a:rPr/>
              <a:t>JPG — для фотографий</a:t>
            </a:r>
          </a:p>
          <a:p>
            <a:pPr lvl="0"/>
            <a:r>
              <a:rPr/>
              <a:t>PDF — для векторной графики</a:t>
            </a:r>
          </a:p>
          <a:p>
            <a:pPr lvl="0" indent="0" marL="0">
              <a:buNone/>
            </a:pPr>
            <a:r>
              <a:rPr/>
              <a:t>Вставка векторных рисунков TikZ</a:t>
            </a:r>
          </a:p>
          <a:p>
            <a:pPr lvl="0" indent="0" marL="0">
              <a:buNone/>
            </a:pPr>
            <a:r>
              <a:rPr/>
              <a:t>0.55</a:t>
            </a:r>
          </a:p>
          <a:p>
            <a:pPr lvl="0" indent="0">
              <a:buNone/>
            </a:pPr>
            <a:r>
              <a:rPr>
                <a:latin typeface="Courier"/>
              </a:rPr>
              <a:t>\block{Схема}{
  \begin{center}
    \begin{tikzpicture}
      \draw[thick,-&gt;] (0,0) -- (4,0) 
        node[right]{$x$};
      \draw[thick,-&gt;] (0,0) -- (0,3) 
        node[above]{$y$};
      \draw[blue,thick] (0,0) 
        parabola (3,2);
    \end{tikzpicture}
    \captionof{figure}{График}
  \end{center}
}</a:t>
            </a:r>
          </a:p>
          <a:p>
            <a:pPr lvl="0" indent="0" marL="0">
              <a:buNone/>
            </a:pPr>
            <a:r>
              <a:rPr/>
              <a:t>0.45</a:t>
            </a:r>
          </a:p>
          <a:p>
            <a:pPr lvl="0" indent="0" marL="0">
              <a:buNone/>
            </a:pPr>
            <a:r>
              <a:rPr b="1"/>
              <a:t>Преимущества TikZ:</a:t>
            </a:r>
          </a:p>
          <a:p>
            <a:pPr lvl="0"/>
            <a:r>
              <a:rPr/>
              <a:t>Векторная графика</a:t>
            </a:r>
          </a:p>
          <a:p>
            <a:pPr lvl="0"/>
            <a:r>
              <a:rPr/>
              <a:t>Масштабируемость</a:t>
            </a:r>
          </a:p>
          <a:p>
            <a:pPr lvl="0"/>
            <a:r>
              <a:rPr/>
              <a:t>Интеграция с LaTeX</a:t>
            </a:r>
          </a:p>
          <a:p>
            <a:pPr lvl="0" indent="0" marL="0">
              <a:buNone/>
            </a:pPr>
            <a:r>
              <a:rPr/>
              <a:t>Рекомендации по изображениям</a:t>
            </a:r>
          </a:p>
          <a:p>
            <a:pPr lvl="0" indent="0" marL="0">
              <a:buNone/>
            </a:pPr>
            <a:r>
              <a:rPr/>
              <a:t>0.5</a:t>
            </a:r>
          </a:p>
          <a:p>
            <a:pPr lvl="0" indent="0" marL="0">
              <a:buNone/>
            </a:pPr>
            <a:r>
              <a:rPr/>
              <a:t>Для печати</a:t>
            </a:r>
          </a:p>
          <a:p>
            <a:pPr lvl="0"/>
            <a:r>
              <a:rPr/>
              <a:t>Разрешение ≥ 300 DPI</a:t>
            </a:r>
          </a:p>
          <a:p>
            <a:pPr lvl="0"/>
            <a:r>
              <a:rPr/>
              <a:t>Векторные форматы (PDF, EPS)</a:t>
            </a:r>
          </a:p>
          <a:p>
            <a:pPr lvl="0"/>
            <a:r>
              <a:rPr/>
              <a:t>Крупные шрифты на графиках</a:t>
            </a:r>
          </a:p>
          <a:p>
            <a:pPr lvl="0"/>
            <a:r>
              <a:rPr/>
              <a:t>Высокий контраст</a:t>
            </a:r>
          </a:p>
          <a:p>
            <a:pPr lvl="0" indent="0" marL="0">
              <a:buNone/>
            </a:pPr>
            <a:r>
              <a:rPr/>
              <a:t>0.5</a:t>
            </a:r>
          </a:p>
          <a:p>
            <a:pPr lvl="0" indent="0" marL="0">
              <a:buNone/>
            </a:pPr>
            <a:r>
              <a:rPr/>
              <a:t>Для экрана</a:t>
            </a:r>
          </a:p>
          <a:p>
            <a:pPr lvl="0"/>
            <a:r>
              <a:rPr/>
              <a:t>Разрешение ≥ 150 DPI</a:t>
            </a:r>
          </a:p>
          <a:p>
            <a:pPr lvl="0"/>
            <a:r>
              <a:rPr/>
              <a:t>PNG с прозрачностью</a:t>
            </a:r>
          </a:p>
          <a:p>
            <a:pPr lvl="0"/>
            <a:r>
              <a:rPr/>
              <a:t>Оптимизация размера</a:t>
            </a:r>
          </a:p>
          <a:p>
            <a:pPr lvl="0"/>
            <a:r>
              <a:rPr/>
              <a:t>Яркие цвета</a:t>
            </a:r>
          </a:p>
          <a:p>
            <a:pPr lvl="0" indent="0" marL="0">
              <a:buNone/>
            </a:pPr>
            <a:r>
              <a:rPr/>
              <a:t>Совет Всегда проверяйте, как выглядят изображения в финальном размере постера!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Работа с цветовым оформлением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Ограничения tikzposter</a:t>
            </a:r>
          </a:p>
          <a:p>
            <a:pPr lvl="0" indent="0" marL="0">
              <a:buNone/>
            </a:pPr>
            <a:r>
              <a:rPr/>
              <a:t>Важное ограничение! Пакет tikzposter </a:t>
            </a:r>
            <a:r>
              <a:rPr b="1"/>
              <a:t>не поддерживает</a:t>
            </a:r>
            <a:r>
              <a:rPr/>
              <a:t> опцию </a:t>
            </a:r>
            <a:r>
              <a:rPr>
                <a:latin typeface="Courier"/>
              </a:rPr>
              <a:t>svgnames</a:t>
            </a:r>
            <a:r>
              <a:rPr/>
              <a:t> пакета xcolor</a:t>
            </a:r>
          </a:p>
          <a:p>
            <a:pPr lvl="0" indent="0" marL="0">
              <a:buNone/>
            </a:pPr>
            <a:r>
              <a:rPr b="1"/>
              <a:t>Это означает, что недоступны:</a:t>
            </a:r>
          </a:p>
          <a:p>
            <a:pPr lvl="0"/>
            <a:r>
              <a:rPr>
                <a:latin typeface="Courier"/>
              </a:rPr>
              <a:t>Red</a:t>
            </a:r>
            <a:r>
              <a:rPr/>
              <a:t>, </a:t>
            </a:r>
            <a:r>
              <a:rPr>
                <a:latin typeface="Courier"/>
              </a:rPr>
              <a:t>Blue</a:t>
            </a:r>
            <a:r>
              <a:rPr/>
              <a:t>, </a:t>
            </a:r>
            <a:r>
              <a:rPr>
                <a:latin typeface="Courier"/>
              </a:rPr>
              <a:t>Green</a:t>
            </a:r>
          </a:p>
          <a:p>
            <a:pPr lvl="0"/>
            <a:r>
              <a:rPr>
                <a:latin typeface="Courier"/>
              </a:rPr>
              <a:t>ForestGreen</a:t>
            </a:r>
            <a:r>
              <a:rPr/>
              <a:t>, </a:t>
            </a:r>
            <a:r>
              <a:rPr>
                <a:latin typeface="Courier"/>
              </a:rPr>
              <a:t>RoyalBlue</a:t>
            </a:r>
          </a:p>
          <a:p>
            <a:pPr lvl="0"/>
            <a:r>
              <a:rPr/>
              <a:t>Другие именованные цвета SVG</a:t>
            </a:r>
          </a:p>
          <a:p>
            <a:pPr lvl="0" indent="0" marL="0">
              <a:buNone/>
            </a:pPr>
            <a:r>
              <a:rPr/>
              <a:t>Решение Все цвета должны быть определены вручную с помощью </a:t>
            </a:r>
            <a:r>
              <a:rPr>
                <a:latin typeface="Courier"/>
              </a:rPr>
              <a:t>\definecolor</a:t>
            </a:r>
          </a:p>
          <a:p>
            <a:pPr lvl="0" indent="0" marL="0">
              <a:buNone/>
            </a:pPr>
            <a:r>
              <a:rPr/>
              <a:t>Определение пользовательских цветов </a:t>
            </a:r>
            <a:r>
              <a:rPr b="1"/>
              <a:t>В преамбуле документа:</a:t>
            </a:r>
          </a:p>
          <a:p>
            <a:pPr lvl="0" indent="0">
              <a:buNone/>
            </a:pPr>
            <a:r>
              <a:rPr>
                <a:latin typeface="Courier"/>
              </a:rPr>
              <a:t>\definecolor{MyPink}{RGB}{194, 19, 182}
\definecolor{MyBlue}{RGB}{0, 102, 204}
\definecolor{MyGreen}{RGB}{34, 139, 34}
\definecolor{MyOrange}{RGB}{255, 140, 0}</a:t>
            </a:r>
          </a:p>
          <a:p>
            <a:pPr lvl="0" indent="0" marL="0">
              <a:buNone/>
            </a:pPr>
            <a:r>
              <a:rPr/>
              <a:t>Цветовые модели</a:t>
            </a:r>
          </a:p>
          <a:p>
            <a:pPr lvl="0" indent="0" marL="0">
              <a:buNone/>
            </a:pPr>
            <a:r>
              <a:rPr b="1"/>
              <a:t>RGB</a:t>
            </a:r>
          </a:p>
          <a:p>
            <a:pPr lvl="0" indent="0" marL="1270000">
              <a:buNone/>
            </a:pPr>
            <a:r>
              <a:rPr sz="2000"/>
              <a:t>Красный, Зеленый, Синий (0-255)</a:t>
            </a:r>
          </a:p>
          <a:p>
            <a:pPr lvl="0" indent="0" marL="0">
              <a:buNone/>
            </a:pPr>
            <a:r>
              <a:rPr b="1"/>
              <a:t>HTML</a:t>
            </a:r>
          </a:p>
          <a:p>
            <a:pPr lvl="0" indent="0" marL="1270000">
              <a:buNone/>
            </a:pPr>
            <a:r>
              <a:rPr sz="2000"/>
              <a:t>Шестнадцатеричный код (#RRGGBB)</a:t>
            </a:r>
          </a:p>
          <a:p>
            <a:pPr lvl="0" indent="0" marL="0">
              <a:buNone/>
            </a:pPr>
            <a:r>
              <a:rPr b="1"/>
              <a:t>cmyk</a:t>
            </a:r>
          </a:p>
          <a:p>
            <a:pPr lvl="0" indent="0" marL="1270000">
              <a:buNone/>
            </a:pPr>
            <a:r>
              <a:rPr sz="2000"/>
              <a:t>Голубой, Пурпурный, Желтый, Черный (0-1)</a:t>
            </a:r>
          </a:p>
          <a:p>
            <a:pPr lvl="0" indent="0" marL="0">
              <a:buNone/>
            </a:pPr>
            <a:r>
              <a:rPr/>
              <a:t>Использование цветов в тексте</a:t>
            </a:r>
          </a:p>
          <a:p>
            <a:pPr lvl="0" indent="0">
              <a:buNone/>
            </a:pPr>
            <a:r>
              <a:rPr>
                <a:latin typeface="Courier"/>
              </a:rPr>
              <a:t>Обычный черный текст, 
\color{MyPink} розовый текст, 
\color{black} снова черный текст.</a:t>
            </a:r>
          </a:p>
          <a:p>
            <a:pPr lvl="0" indent="0" marL="0">
              <a:buNone/>
            </a:pPr>
            <a:r>
              <a:rPr b="1"/>
              <a:t>Результат:</a:t>
            </a:r>
          </a:p>
          <a:p>
            <a:pPr lvl="0" indent="0" marL="0">
              <a:buNone/>
            </a:pPr>
            <a:r>
              <a:rPr/>
              <a:t>Обычный черный текст, розовый текст, снова черный текст.</a:t>
            </a:r>
          </a:p>
          <a:p>
            <a:pPr lvl="0" indent="0" marL="0">
              <a:buNone/>
            </a:pPr>
            <a:r>
              <a:rPr/>
              <a:t>Важно! После использования </a:t>
            </a:r>
            <a:r>
              <a:rPr>
                <a:latin typeface="Courier"/>
              </a:rPr>
              <a:t>\color</a:t>
            </a:r>
            <a:r>
              <a:rPr/>
              <a:t> все последующий текст будет этого цвета, пока не будет задан другой цвет</a:t>
            </a:r>
          </a:p>
          <a:p>
            <a:pPr lvl="0" indent="0" marL="0">
              <a:buNone/>
            </a:pPr>
            <a:r>
              <a:rPr/>
              <a:t>Демонстрация цветов</a:t>
            </a:r>
          </a:p>
          <a:p>
            <a:pPr lvl="0" indent="0" marL="0">
              <a:buNone/>
            </a:pPr>
            <a:r>
              <a:rPr/>
              <a:t>Инструменты для подбора цветов</a:t>
            </a:r>
          </a:p>
          <a:p>
            <a:pPr lvl="0"/>
            <a:r>
              <a:rPr/>
              <a:t>Google Color Picker</a:t>
            </a:r>
          </a:p>
          <a:p>
            <a:pPr lvl="0"/>
            <a:r>
              <a:rPr/>
              <a:t>Adobe Color (color.adobe.com)</a:t>
            </a:r>
          </a:p>
          <a:p>
            <a:pPr lvl="0"/>
            <a:r>
              <a:rPr/>
              <a:t>Coolors.co — генератор палитр</a:t>
            </a:r>
          </a:p>
          <a:p>
            <a:pPr lvl="0" indent="0" marL="0">
              <a:buNone/>
            </a:pPr>
            <a:r>
              <a:rPr/>
              <a:t>Принципы работы с цветом</a:t>
            </a:r>
          </a:p>
          <a:p>
            <a:pPr lvl="0" indent="0" marL="0">
              <a:buNone/>
            </a:pPr>
            <a:r>
              <a:rPr/>
              <a:t>0.5</a:t>
            </a:r>
          </a:p>
          <a:p>
            <a:pPr lvl="0" indent="0" marL="0">
              <a:buNone/>
            </a:pPr>
            <a:r>
              <a:rPr/>
              <a:t>Правило 60-30-10</a:t>
            </a:r>
          </a:p>
          <a:p>
            <a:pPr lvl="0"/>
            <a:r>
              <a:rPr/>
              <a:t>60% — основной цвет</a:t>
            </a:r>
          </a:p>
          <a:p>
            <a:pPr lvl="0"/>
            <a:r>
              <a:rPr/>
              <a:t>30% — дополнительный</a:t>
            </a:r>
          </a:p>
          <a:p>
            <a:pPr lvl="0"/>
            <a:r>
              <a:rPr/>
              <a:t>10% — акцентный</a:t>
            </a:r>
          </a:p>
          <a:p>
            <a:pPr lvl="0" indent="0" marL="0">
              <a:buNone/>
            </a:pPr>
            <a:r>
              <a:rPr/>
              <a:t>Контрастность</a:t>
            </a:r>
          </a:p>
          <a:p>
            <a:pPr lvl="0"/>
            <a:r>
              <a:rPr/>
              <a:t>Темный текст на светлом фоне</a:t>
            </a:r>
          </a:p>
          <a:p>
            <a:pPr lvl="0"/>
            <a:r>
              <a:rPr/>
              <a:t>Светлый текст на темном фоне</a:t>
            </a:r>
          </a:p>
          <a:p>
            <a:pPr lvl="0"/>
            <a:r>
              <a:rPr/>
              <a:t>Избегайте низкого контраста</a:t>
            </a:r>
          </a:p>
          <a:p>
            <a:pPr lvl="0" indent="0" marL="0">
              <a:buNone/>
            </a:pPr>
            <a:r>
              <a:rPr/>
              <a:t>0.5</a:t>
            </a:r>
          </a:p>
          <a:p>
            <a:pPr lvl="0" indent="0" marL="0">
              <a:buNone/>
            </a:pPr>
            <a:r>
              <a:rPr/>
              <a:t>Хорошие сочетания</a:t>
            </a:r>
          </a:p>
          <a:p>
            <a:pPr lvl="0"/>
            <a:r>
              <a:rPr/>
              <a:t>Синий + оранжевый</a:t>
            </a:r>
          </a:p>
          <a:p>
            <a:pPr lvl="0"/>
            <a:r>
              <a:rPr/>
              <a:t>Фиолетовый + желтый</a:t>
            </a:r>
          </a:p>
          <a:p>
            <a:pPr lvl="0"/>
            <a:r>
              <a:rPr/>
              <a:t>Зеленый + красный</a:t>
            </a:r>
          </a:p>
          <a:p>
            <a:pPr lvl="0" indent="0" marL="0">
              <a:buNone/>
            </a:pPr>
            <a:r>
              <a:rPr/>
              <a:t>Избегайте</a:t>
            </a:r>
          </a:p>
          <a:p>
            <a:pPr lvl="0"/>
            <a:r>
              <a:rPr/>
              <a:t>Более 4-5 цветов</a:t>
            </a:r>
          </a:p>
          <a:p>
            <a:pPr lvl="0"/>
            <a:r>
              <a:rPr/>
              <a:t>Слишком яркие цвета</a:t>
            </a:r>
          </a:p>
          <a:p>
            <a:pPr lvl="0"/>
            <a:r>
              <a:rPr/>
              <a:t>Плохой контраст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Полный пример постера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Структура документа</a:t>
            </a:r>
          </a:p>
          <a:p>
            <a:pPr lvl="0" indent="0">
              <a:buNone/>
            </a:pPr>
            <a:r>
              <a:rPr>
                <a:latin typeface="Courier"/>
              </a:rPr>
              <a:t>\documentclass[25pt, a0paper, portrait]{tikzposter}
\usepackage[utf8]{inputenc}
\usepackage[russian]{babel}
\usepackage{caption}
\definecolor{MyPink}{RGB}{194, 19, 182}
\definecolor{MyBlue}{RGB}{0, 102, 204}
\title{Название исследования}
\author{Автор}
\institute{Университет}
\begin{document}
\maketitle
% Содержимое постера
\end{document}</a:t>
            </a:r>
          </a:p>
          <a:p>
            <a:pPr lvl="0" indent="0" marL="0">
              <a:buNone/>
            </a:pPr>
            <a:r>
              <a:rPr/>
              <a:t>Пример содержимого постера (1/2)</a:t>
            </a:r>
          </a:p>
          <a:p>
            <a:pPr lvl="0" indent="0">
              <a:buNone/>
            </a:pPr>
            <a:r>
              <a:rPr>
                <a:latin typeface="Courier"/>
              </a:rPr>
              <a:t>\begin{columns}
  \column{.5}
  \block{Введение}{
    Краткое описание проблемы и актуальности 
    исследования. Постановка задачи.
  }
  \block{Методы}{
    \begin{itemize}
      \item Описание используемых методов
      \item Экспериментальная установка
      \item Параметры эксперимента
    \end{itemize}
  }</a:t>
            </a:r>
          </a:p>
          <a:p>
            <a:pPr lvl="0" indent="0" marL="0">
              <a:buNone/>
            </a:pPr>
            <a:r>
              <a:rPr/>
              <a:t>Пример содержимого постера (2/2)</a:t>
            </a:r>
          </a:p>
          <a:p>
            <a:pPr lvl="0" indent="0">
              <a:buNone/>
            </a:pPr>
            <a:r>
              <a:rPr>
                <a:latin typeface="Courier"/>
              </a:rPr>
              <a:t>\column{.5}
  \block{Результаты}{
    \begin{center}
      \includegraphics[width=0.9\textwidth]{results.png}
      \captionof{figure}{Основные результаты эксперимента}
    \end{center}
  }
  \block{Выводы}{
    \begin{enumerate}
      \item Первый важный вывод
      \item Второй важный вывод
      \item Перспективы дальнейших исследований
    \end{enumerate}
  }
\end{columns}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Практические рекомендации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Планирование структуры</a:t>
            </a:r>
          </a:p>
          <a:p>
            <a:pPr lvl="0" indent="0" marL="0">
              <a:buNone/>
            </a:pPr>
            <a:r>
              <a:rPr/>
              <a:t>Перед началом работы</a:t>
            </a:r>
          </a:p>
          <a:p>
            <a:pPr lvl="0" indent="-342900" marL="342900">
              <a:buAutoNum type="arabicPeriod"/>
            </a:pPr>
            <a:r>
              <a:rPr/>
              <a:t>Определите основные разделы постера</a:t>
            </a:r>
          </a:p>
          <a:p>
            <a:pPr lvl="0" indent="-342900" marL="342900">
              <a:buAutoNum type="arabicPeriod"/>
            </a:pPr>
            <a:r>
              <a:rPr/>
              <a:t>Спланируйте количество и ширину колонок</a:t>
            </a:r>
          </a:p>
          <a:p>
            <a:pPr lvl="0" indent="-342900" marL="342900">
              <a:buAutoNum type="arabicPeriod"/>
            </a:pPr>
            <a:r>
              <a:rPr/>
              <a:t>Оцените необходимое пространство для графиков</a:t>
            </a:r>
          </a:p>
          <a:p>
            <a:pPr lvl="0" indent="-342900" marL="342900">
              <a:buAutoNum type="arabicPeriod"/>
            </a:pPr>
            <a:r>
              <a:rPr/>
              <a:t>Продумайте цветовую схему</a:t>
            </a:r>
          </a:p>
          <a:p>
            <a:pPr lvl="0" indent="-342900" marL="342900">
              <a:buAutoNum type="arabicPeriod"/>
            </a:pPr>
            <a:r>
              <a:rPr/>
              <a:t>Подготовьте все изображения в нужном формате</a:t>
            </a:r>
          </a:p>
          <a:p>
            <a:pPr lvl="0" indent="0" marL="0">
              <a:buNone/>
            </a:pPr>
            <a:r>
              <a:rPr/>
              <a:t>Совет Нарисуйте эскиз постера на бумаге перед началом работы в LaTeX!</a:t>
            </a:r>
          </a:p>
          <a:p>
            <a:pPr lvl="0" indent="0" marL="0">
              <a:buNone/>
            </a:pPr>
            <a:r>
              <a:rPr/>
              <a:t>Оформление контента</a:t>
            </a:r>
          </a:p>
          <a:p>
            <a:pPr lvl="0" indent="0" marL="0">
              <a:buNone/>
            </a:pPr>
            <a:r>
              <a:rPr/>
              <a:t>0.5</a:t>
            </a:r>
          </a:p>
          <a:p>
            <a:pPr lvl="0" indent="0" marL="0">
              <a:buNone/>
            </a:pPr>
            <a:r>
              <a:rPr/>
              <a:t>Текст</a:t>
            </a:r>
          </a:p>
          <a:p>
            <a:pPr lvl="0"/>
            <a:r>
              <a:rPr/>
              <a:t>Краткие заголовки</a:t>
            </a:r>
          </a:p>
          <a:p>
            <a:pPr lvl="0"/>
            <a:r>
              <a:rPr/>
              <a:t>Минимум текста</a:t>
            </a:r>
          </a:p>
          <a:p>
            <a:pPr lvl="0"/>
            <a:r>
              <a:rPr/>
              <a:t>Крупный шрифт</a:t>
            </a:r>
          </a:p>
          <a:p>
            <a:pPr lvl="0"/>
            <a:r>
              <a:rPr/>
              <a:t>Структурированность</a:t>
            </a:r>
          </a:p>
          <a:p>
            <a:pPr lvl="0" indent="0" marL="0">
              <a:buNone/>
            </a:pPr>
            <a:r>
              <a:rPr/>
              <a:t>0.5</a:t>
            </a:r>
          </a:p>
          <a:p>
            <a:pPr lvl="0" indent="0" marL="0">
              <a:buNone/>
            </a:pPr>
            <a:r>
              <a:rPr/>
              <a:t>Визуализация</a:t>
            </a:r>
          </a:p>
          <a:p>
            <a:pPr lvl="0"/>
            <a:r>
              <a:rPr/>
              <a:t>Больше графиков</a:t>
            </a:r>
          </a:p>
          <a:p>
            <a:pPr lvl="0"/>
            <a:r>
              <a:rPr/>
              <a:t>Меньше таблиц</a:t>
            </a:r>
          </a:p>
          <a:p>
            <a:pPr lvl="0"/>
            <a:r>
              <a:rPr/>
              <a:t>Яркие цвета</a:t>
            </a:r>
          </a:p>
          <a:p>
            <a:pPr lvl="0"/>
            <a:r>
              <a:rPr/>
              <a:t>Понятные подписи</a:t>
            </a:r>
          </a:p>
          <a:p>
            <a:pPr lvl="0" indent="0" marL="0">
              <a:buNone/>
            </a:pPr>
            <a:r>
              <a:rPr/>
              <a:t>Правило «3 метра» Основная информация должна читаться с расстояния 3 метров</a:t>
            </a:r>
          </a:p>
          <a:p>
            <a:pPr lvl="0" indent="0" marL="0">
              <a:buNone/>
            </a:pPr>
            <a:r>
              <a:rPr/>
              <a:t>Типичные ошибки</a:t>
            </a:r>
          </a:p>
          <a:p>
            <a:pPr lvl="0" indent="0" marL="0">
              <a:buNone/>
            </a:pPr>
            <a:r>
              <a:rPr/>
              <a:t>Чего следует избегать</a:t>
            </a:r>
          </a:p>
          <a:p>
            <a:pPr lvl="0"/>
            <a:r>
              <a:rPr/>
              <a:t>Слишком много текста — постер превращается в статью</a:t>
            </a:r>
          </a:p>
          <a:p>
            <a:pPr lvl="0"/>
            <a:r>
              <a:rPr/>
              <a:t>Мелкий шрифт — информация нечитаема</a:t>
            </a:r>
          </a:p>
          <a:p>
            <a:pPr lvl="0"/>
            <a:r>
              <a:rPr/>
              <a:t>Слишком много цветов — пестрота и хаос</a:t>
            </a:r>
          </a:p>
          <a:p>
            <a:pPr lvl="0"/>
            <a:r>
              <a:rPr/>
              <a:t>Низкое качество изображений — непрофессиональный вид</a:t>
            </a:r>
          </a:p>
          <a:p>
            <a:pPr lvl="0"/>
            <a:r>
              <a:rPr/>
              <a:t>Отсутствие структуры — сложно следить за логикой</a:t>
            </a:r>
          </a:p>
          <a:p>
            <a:pPr lvl="0"/>
            <a:r>
              <a:rPr/>
              <a:t>Неправильные пропорции колонок — неэффективное использование пространства</a:t>
            </a:r>
          </a:p>
          <a:p>
            <a:pPr lvl="0" indent="0" marL="0">
              <a:buNone/>
            </a:pPr>
            <a:r>
              <a:rPr/>
              <a:t>Технические аспекты</a:t>
            </a:r>
          </a:p>
          <a:p>
            <a:pPr lvl="0" indent="0" marL="0">
              <a:buNone/>
            </a:pPr>
            <a:r>
              <a:rPr/>
              <a:t>Обязательные требования</a:t>
            </a:r>
          </a:p>
          <a:p>
            <a:pPr lvl="0"/>
            <a:r>
              <a:rPr/>
              <a:t>Подключить пакет </a:t>
            </a:r>
            <a:r>
              <a:rPr>
                <a:latin typeface="Courier"/>
              </a:rPr>
              <a:t>caption</a:t>
            </a:r>
            <a:r>
              <a:rPr/>
              <a:t> для работы с подписями</a:t>
            </a:r>
          </a:p>
          <a:p>
            <a:pPr lvl="0"/>
            <a:r>
              <a:rPr/>
              <a:t>Определить все используемые цвета в преамбуле</a:t>
            </a:r>
          </a:p>
          <a:p>
            <a:pPr lvl="0"/>
            <a:r>
              <a:rPr/>
              <a:t>Проверить сумму ширин колонок (должна быть ≈ 1.0)</a:t>
            </a:r>
          </a:p>
          <a:p>
            <a:pPr lvl="0"/>
            <a:r>
              <a:rPr/>
              <a:t>Использовать изображения в высоком разрешении</a:t>
            </a:r>
          </a:p>
          <a:p>
            <a:pPr lvl="0"/>
            <a:r>
              <a:rPr/>
              <a:t>Добавить </a:t>
            </a:r>
            <a:r>
              <a:rPr>
                <a:latin typeface="Courier"/>
              </a:rPr>
              <a:t>\vspace</a:t>
            </a:r>
            <a:r>
              <a:rPr/>
              <a:t> для заметок</a:t>
            </a:r>
          </a:p>
          <a:p>
            <a:pPr lvl="0" indent="0" marL="0">
              <a:buNone/>
            </a:pPr>
            <a:r>
              <a:rPr/>
              <a:t>Размеры постеров</a:t>
            </a:r>
          </a:p>
          <a:p>
            <a:pPr lvl="0"/>
            <a:r>
              <a:rPr/>
              <a:t>A0 — 841 × 1189 мм (стандарт для конференций)</a:t>
            </a:r>
          </a:p>
          <a:p>
            <a:pPr lvl="0"/>
            <a:r>
              <a:rPr/>
              <a:t>A1 — 594 × 841 мм (компактный вариант)</a:t>
            </a:r>
          </a:p>
          <a:p>
            <a:pPr lvl="0"/>
            <a:r>
              <a:rPr/>
              <a:t>Ориентация: portrait (вертикальная) или landscape (горизонтальная)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Освоенные навыки</a:t>
            </a:r>
          </a:p>
          <a:p>
            <a:pPr lvl="0" indent="0" marL="0">
              <a:buNone/>
            </a:pPr>
            <a:r>
              <a:rPr/>
              <a:t>0.5 </a:t>
            </a:r>
            <a:r>
              <a:rPr b="1"/>
              <a:t>Структурирование:</a:t>
            </a:r>
          </a:p>
          <a:p>
            <a:pPr lvl="0"/>
            <a:r>
              <a:rPr/>
              <a:t>Многоколоночные макеты</a:t>
            </a:r>
          </a:p>
          <a:p>
            <a:pPr lvl="0"/>
            <a:r>
              <a:rPr/>
              <a:t>Блоки контента</a:t>
            </a:r>
          </a:p>
          <a:p>
            <a:pPr lvl="0"/>
            <a:r>
              <a:rPr/>
              <a:t>Заметки и аннотации</a:t>
            </a:r>
          </a:p>
          <a:p>
            <a:pPr lvl="0" indent="0" marL="0">
              <a:buNone/>
            </a:pPr>
            <a:r>
              <a:rPr b="1"/>
              <a:t>Оформление:</a:t>
            </a:r>
          </a:p>
          <a:p>
            <a:pPr lvl="0"/>
            <a:r>
              <a:rPr/>
              <a:t>Цветовые схемы</a:t>
            </a:r>
          </a:p>
          <a:p>
            <a:pPr lvl="0"/>
            <a:r>
              <a:rPr/>
              <a:t>Пользовательские цвета</a:t>
            </a:r>
          </a:p>
          <a:p>
            <a:pPr lvl="0"/>
            <a:r>
              <a:rPr/>
              <a:t>Форматирование текста</a:t>
            </a:r>
          </a:p>
          <a:p>
            <a:pPr lvl="0" indent="0" marL="0">
              <a:buNone/>
            </a:pPr>
            <a:r>
              <a:rPr/>
              <a:t>0.5 </a:t>
            </a:r>
            <a:r>
              <a:rPr b="1"/>
              <a:t>Графика:</a:t>
            </a:r>
          </a:p>
          <a:p>
            <a:pPr lvl="0"/>
            <a:r>
              <a:rPr/>
              <a:t>Растровые изображения</a:t>
            </a:r>
          </a:p>
          <a:p>
            <a:pPr lvl="0"/>
            <a:r>
              <a:rPr/>
              <a:t>Векторная графика TikZ</a:t>
            </a:r>
          </a:p>
          <a:p>
            <a:pPr lvl="0"/>
            <a:r>
              <a:rPr/>
              <a:t>Подписи к рисункам</a:t>
            </a:r>
          </a:p>
          <a:p>
            <a:pPr lvl="0" indent="0" marL="0">
              <a:buNone/>
            </a:pPr>
            <a:r>
              <a:rPr b="1"/>
              <a:t>Техническое:</a:t>
            </a:r>
          </a:p>
          <a:p>
            <a:pPr lvl="0"/>
            <a:r>
              <a:rPr/>
              <a:t>Работа с пакетами</a:t>
            </a:r>
          </a:p>
          <a:p>
            <a:pPr lvl="0"/>
            <a:r>
              <a:rPr/>
              <a:t>Настройка параметров</a:t>
            </a:r>
          </a:p>
          <a:p>
            <a:pPr lvl="0"/>
            <a:r>
              <a:rPr/>
              <a:t>Решение проблем</a:t>
            </a:r>
          </a:p>
          <a:p>
            <a:pPr lvl="0" indent="0" marL="0">
              <a:buNone/>
            </a:pPr>
            <a:r>
              <a:rPr/>
              <a:t>Преимущества tikzposter</a:t>
            </a:r>
          </a:p>
          <a:p>
            <a:pPr lvl="0" indent="0" marL="0">
              <a:buNone/>
            </a:pPr>
            <a:r>
              <a:rPr/>
              <a:t>Почему стоит использовать tikzposter?</a:t>
            </a:r>
          </a:p>
          <a:p>
            <a:pPr lvl="0" indent="-342900" marL="342900">
              <a:buAutoNum type="arabicPeriod"/>
            </a:pPr>
            <a:r>
              <a:rPr b="1"/>
              <a:t>Профессиональное оформление</a:t>
            </a:r>
            <a:r>
              <a:rPr/>
              <a:t> — без графических редакторов</a:t>
            </a:r>
          </a:p>
          <a:p>
            <a:pPr lvl="0" indent="-342900" marL="342900">
              <a:buAutoNum type="arabicPeriod"/>
            </a:pPr>
            <a:r>
              <a:rPr b="1"/>
              <a:t>Гибкость</a:t>
            </a:r>
            <a:r>
              <a:rPr/>
              <a:t> — полный контроль над структурой и дизайном</a:t>
            </a:r>
          </a:p>
          <a:p>
            <a:pPr lvl="0" indent="-342900" marL="342900">
              <a:buAutoNum type="arabicPeriod"/>
            </a:pPr>
            <a:r>
              <a:rPr b="1"/>
              <a:t>Интеграция</a:t>
            </a:r>
            <a:r>
              <a:rPr/>
              <a:t> — работает со всеми пакетами LaTeX</a:t>
            </a:r>
          </a:p>
          <a:p>
            <a:pPr lvl="0" indent="-342900" marL="342900">
              <a:buAutoNum type="arabicPeriod"/>
            </a:pPr>
            <a:r>
              <a:rPr b="1"/>
              <a:t>Масштабируемость</a:t>
            </a:r>
            <a:r>
              <a:rPr/>
              <a:t> — легко изменить размер постера</a:t>
            </a:r>
          </a:p>
          <a:p>
            <a:pPr lvl="0" indent="-342900" marL="342900">
              <a:buAutoNum type="arabicPeriod"/>
            </a:pPr>
            <a:r>
              <a:rPr b="1"/>
              <a:t>Воспроизводимость</a:t>
            </a:r>
            <a:r>
              <a:rPr/>
              <a:t> — легко обновлять и модифицировать</a:t>
            </a:r>
          </a:p>
          <a:p>
            <a:pPr lvl="0" indent="-342900" marL="342900">
              <a:buAutoNum type="arabicPeriod"/>
            </a:pPr>
            <a:r>
              <a:rPr b="1"/>
              <a:t>Качество</a:t>
            </a:r>
            <a:r>
              <a:rPr/>
              <a:t> — векторная графика для печати</a:t>
            </a:r>
          </a:p>
          <a:p>
            <a:pPr lvl="0" indent="0" marL="0">
              <a:buNone/>
            </a:pPr>
            <a:r>
              <a:rPr/>
              <a:t>Области применения</a:t>
            </a:r>
          </a:p>
          <a:p>
            <a:pPr lvl="0" indent="0" marL="0">
              <a:buNone/>
            </a:pPr>
            <a:r>
              <a:rPr/>
              <a:t>0.5</a:t>
            </a:r>
          </a:p>
          <a:p>
            <a:pPr lvl="0" indent="0" marL="0">
              <a:buNone/>
            </a:pPr>
            <a:r>
              <a:rPr/>
              <a:t>Научная сфера</a:t>
            </a:r>
          </a:p>
          <a:p>
            <a:pPr lvl="0"/>
            <a:r>
              <a:rPr/>
              <a:t>Конференции</a:t>
            </a:r>
          </a:p>
          <a:p>
            <a:pPr lvl="0"/>
            <a:r>
              <a:rPr/>
              <a:t>Симпозиумы</a:t>
            </a:r>
          </a:p>
          <a:p>
            <a:pPr lvl="0"/>
            <a:r>
              <a:rPr/>
              <a:t>Семинары</a:t>
            </a:r>
          </a:p>
          <a:p>
            <a:pPr lvl="0"/>
            <a:r>
              <a:rPr/>
              <a:t>Защиты диссертаций</a:t>
            </a:r>
          </a:p>
          <a:p>
            <a:pPr lvl="0" indent="0" marL="0">
              <a:buNone/>
            </a:pPr>
            <a:r>
              <a:rPr/>
              <a:t>0.5</a:t>
            </a:r>
          </a:p>
          <a:p>
            <a:pPr lvl="0" indent="0" marL="0">
              <a:buNone/>
            </a:pPr>
            <a:r>
              <a:rPr/>
              <a:t>Образование</a:t>
            </a:r>
          </a:p>
          <a:p>
            <a:pPr lvl="0"/>
            <a:r>
              <a:rPr/>
              <a:t>Курсовые работы</a:t>
            </a:r>
          </a:p>
          <a:p>
            <a:pPr lvl="0"/>
            <a:r>
              <a:rPr/>
              <a:t>Дипломные проекты</a:t>
            </a:r>
          </a:p>
          <a:p>
            <a:pPr lvl="0"/>
            <a:r>
              <a:rPr/>
              <a:t>Студенческие конференции</a:t>
            </a:r>
          </a:p>
          <a:p>
            <a:pPr lvl="0"/>
            <a:r>
              <a:rPr/>
              <a:t>Научные кружки</a:t>
            </a:r>
          </a:p>
          <a:p>
            <a:pPr lvl="0" indent="0" marL="0">
              <a:buNone/>
            </a:pPr>
            <a:r>
              <a:rPr b="1"/>
              <a:t>tikzposter — мощный инструмент для</a:t>
            </a:r>
            <a:br/>
            <a:r>
              <a:rPr b="1"/>
              <a:t>визуализации научных результатов!</a:t>
            </a:r>
          </a:p>
          <a:p>
            <a:pPr lvl="0" indent="0" marL="0">
              <a:buNone/>
            </a:pPr>
            <a:r>
              <a:rPr/>
              <a:t>Дальнейшее изучение</a:t>
            </a:r>
          </a:p>
          <a:p>
            <a:pPr lvl="0" indent="0" marL="0">
              <a:buNone/>
            </a:pPr>
            <a:r>
              <a:rPr/>
              <a:t>Рекомендуемые ресурсы</a:t>
            </a:r>
          </a:p>
          <a:p>
            <a:pPr lvl="0"/>
            <a:r>
              <a:rPr/>
              <a:t>Официальная документация tikzposter</a:t>
            </a:r>
          </a:p>
          <a:p>
            <a:pPr lvl="0"/>
            <a:r>
              <a:rPr/>
              <a:t>Галерея примеров на Overleaf</a:t>
            </a:r>
          </a:p>
          <a:p>
            <a:pPr lvl="0"/>
            <a:r>
              <a:rPr/>
              <a:t>Сообщество TeX Stack Exchange</a:t>
            </a:r>
          </a:p>
          <a:p>
            <a:pPr lvl="0"/>
            <a:r>
              <a:rPr/>
              <a:t>Книга «The TikZ and PGF Manual»</a:t>
            </a:r>
          </a:p>
          <a:p>
            <a:pPr lvl="0" indent="0" marL="0">
              <a:buNone/>
            </a:pPr>
            <a:r>
              <a:rPr/>
              <a:t>Дополнительные возможности для изучения</a:t>
            </a:r>
          </a:p>
          <a:p>
            <a:pPr lvl="0"/>
            <a:r>
              <a:rPr/>
              <a:t>Создание собственных тем оформления</a:t>
            </a:r>
          </a:p>
          <a:p>
            <a:pPr lvl="0"/>
            <a:r>
              <a:rPr/>
              <a:t>Продвинутая работа с TikZ</a:t>
            </a:r>
          </a:p>
          <a:p>
            <a:pPr lvl="0"/>
            <a:r>
              <a:rPr/>
              <a:t>Интеграция с другими пакетами (pgfplots, circuitikz)</a:t>
            </a:r>
          </a:p>
          <a:p>
            <a:pPr lvl="0"/>
            <a:r>
              <a:rPr/>
              <a:t>Автоматизация создания постеров</a:t>
            </a:r>
          </a:p>
          <a:p>
            <a:pPr lvl="0" indent="0" marL="0">
              <a:buNone/>
            </a:pPr>
            <a:r>
              <a:rPr b="1"/>
              <a:t>Спасибо за внимание!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Создание научных постеров с использованием пакета tikzposter</dc:title>
  <dc:creator>Студент группы НПМмд02-24 Викторов Егор</dc:creator>
  <cp:keywords/>
  <dcterms:created xsi:type="dcterms:W3CDTF">2025-12-06T14:07:25Z</dcterms:created>
  <dcterms:modified xsi:type="dcterms:W3CDTF">2025-12-06T14:07:25Z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2025-12-06</vt:lpwstr>
  </property>
  <property fmtid="{D5CDD505-2E9C-101B-9397-08002B2CF9AE}" pid="3" name="subtitle">
    <vt:lpwstr>Отчет по изучению возможностей LaTeX</vt:lpwstr>
  </property>
</Properties>
</file>