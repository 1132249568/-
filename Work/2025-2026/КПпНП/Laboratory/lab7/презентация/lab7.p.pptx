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rPr/>
              <a:t>Создание научных постеров</a:t>
            </a:r>
            <a:r>
              <a:t/>
            </a:r>
            <a:br/>
            <a:r>
              <a:rPr/>
              <a:t>с использованием пакета tikzposter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rPr/>
              <a:t>Отчет по изучению возможностей LaTeX</a:t>
            </a:r>
            <a:r>
              <a:t/>
            </a:r>
            <a:br/>
            <a:r>
              <a:t/>
            </a:r>
            <a:br/>
            <a:r>
              <a:rPr/>
              <a:t>Студент группы НПМмд02-24 Викторов Егор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2025-12-06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Содержание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Введение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1200" dirty="0" err="1"/>
              <a:t>Что</a:t>
            </a:r>
            <a:r>
              <a:rPr sz="1200" dirty="0"/>
              <a:t> </a:t>
            </a:r>
            <a:r>
              <a:rPr sz="1200" dirty="0" err="1"/>
              <a:t>такое</a:t>
            </a:r>
            <a:r>
              <a:rPr sz="1200" dirty="0"/>
              <a:t> </a:t>
            </a:r>
            <a:r>
              <a:rPr sz="1200" dirty="0" err="1"/>
              <a:t>научный</a:t>
            </a:r>
            <a:r>
              <a:rPr sz="1200" dirty="0"/>
              <a:t> </a:t>
            </a:r>
            <a:r>
              <a:rPr sz="1200" dirty="0" err="1"/>
              <a:t>постер</a:t>
            </a:r>
            <a:r>
              <a:rPr sz="1200" dirty="0"/>
              <a:t>?</a:t>
            </a:r>
          </a:p>
          <a:p>
            <a:pPr marL="0" lvl="0" indent="0">
              <a:buNone/>
            </a:pPr>
            <a:r>
              <a:rPr sz="1200" dirty="0"/>
              <a:t>0.5 </a:t>
            </a:r>
            <a:r>
              <a:rPr sz="1200" b="1" dirty="0" err="1"/>
              <a:t>Научный</a:t>
            </a:r>
            <a:r>
              <a:rPr sz="1200" b="1" dirty="0"/>
              <a:t> </a:t>
            </a:r>
            <a:r>
              <a:rPr sz="1200" b="1" dirty="0" err="1"/>
              <a:t>постер</a:t>
            </a:r>
            <a:r>
              <a:rPr sz="1200" dirty="0"/>
              <a:t> — </a:t>
            </a:r>
            <a:r>
              <a:rPr sz="1200" dirty="0" err="1"/>
              <a:t>это</a:t>
            </a:r>
            <a:r>
              <a:rPr sz="1200" dirty="0"/>
              <a:t> </a:t>
            </a:r>
            <a:r>
              <a:rPr sz="1200" dirty="0" err="1"/>
              <a:t>визуальное</a:t>
            </a:r>
            <a:r>
              <a:rPr sz="1200" dirty="0"/>
              <a:t> </a:t>
            </a:r>
            <a:r>
              <a:rPr sz="1200" dirty="0" err="1"/>
              <a:t>представление</a:t>
            </a:r>
            <a:r>
              <a:rPr sz="1200" dirty="0"/>
              <a:t> </a:t>
            </a:r>
            <a:r>
              <a:rPr sz="1200" dirty="0" err="1"/>
              <a:t>результатов</a:t>
            </a:r>
            <a:r>
              <a:rPr sz="1200" dirty="0"/>
              <a:t> </a:t>
            </a:r>
            <a:r>
              <a:rPr sz="1200" dirty="0" err="1"/>
              <a:t>исследования</a:t>
            </a:r>
            <a:endParaRPr sz="1200" dirty="0"/>
          </a:p>
          <a:p>
            <a:pPr marL="0" lvl="0" indent="0">
              <a:buNone/>
            </a:pPr>
            <a:r>
              <a:rPr sz="1200" b="1" dirty="0" err="1"/>
              <a:t>Используется</a:t>
            </a:r>
            <a:r>
              <a:rPr sz="1200" b="1" dirty="0"/>
              <a:t> </a:t>
            </a:r>
            <a:r>
              <a:rPr sz="1200" b="1" dirty="0" err="1"/>
              <a:t>для</a:t>
            </a:r>
            <a:r>
              <a:rPr sz="1200" b="1" dirty="0"/>
              <a:t>:</a:t>
            </a:r>
          </a:p>
          <a:p>
            <a:pPr lvl="0"/>
            <a:r>
              <a:rPr sz="1200" dirty="0" err="1"/>
              <a:t>Конференций</a:t>
            </a:r>
            <a:endParaRPr sz="1200" dirty="0"/>
          </a:p>
          <a:p>
            <a:pPr lvl="0"/>
            <a:r>
              <a:rPr sz="1200" dirty="0" err="1"/>
              <a:t>Симпозиумов</a:t>
            </a:r>
            <a:endParaRPr sz="1200" dirty="0"/>
          </a:p>
          <a:p>
            <a:pPr lvl="0"/>
            <a:r>
              <a:rPr sz="1200" dirty="0" err="1"/>
              <a:t>Защиты</a:t>
            </a:r>
            <a:r>
              <a:rPr sz="1200" dirty="0"/>
              <a:t> </a:t>
            </a:r>
            <a:r>
              <a:rPr sz="1200" dirty="0" err="1"/>
              <a:t>работ</a:t>
            </a:r>
            <a:endParaRPr sz="1200" dirty="0"/>
          </a:p>
          <a:p>
            <a:pPr lvl="0"/>
            <a:r>
              <a:rPr sz="1200" dirty="0" err="1"/>
              <a:t>Научных</a:t>
            </a:r>
            <a:r>
              <a:rPr sz="1200" dirty="0"/>
              <a:t> </a:t>
            </a:r>
            <a:r>
              <a:rPr sz="1200" dirty="0" err="1"/>
              <a:t>выставок</a:t>
            </a:r>
            <a:endParaRPr sz="1200" dirty="0"/>
          </a:p>
          <a:p>
            <a:pPr marL="0" lvl="0" indent="0">
              <a:buNone/>
            </a:pPr>
            <a:r>
              <a:rPr sz="1200" dirty="0"/>
              <a:t>0.5</a:t>
            </a:r>
          </a:p>
          <a:p>
            <a:pPr marL="0" lvl="0" indent="0">
              <a:buNone/>
            </a:pPr>
            <a:r>
              <a:rPr sz="1200" dirty="0" err="1"/>
              <a:t>Цель</a:t>
            </a:r>
            <a:r>
              <a:rPr sz="1200" dirty="0"/>
              <a:t> и </a:t>
            </a:r>
            <a:r>
              <a:rPr sz="1200" dirty="0" err="1"/>
              <a:t>задачи</a:t>
            </a:r>
            <a:r>
              <a:rPr sz="1200" dirty="0"/>
              <a:t> </a:t>
            </a:r>
            <a:r>
              <a:rPr sz="1200" dirty="0" err="1"/>
              <a:t>работы</a:t>
            </a:r>
            <a:endParaRPr sz="1200" dirty="0"/>
          </a:p>
          <a:p>
            <a:pPr marL="0" lvl="0" indent="0">
              <a:buNone/>
            </a:pPr>
            <a:r>
              <a:rPr sz="1200" dirty="0" err="1"/>
              <a:t>Цель</a:t>
            </a:r>
            <a:r>
              <a:rPr sz="1200" dirty="0"/>
              <a:t> </a:t>
            </a:r>
            <a:r>
              <a:rPr sz="1200" dirty="0" err="1"/>
              <a:t>Изучение</a:t>
            </a:r>
            <a:r>
              <a:rPr sz="1200" dirty="0"/>
              <a:t> </a:t>
            </a:r>
            <a:r>
              <a:rPr sz="1200" dirty="0" err="1"/>
              <a:t>основных</a:t>
            </a:r>
            <a:r>
              <a:rPr sz="1200" dirty="0"/>
              <a:t> </a:t>
            </a:r>
            <a:r>
              <a:rPr sz="1200" dirty="0" err="1"/>
              <a:t>возможностей</a:t>
            </a:r>
            <a:r>
              <a:rPr sz="1200" dirty="0"/>
              <a:t> </a:t>
            </a:r>
            <a:r>
              <a:rPr sz="1200" dirty="0" err="1"/>
              <a:t>пакета</a:t>
            </a:r>
            <a:r>
              <a:rPr sz="1200" dirty="0"/>
              <a:t> </a:t>
            </a:r>
            <a:r>
              <a:rPr sz="1200" dirty="0" err="1">
                <a:latin typeface="Courier"/>
              </a:rPr>
              <a:t>tikzposter</a:t>
            </a:r>
            <a:r>
              <a:rPr sz="1200" dirty="0"/>
              <a:t> и </a:t>
            </a:r>
            <a:r>
              <a:rPr sz="1200" dirty="0" err="1"/>
              <a:t>освоение</a:t>
            </a:r>
            <a:r>
              <a:rPr sz="1200" dirty="0"/>
              <a:t> </a:t>
            </a:r>
            <a:r>
              <a:rPr sz="1200" dirty="0" err="1"/>
              <a:t>методов</a:t>
            </a:r>
            <a:r>
              <a:rPr sz="1200" dirty="0"/>
              <a:t> </a:t>
            </a:r>
            <a:r>
              <a:rPr sz="1200" dirty="0" err="1"/>
              <a:t>создания</a:t>
            </a:r>
            <a:r>
              <a:rPr sz="1200" dirty="0"/>
              <a:t> </a:t>
            </a:r>
            <a:r>
              <a:rPr sz="1200" dirty="0" err="1"/>
              <a:t>структурированных</a:t>
            </a:r>
            <a:r>
              <a:rPr sz="1200" dirty="0"/>
              <a:t> </a:t>
            </a:r>
            <a:r>
              <a:rPr sz="1200" dirty="0" err="1"/>
              <a:t>научных</a:t>
            </a:r>
            <a:r>
              <a:rPr sz="1200" dirty="0"/>
              <a:t> </a:t>
            </a:r>
            <a:r>
              <a:rPr sz="1200" dirty="0" err="1"/>
              <a:t>постеров</a:t>
            </a:r>
            <a:endParaRPr sz="1200" dirty="0"/>
          </a:p>
          <a:p>
            <a:pPr marL="0" lvl="0" indent="0">
              <a:buNone/>
            </a:pPr>
            <a:r>
              <a:rPr sz="1200" dirty="0" err="1"/>
              <a:t>Задачи</a:t>
            </a:r>
            <a:endParaRPr sz="1200" dirty="0"/>
          </a:p>
          <a:p>
            <a:pPr marL="342900" lvl="0" indent="-342900">
              <a:buAutoNum type="arabicPeriod"/>
            </a:pPr>
            <a:r>
              <a:rPr sz="1200" dirty="0" err="1"/>
              <a:t>Изучить</a:t>
            </a:r>
            <a:r>
              <a:rPr sz="1200" dirty="0"/>
              <a:t> </a:t>
            </a:r>
            <a:r>
              <a:rPr sz="1200" dirty="0" err="1"/>
              <a:t>работу</a:t>
            </a:r>
            <a:r>
              <a:rPr sz="1200" dirty="0"/>
              <a:t> с </a:t>
            </a:r>
            <a:r>
              <a:rPr sz="1200" dirty="0" err="1"/>
              <a:t>многоколоночными</a:t>
            </a:r>
            <a:r>
              <a:rPr sz="1200" dirty="0"/>
              <a:t> </a:t>
            </a:r>
            <a:r>
              <a:rPr sz="1200" dirty="0" err="1"/>
              <a:t>макетами</a:t>
            </a:r>
            <a:endParaRPr sz="1200" dirty="0"/>
          </a:p>
          <a:p>
            <a:pPr marL="342900" lvl="0" indent="-342900">
              <a:buAutoNum type="arabicPeriod"/>
            </a:pPr>
            <a:r>
              <a:rPr sz="1200" dirty="0" err="1"/>
              <a:t>Освоить</a:t>
            </a:r>
            <a:r>
              <a:rPr sz="1200" dirty="0"/>
              <a:t> </a:t>
            </a:r>
            <a:r>
              <a:rPr sz="1200" dirty="0" err="1"/>
              <a:t>создание</a:t>
            </a:r>
            <a:r>
              <a:rPr sz="1200" dirty="0"/>
              <a:t> и </a:t>
            </a:r>
            <a:r>
              <a:rPr sz="1200" dirty="0" err="1"/>
              <a:t>форматирование</a:t>
            </a:r>
            <a:r>
              <a:rPr sz="1200" dirty="0"/>
              <a:t> </a:t>
            </a:r>
            <a:r>
              <a:rPr sz="1200" dirty="0" err="1"/>
              <a:t>блоков</a:t>
            </a:r>
            <a:r>
              <a:rPr sz="1200" dirty="0"/>
              <a:t> </a:t>
            </a:r>
            <a:r>
              <a:rPr sz="1200" dirty="0" err="1"/>
              <a:t>контента</a:t>
            </a:r>
            <a:endParaRPr sz="1200" dirty="0"/>
          </a:p>
          <a:p>
            <a:pPr marL="342900" lvl="0" indent="-342900">
              <a:buAutoNum type="arabicPeriod"/>
            </a:pPr>
            <a:r>
              <a:rPr sz="1200" dirty="0" err="1"/>
              <a:t>Научиться</a:t>
            </a:r>
            <a:r>
              <a:rPr sz="1200" dirty="0"/>
              <a:t> </a:t>
            </a:r>
            <a:r>
              <a:rPr sz="1200" dirty="0" err="1"/>
              <a:t>вставлять</a:t>
            </a:r>
            <a:r>
              <a:rPr sz="1200" dirty="0"/>
              <a:t> </a:t>
            </a:r>
            <a:r>
              <a:rPr sz="1200" dirty="0" err="1"/>
              <a:t>графические</a:t>
            </a:r>
            <a:r>
              <a:rPr sz="1200" dirty="0"/>
              <a:t> </a:t>
            </a:r>
            <a:r>
              <a:rPr sz="1200" dirty="0" err="1"/>
              <a:t>элементы</a:t>
            </a:r>
            <a:endParaRPr sz="1200" dirty="0"/>
          </a:p>
          <a:p>
            <a:pPr marL="342900" lvl="0" indent="-342900">
              <a:buAutoNum type="arabicPeriod"/>
            </a:pPr>
            <a:r>
              <a:rPr sz="1200" dirty="0" err="1"/>
              <a:t>Изучить</a:t>
            </a:r>
            <a:r>
              <a:rPr sz="1200" dirty="0"/>
              <a:t> </a:t>
            </a:r>
            <a:r>
              <a:rPr sz="1200" dirty="0" err="1"/>
              <a:t>работу</a:t>
            </a:r>
            <a:r>
              <a:rPr sz="1200" dirty="0"/>
              <a:t> с </a:t>
            </a:r>
            <a:r>
              <a:rPr sz="1200" dirty="0" err="1"/>
              <a:t>цветовым</a:t>
            </a:r>
            <a:r>
              <a:rPr sz="1200" dirty="0"/>
              <a:t> </a:t>
            </a:r>
            <a:r>
              <a:rPr sz="1200" dirty="0" err="1"/>
              <a:t>оформлением</a:t>
            </a:r>
            <a:endParaRPr sz="1200" dirty="0"/>
          </a:p>
          <a:p>
            <a:pPr marL="342900" lvl="0" indent="-342900">
              <a:buAutoNum type="arabicPeriod"/>
            </a:pPr>
            <a:r>
              <a:rPr sz="1200" dirty="0" err="1"/>
              <a:t>Освоить</a:t>
            </a:r>
            <a:r>
              <a:rPr sz="1200" dirty="0"/>
              <a:t> </a:t>
            </a:r>
            <a:r>
              <a:rPr sz="1200" dirty="0" err="1"/>
              <a:t>добавление</a:t>
            </a:r>
            <a:r>
              <a:rPr sz="1200" dirty="0"/>
              <a:t> </a:t>
            </a:r>
            <a:r>
              <a:rPr sz="1200" dirty="0" err="1"/>
              <a:t>заметок</a:t>
            </a:r>
            <a:r>
              <a:rPr sz="1200" dirty="0"/>
              <a:t> и </a:t>
            </a:r>
            <a:r>
              <a:rPr sz="1200" dirty="0" err="1"/>
              <a:t>аннотаций</a:t>
            </a:r>
            <a:endParaRPr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Структура постера и колонки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lvl="0" indent="0">
              <a:buNone/>
            </a:pPr>
            <a:r>
              <a:rPr dirty="0" err="1"/>
              <a:t>Основы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 с </a:t>
            </a:r>
            <a:r>
              <a:rPr dirty="0" err="1"/>
              <a:t>колонками</a:t>
            </a:r>
            <a:r>
              <a:rPr dirty="0"/>
              <a:t> </a:t>
            </a:r>
            <a:r>
              <a:rPr b="1" dirty="0" err="1"/>
              <a:t>Окружение</a:t>
            </a:r>
            <a:r>
              <a:rPr b="1" dirty="0"/>
              <a:t> columns</a:t>
            </a:r>
            <a:r>
              <a:rPr dirty="0"/>
              <a:t> </a:t>
            </a:r>
            <a:r>
              <a:rPr dirty="0" err="1"/>
              <a:t>позволяет</a:t>
            </a:r>
            <a:r>
              <a:rPr dirty="0"/>
              <a:t> </a:t>
            </a:r>
            <a:r>
              <a:rPr dirty="0" err="1"/>
              <a:t>создавать</a:t>
            </a:r>
            <a:r>
              <a:rPr dirty="0"/>
              <a:t> </a:t>
            </a:r>
            <a:r>
              <a:rPr dirty="0" err="1"/>
              <a:t>многоколоночные</a:t>
            </a:r>
            <a:r>
              <a:rPr dirty="0"/>
              <a:t> </a:t>
            </a:r>
            <a:r>
              <a:rPr dirty="0" err="1"/>
              <a:t>макеты</a:t>
            </a:r>
            <a:endParaRPr dirty="0"/>
          </a:p>
          <a:p>
            <a:pPr lvl="0" indent="0">
              <a:buNone/>
            </a:pPr>
            <a:r>
              <a:rPr dirty="0">
                <a:latin typeface="Courier"/>
              </a:rPr>
              <a:t>\begin{columns}
  \column{.33}
  % </a:t>
            </a:r>
            <a:r>
              <a:rPr dirty="0" err="1">
                <a:latin typeface="Courier"/>
              </a:rPr>
              <a:t>Первая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колонка</a:t>
            </a:r>
            <a:r>
              <a:rPr dirty="0">
                <a:latin typeface="Courier"/>
              </a:rPr>
              <a:t> (33% </a:t>
            </a:r>
            <a:r>
              <a:rPr dirty="0" err="1">
                <a:latin typeface="Courier"/>
              </a:rPr>
              <a:t>ширины</a:t>
            </a:r>
            <a:r>
              <a:rPr dirty="0">
                <a:latin typeface="Courier"/>
              </a:rPr>
              <a:t>)
  \column{.33}
  % </a:t>
            </a:r>
            <a:r>
              <a:rPr dirty="0" err="1">
                <a:latin typeface="Courier"/>
              </a:rPr>
              <a:t>Вторая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колонка</a:t>
            </a:r>
            <a:r>
              <a:rPr dirty="0">
                <a:latin typeface="Courier"/>
              </a:rPr>
              <a:t> (33% </a:t>
            </a:r>
            <a:r>
              <a:rPr dirty="0" err="1">
                <a:latin typeface="Courier"/>
              </a:rPr>
              <a:t>ширины</a:t>
            </a:r>
            <a:r>
              <a:rPr dirty="0">
                <a:latin typeface="Courier"/>
              </a:rPr>
              <a:t>)
  \column{.33}
  % </a:t>
            </a:r>
            <a:r>
              <a:rPr dirty="0" err="1">
                <a:latin typeface="Courier"/>
              </a:rPr>
              <a:t>Третья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колонка</a:t>
            </a:r>
            <a:r>
              <a:rPr dirty="0">
                <a:latin typeface="Courier"/>
              </a:rPr>
              <a:t> (33% </a:t>
            </a:r>
            <a:r>
              <a:rPr dirty="0" err="1">
                <a:latin typeface="Courier"/>
              </a:rPr>
              <a:t>ширины</a:t>
            </a:r>
            <a:r>
              <a:rPr dirty="0">
                <a:latin typeface="Courier"/>
              </a:rPr>
              <a:t>)
\end{columns}</a:t>
            </a:r>
          </a:p>
          <a:p>
            <a:pPr marL="0" lvl="0" indent="0">
              <a:buNone/>
            </a:pPr>
            <a:r>
              <a:rPr dirty="0" err="1"/>
              <a:t>Важно</a:t>
            </a:r>
            <a:r>
              <a:rPr dirty="0"/>
              <a:t>! </a:t>
            </a:r>
            <a:r>
              <a:rPr dirty="0" err="1"/>
              <a:t>Числовое</a:t>
            </a:r>
            <a:r>
              <a:rPr dirty="0"/>
              <a:t> </a:t>
            </a:r>
            <a:r>
              <a:rPr dirty="0" err="1"/>
              <a:t>значение</a:t>
            </a:r>
            <a:r>
              <a:rPr dirty="0"/>
              <a:t> </a:t>
            </a:r>
            <a:r>
              <a:rPr dirty="0" err="1"/>
              <a:t>определяет</a:t>
            </a:r>
            <a:r>
              <a:rPr dirty="0"/>
              <a:t> </a:t>
            </a:r>
            <a:r>
              <a:rPr dirty="0" err="1"/>
              <a:t>относительную</a:t>
            </a:r>
            <a:r>
              <a:rPr dirty="0"/>
              <a:t> </a:t>
            </a:r>
            <a:r>
              <a:rPr dirty="0" err="1"/>
              <a:t>ширину</a:t>
            </a:r>
            <a:r>
              <a:rPr dirty="0"/>
              <a:t> </a:t>
            </a:r>
            <a:r>
              <a:rPr dirty="0" err="1"/>
              <a:t>колонки</a:t>
            </a:r>
            <a:r>
              <a:rPr dirty="0"/>
              <a:t> (</a:t>
            </a:r>
            <a:r>
              <a:rPr dirty="0" err="1"/>
              <a:t>от</a:t>
            </a:r>
            <a:r>
              <a:rPr dirty="0"/>
              <a:t> 0 </a:t>
            </a:r>
            <a:r>
              <a:rPr dirty="0" err="1"/>
              <a:t>до</a:t>
            </a:r>
            <a:r>
              <a:rPr dirty="0"/>
              <a:t> 1)</a:t>
            </a:r>
          </a:p>
          <a:p>
            <a:pPr marL="0" lvl="0" indent="0">
              <a:buNone/>
            </a:pPr>
            <a:r>
              <a:rPr dirty="0" err="1"/>
              <a:t>Визуализация</a:t>
            </a:r>
            <a:r>
              <a:rPr dirty="0"/>
              <a:t> </a:t>
            </a:r>
            <a:r>
              <a:rPr dirty="0" err="1"/>
              <a:t>колонок</a:t>
            </a:r>
            <a:endParaRPr dirty="0"/>
          </a:p>
          <a:p>
            <a:pPr marL="0" lvl="0" indent="0">
              <a:buNone/>
            </a:pPr>
            <a:r>
              <a:rPr dirty="0" err="1"/>
              <a:t>Колонки</a:t>
            </a:r>
            <a:r>
              <a:rPr dirty="0"/>
              <a:t> </a:t>
            </a:r>
            <a:r>
              <a:rPr dirty="0" err="1"/>
              <a:t>различной</a:t>
            </a:r>
            <a:r>
              <a:rPr dirty="0"/>
              <a:t> </a:t>
            </a:r>
            <a:r>
              <a:rPr dirty="0" err="1"/>
              <a:t>ширины</a:t>
            </a:r>
            <a:r>
              <a:rPr dirty="0"/>
              <a:t> </a:t>
            </a:r>
            <a:r>
              <a:rPr b="1" dirty="0" err="1"/>
              <a:t>Асимметричный</a:t>
            </a:r>
            <a:r>
              <a:rPr b="1" dirty="0"/>
              <a:t> </a:t>
            </a:r>
            <a:r>
              <a:rPr b="1" dirty="0" err="1"/>
              <a:t>макет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разных</a:t>
            </a:r>
            <a:r>
              <a:rPr dirty="0"/>
              <a:t> </a:t>
            </a:r>
            <a:r>
              <a:rPr dirty="0" err="1"/>
              <a:t>типов</a:t>
            </a:r>
            <a:r>
              <a:rPr dirty="0"/>
              <a:t> </a:t>
            </a:r>
            <a:r>
              <a:rPr dirty="0" err="1"/>
              <a:t>контента</a:t>
            </a:r>
            <a:r>
              <a:rPr dirty="0"/>
              <a:t>: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\begin{columns}
  \column{.7}
  % </a:t>
            </a:r>
            <a:r>
              <a:rPr dirty="0" err="1">
                <a:latin typeface="Courier"/>
              </a:rPr>
              <a:t>Широкая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колонка</a:t>
            </a:r>
            <a:r>
              <a:rPr dirty="0">
                <a:latin typeface="Courier"/>
              </a:rPr>
              <a:t> (70% </a:t>
            </a:r>
            <a:r>
              <a:rPr dirty="0" err="1">
                <a:latin typeface="Courier"/>
              </a:rPr>
              <a:t>ширины</a:t>
            </a:r>
            <a:r>
              <a:rPr dirty="0">
                <a:latin typeface="Courier"/>
              </a:rPr>
              <a:t>)
  \block{</a:t>
            </a:r>
            <a:r>
              <a:rPr dirty="0" err="1">
                <a:latin typeface="Courier"/>
              </a:rPr>
              <a:t>Основные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результаты</a:t>
            </a:r>
            <a:r>
              <a:rPr dirty="0">
                <a:latin typeface="Courier"/>
              </a:rPr>
              <a:t>}{
    </a:t>
            </a:r>
            <a:r>
              <a:rPr dirty="0" err="1">
                <a:latin typeface="Courier"/>
              </a:rPr>
              <a:t>Здесь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размещается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основной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контент</a:t>
            </a:r>
            <a:r>
              <a:rPr dirty="0">
                <a:latin typeface="Courier"/>
              </a:rPr>
              <a:t>,
    </a:t>
            </a:r>
            <a:r>
              <a:rPr dirty="0" err="1">
                <a:latin typeface="Courier"/>
              </a:rPr>
              <a:t>графики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таблицы</a:t>
            </a:r>
            <a:r>
              <a:rPr dirty="0">
                <a:latin typeface="Courier"/>
              </a:rPr>
              <a:t>
  }
  \column{.3}
  % </a:t>
            </a:r>
            <a:r>
              <a:rPr dirty="0" err="1">
                <a:latin typeface="Courier"/>
              </a:rPr>
              <a:t>Узкая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колонка</a:t>
            </a:r>
            <a:r>
              <a:rPr dirty="0">
                <a:latin typeface="Courier"/>
              </a:rPr>
              <a:t> (30% </a:t>
            </a:r>
            <a:r>
              <a:rPr dirty="0" err="1">
                <a:latin typeface="Courier"/>
              </a:rPr>
              <a:t>ширины</a:t>
            </a:r>
            <a:r>
              <a:rPr dirty="0">
                <a:latin typeface="Courier"/>
              </a:rPr>
              <a:t>)
  \block{</a:t>
            </a:r>
            <a:r>
              <a:rPr dirty="0" err="1">
                <a:latin typeface="Courier"/>
              </a:rPr>
              <a:t>Дополнительно</a:t>
            </a:r>
            <a:r>
              <a:rPr dirty="0">
                <a:latin typeface="Courier"/>
              </a:rPr>
              <a:t>}{
    </a:t>
            </a:r>
            <a:r>
              <a:rPr dirty="0" err="1">
                <a:latin typeface="Courier"/>
              </a:rPr>
              <a:t>Ссылки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определения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примечания</a:t>
            </a:r>
            <a:r>
              <a:rPr dirty="0">
                <a:latin typeface="Courier"/>
              </a:rPr>
              <a:t>
  }
\end{columns}</a:t>
            </a:r>
          </a:p>
          <a:p>
            <a:pPr marL="0" lvl="0" indent="0">
              <a:buNone/>
            </a:pPr>
            <a:r>
              <a:rPr dirty="0" err="1"/>
              <a:t>Практические</a:t>
            </a:r>
            <a:r>
              <a:rPr dirty="0"/>
              <a:t> </a:t>
            </a:r>
            <a:r>
              <a:rPr dirty="0" err="1"/>
              <a:t>рекомендации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колонкам</a:t>
            </a:r>
            <a:endParaRPr dirty="0"/>
          </a:p>
          <a:p>
            <a:pPr marL="0" lvl="0" indent="0">
              <a:buNone/>
            </a:pPr>
            <a:r>
              <a:rPr dirty="0"/>
              <a:t>0.5</a:t>
            </a:r>
          </a:p>
          <a:p>
            <a:pPr marL="0" lvl="0" indent="0">
              <a:buNone/>
            </a:pPr>
            <a:r>
              <a:rPr dirty="0" err="1"/>
              <a:t>Рекомендации</a:t>
            </a:r>
            <a:endParaRPr dirty="0"/>
          </a:p>
          <a:p>
            <a:pPr lvl="0"/>
            <a:r>
              <a:rPr dirty="0" err="1"/>
              <a:t>Сумма</a:t>
            </a:r>
            <a:r>
              <a:rPr dirty="0"/>
              <a:t> </a:t>
            </a:r>
            <a:r>
              <a:rPr dirty="0" err="1"/>
              <a:t>ширин</a:t>
            </a:r>
            <a:r>
              <a:rPr dirty="0"/>
              <a:t> ≈ 1.0</a:t>
            </a:r>
          </a:p>
          <a:p>
            <a:pPr lvl="0"/>
            <a:r>
              <a:rPr dirty="0" err="1"/>
              <a:t>Оптимально</a:t>
            </a:r>
            <a:r>
              <a:rPr dirty="0"/>
              <a:t>: 2-3 </a:t>
            </a:r>
            <a:r>
              <a:rPr dirty="0" err="1"/>
              <a:t>колонки</a:t>
            </a:r>
            <a:endParaRPr dirty="0"/>
          </a:p>
          <a:p>
            <a:pPr lvl="0"/>
            <a:r>
              <a:rPr dirty="0" err="1"/>
              <a:t>Широкие</a:t>
            </a:r>
            <a:r>
              <a:rPr dirty="0"/>
              <a:t> —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основного</a:t>
            </a:r>
            <a:r>
              <a:rPr dirty="0"/>
              <a:t> </a:t>
            </a:r>
            <a:r>
              <a:rPr dirty="0" err="1"/>
              <a:t>текста</a:t>
            </a:r>
            <a:endParaRPr dirty="0"/>
          </a:p>
          <a:p>
            <a:pPr lvl="0"/>
            <a:r>
              <a:rPr dirty="0" err="1"/>
              <a:t>Узкие</a:t>
            </a:r>
            <a:r>
              <a:rPr dirty="0"/>
              <a:t> —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списков</a:t>
            </a:r>
            <a:r>
              <a:rPr dirty="0"/>
              <a:t> и </a:t>
            </a:r>
            <a:r>
              <a:rPr dirty="0" err="1"/>
              <a:t>ссылок</a:t>
            </a:r>
            <a:endParaRPr dirty="0"/>
          </a:p>
          <a:p>
            <a:pPr marL="0" lvl="0" indent="0">
              <a:buNone/>
            </a:pPr>
            <a:r>
              <a:rPr dirty="0"/>
              <a:t>0.5</a:t>
            </a:r>
          </a:p>
          <a:p>
            <a:pPr marL="0" lvl="0" indent="0">
              <a:buNone/>
            </a:pPr>
            <a:r>
              <a:rPr dirty="0" err="1"/>
              <a:t>Примеры</a:t>
            </a:r>
            <a:r>
              <a:rPr dirty="0"/>
              <a:t> </a:t>
            </a:r>
            <a:r>
              <a:rPr dirty="0" err="1"/>
              <a:t>пропорций</a:t>
            </a:r>
            <a:endParaRPr dirty="0"/>
          </a:p>
          <a:p>
            <a:pPr lvl="0"/>
            <a:r>
              <a:rPr dirty="0"/>
              <a:t>0.33 + 0.33 + 0.33 = 0.99 ✓</a:t>
            </a:r>
          </a:p>
          <a:p>
            <a:pPr lvl="0"/>
            <a:r>
              <a:rPr dirty="0"/>
              <a:t>0.5 + 0.5 = 1.0 ✓</a:t>
            </a:r>
          </a:p>
          <a:p>
            <a:pPr lvl="0"/>
            <a:r>
              <a:rPr dirty="0"/>
              <a:t>0.7 + 0.3 = 1.0 ✓</a:t>
            </a:r>
          </a:p>
          <a:p>
            <a:pPr lvl="0"/>
            <a:r>
              <a:rPr dirty="0"/>
              <a:t>0.6 + 0.4 = 1.0 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Работа с блоками контента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lvl="0" indent="0">
              <a:buNone/>
            </a:pPr>
            <a:r>
              <a:rPr/>
              <a:t>Базовый синтаксис блоков </a:t>
            </a:r>
            <a:r>
              <a:rPr b="1"/>
              <a:t>Команда \block</a:t>
            </a:r>
            <a:r>
              <a:rPr/>
              <a:t> создает блок контента:</a:t>
            </a:r>
          </a:p>
          <a:p>
            <a:pPr lvl="0" indent="0">
              <a:buNone/>
            </a:pPr>
            <a:r>
              <a:rPr>
                <a:latin typeface="Courier"/>
              </a:rPr>
              <a:t>\block{Заголовок блока}{
  Содержимое блока может включать:
  - Текст
  - Списки
  - Формулы
  - Изображения
}</a:t>
            </a:r>
          </a:p>
          <a:p>
            <a:pPr marL="0" lvl="0" indent="0">
              <a:buNone/>
            </a:pPr>
            <a:r>
              <a:rPr/>
              <a:t>0.5 </a:t>
            </a:r>
            <a:r>
              <a:rPr b="1"/>
              <a:t>С заголовком:</a:t>
            </a:r>
          </a:p>
          <a:p>
            <a:pPr lvl="0" indent="0">
              <a:buNone/>
            </a:pPr>
            <a:r>
              <a:rPr>
                <a:latin typeface="Courier"/>
              </a:rPr>
              <a:t>\block{Заголовок}{Текст}</a:t>
            </a:r>
          </a:p>
          <a:p>
            <a:pPr marL="0" lvl="0" indent="0">
              <a:buNone/>
            </a:pPr>
            <a:r>
              <a:rPr/>
              <a:t>0.5 </a:t>
            </a:r>
            <a:r>
              <a:rPr b="1"/>
              <a:t>Без заголовка:</a:t>
            </a:r>
          </a:p>
          <a:p>
            <a:pPr lvl="0" indent="0">
              <a:buNone/>
            </a:pPr>
            <a:r>
              <a:rPr>
                <a:latin typeface="Courier"/>
              </a:rPr>
              <a:t>\block{}{Текст}</a:t>
            </a:r>
          </a:p>
          <a:p>
            <a:pPr marL="0" lvl="0" indent="0">
              <a:buNone/>
            </a:pPr>
            <a:r>
              <a:rPr/>
              <a:t>Добавление заметок к блокам </a:t>
            </a:r>
            <a:r>
              <a:rPr b="1"/>
              <a:t>Команда \note</a:t>
            </a:r>
            <a:r>
              <a:rPr/>
              <a:t> создает заметку со стрелкой:</a:t>
            </a:r>
          </a:p>
          <a:p>
            <a:pPr lvl="0" indent="0">
              <a:buNone/>
            </a:pPr>
            <a:r>
              <a:rPr>
                <a:latin typeface="Courier"/>
              </a:rPr>
              <a:t>\block{Заголовок}{
  Основное содержимое блока
  \vspace{2cm}  % Место для заметки
}
\note[targetoffsetx=5cm, 
      targetoffsety=-3cm, 
      width=8cm]{
  Это заметка, указывающая на блок выше
}</a:t>
            </a:r>
          </a:p>
          <a:p>
            <a:pPr marL="0" lvl="0" indent="0">
              <a:buNone/>
            </a:pPr>
            <a:r>
              <a:rPr/>
              <a:t>Параметры заметок</a:t>
            </a:r>
          </a:p>
          <a:p>
            <a:pPr marL="0" lvl="0" indent="0">
              <a:buNone/>
            </a:pPr>
            <a:r>
              <a:rPr/>
              <a:t>Основные параметры команды \note</a:t>
            </a:r>
          </a:p>
          <a:p>
            <a:pPr marL="0" lvl="0" indent="0">
              <a:buNone/>
            </a:pPr>
            <a:r>
              <a:rPr b="1">
                <a:latin typeface="Courier"/>
              </a:rPr>
              <a:t>targetoffsetx</a:t>
            </a:r>
          </a:p>
          <a:p>
            <a:pPr marL="1270000" lvl="0" indent="0">
              <a:buNone/>
            </a:pPr>
            <a:r>
              <a:rPr sz="2000"/>
              <a:t>Горизонтальное смещение стрелки относительно центра блока</a:t>
            </a:r>
          </a:p>
          <a:p>
            <a:pPr marL="0" lvl="0" indent="0">
              <a:buNone/>
            </a:pPr>
            <a:r>
              <a:rPr b="1">
                <a:latin typeface="Courier"/>
              </a:rPr>
              <a:t>targetoffsety</a:t>
            </a:r>
          </a:p>
          <a:p>
            <a:pPr marL="1270000" lvl="0" indent="0">
              <a:buNone/>
            </a:pPr>
            <a:r>
              <a:rPr sz="2000"/>
              <a:t>Вертикальное смещение стрелки</a:t>
            </a:r>
          </a:p>
          <a:p>
            <a:pPr marL="0" lvl="0" indent="0">
              <a:buNone/>
            </a:pPr>
            <a:r>
              <a:rPr b="1">
                <a:latin typeface="Courier"/>
              </a:rPr>
              <a:t>width</a:t>
            </a:r>
          </a:p>
          <a:p>
            <a:pPr marL="1270000" lvl="0" indent="0">
              <a:buNone/>
            </a:pPr>
            <a:r>
              <a:rPr sz="2000"/>
              <a:t>Ширина текстового блока заметки</a:t>
            </a:r>
          </a:p>
          <a:p>
            <a:pPr marL="0" lvl="0" indent="0">
              <a:buNone/>
            </a:pPr>
            <a:r>
              <a:rPr/>
              <a:t>Не забудьте! Используйте </a:t>
            </a:r>
            <a:r>
              <a:rPr>
                <a:latin typeface="Courier"/>
              </a:rPr>
              <a:t>\vspace</a:t>
            </a:r>
            <a:r>
              <a:rPr/>
              <a:t> для создания пространства под заметку в основном блоке</a:t>
            </a:r>
          </a:p>
          <a:p>
            <a:pPr marL="0" lvl="0" indent="0">
              <a:buNone/>
            </a:pPr>
            <a:r>
              <a:rPr/>
              <a:t>Визуализация заметок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Вставка графических элементов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400" dirty="0" err="1"/>
              <a:t>Особенности</a:t>
            </a:r>
            <a:r>
              <a:rPr sz="400" dirty="0"/>
              <a:t> </a:t>
            </a:r>
            <a:r>
              <a:rPr sz="400" dirty="0" err="1"/>
              <a:t>работы</a:t>
            </a:r>
            <a:r>
              <a:rPr sz="400" dirty="0"/>
              <a:t> с </a:t>
            </a:r>
            <a:r>
              <a:rPr sz="400" dirty="0" err="1"/>
              <a:t>изображениями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Важное</a:t>
            </a:r>
            <a:r>
              <a:rPr sz="400" dirty="0"/>
              <a:t> </a:t>
            </a:r>
            <a:r>
              <a:rPr sz="400" dirty="0" err="1"/>
              <a:t>ограничение</a:t>
            </a:r>
            <a:r>
              <a:rPr sz="400" dirty="0"/>
              <a:t>! В </a:t>
            </a:r>
            <a:r>
              <a:rPr sz="400" dirty="0" err="1"/>
              <a:t>tikzposter</a:t>
            </a:r>
            <a:r>
              <a:rPr sz="400" dirty="0"/>
              <a:t> </a:t>
            </a:r>
            <a:r>
              <a:rPr sz="400" b="1" dirty="0" err="1"/>
              <a:t>нельзя</a:t>
            </a:r>
            <a:r>
              <a:rPr sz="400" dirty="0"/>
              <a:t> </a:t>
            </a:r>
            <a:r>
              <a:rPr sz="400" dirty="0" err="1"/>
              <a:t>использовать</a:t>
            </a:r>
            <a:r>
              <a:rPr sz="400" dirty="0"/>
              <a:t> </a:t>
            </a:r>
            <a:r>
              <a:rPr sz="400" dirty="0" err="1"/>
              <a:t>окружение</a:t>
            </a:r>
            <a:r>
              <a:rPr sz="400" dirty="0"/>
              <a:t> </a:t>
            </a:r>
            <a:r>
              <a:rPr sz="400" dirty="0">
                <a:latin typeface="Courier"/>
              </a:rPr>
              <a:t>figure</a:t>
            </a:r>
          </a:p>
          <a:p>
            <a:pPr marL="0" lvl="0" indent="0">
              <a:buNone/>
            </a:pPr>
            <a:r>
              <a:rPr sz="400" b="1" dirty="0" err="1"/>
              <a:t>Вместо</a:t>
            </a:r>
            <a:r>
              <a:rPr sz="400" b="1" dirty="0"/>
              <a:t> </a:t>
            </a:r>
            <a:r>
              <a:rPr sz="400" b="1" dirty="0" err="1"/>
              <a:t>этого</a:t>
            </a:r>
            <a:r>
              <a:rPr sz="400" b="1" dirty="0"/>
              <a:t> </a:t>
            </a:r>
            <a:r>
              <a:rPr sz="400" b="1" dirty="0" err="1"/>
              <a:t>используется</a:t>
            </a:r>
            <a:r>
              <a:rPr sz="400" b="1" dirty="0"/>
              <a:t>:</a:t>
            </a:r>
          </a:p>
          <a:p>
            <a:pPr lvl="0"/>
            <a:r>
              <a:rPr sz="400" dirty="0" err="1"/>
              <a:t>Окружение</a:t>
            </a:r>
            <a:r>
              <a:rPr sz="400" dirty="0"/>
              <a:t> </a:t>
            </a:r>
            <a:r>
              <a:rPr sz="400" dirty="0">
                <a:latin typeface="Courier"/>
              </a:rPr>
              <a:t>center</a:t>
            </a:r>
          </a:p>
          <a:p>
            <a:pPr lvl="0"/>
            <a:r>
              <a:rPr sz="400" dirty="0" err="1"/>
              <a:t>Команда</a:t>
            </a:r>
            <a:r>
              <a:rPr sz="400" dirty="0"/>
              <a:t> </a:t>
            </a:r>
            <a:r>
              <a:rPr sz="400" dirty="0">
                <a:latin typeface="Courier"/>
              </a:rPr>
              <a:t>\</a:t>
            </a:r>
            <a:r>
              <a:rPr sz="400" dirty="0" err="1">
                <a:latin typeface="Courier"/>
              </a:rPr>
              <a:t>captionof</a:t>
            </a:r>
            <a:r>
              <a:rPr sz="400" dirty="0">
                <a:latin typeface="Courier"/>
              </a:rPr>
              <a:t>{figure}{...}</a:t>
            </a:r>
          </a:p>
          <a:p>
            <a:pPr lvl="0"/>
            <a:r>
              <a:rPr sz="400" dirty="0" err="1"/>
              <a:t>Пакет</a:t>
            </a:r>
            <a:r>
              <a:rPr sz="400" dirty="0"/>
              <a:t> </a:t>
            </a:r>
            <a:r>
              <a:rPr sz="400" dirty="0">
                <a:latin typeface="Courier"/>
              </a:rPr>
              <a:t>caption</a:t>
            </a:r>
            <a:r>
              <a:rPr sz="400" dirty="0"/>
              <a:t> (</a:t>
            </a:r>
            <a:r>
              <a:rPr sz="400" dirty="0" err="1"/>
              <a:t>обязательно</a:t>
            </a:r>
            <a:r>
              <a:rPr sz="400" dirty="0"/>
              <a:t>!)</a:t>
            </a:r>
          </a:p>
          <a:p>
            <a:pPr lvl="0" indent="0">
              <a:buNone/>
            </a:pPr>
            <a:r>
              <a:rPr sz="400" dirty="0">
                <a:latin typeface="Courier"/>
              </a:rPr>
              <a:t>% В </a:t>
            </a:r>
            <a:r>
              <a:rPr sz="400" dirty="0" err="1">
                <a:latin typeface="Courier"/>
              </a:rPr>
              <a:t>преамбуле</a:t>
            </a:r>
            <a:r>
              <a:rPr sz="400" dirty="0">
                <a:latin typeface="Courier"/>
              </a:rPr>
              <a:t>:
\</a:t>
            </a:r>
            <a:r>
              <a:rPr sz="400" dirty="0" err="1">
                <a:latin typeface="Courier"/>
              </a:rPr>
              <a:t>usepackage</a:t>
            </a:r>
            <a:r>
              <a:rPr sz="400" dirty="0">
                <a:latin typeface="Courier"/>
              </a:rPr>
              <a:t>{caption}</a:t>
            </a:r>
          </a:p>
          <a:p>
            <a:pPr marL="0" lvl="0" indent="0">
              <a:buNone/>
            </a:pPr>
            <a:r>
              <a:rPr sz="400" dirty="0" err="1"/>
              <a:t>Вставка</a:t>
            </a:r>
            <a:r>
              <a:rPr sz="400" dirty="0"/>
              <a:t> </a:t>
            </a:r>
            <a:r>
              <a:rPr sz="400" dirty="0" err="1"/>
              <a:t>растровых</a:t>
            </a:r>
            <a:r>
              <a:rPr sz="400" dirty="0"/>
              <a:t> </a:t>
            </a:r>
            <a:r>
              <a:rPr sz="400" dirty="0" err="1"/>
              <a:t>изображений</a:t>
            </a:r>
            <a:endParaRPr sz="400" dirty="0"/>
          </a:p>
          <a:p>
            <a:pPr lvl="0" indent="0">
              <a:buNone/>
            </a:pPr>
            <a:r>
              <a:rPr sz="400" dirty="0">
                <a:latin typeface="Courier"/>
              </a:rPr>
              <a:t>\block{</a:t>
            </a:r>
            <a:r>
              <a:rPr sz="400" dirty="0" err="1">
                <a:latin typeface="Courier"/>
              </a:rPr>
              <a:t>Результаты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эксперимента</a:t>
            </a:r>
            <a:r>
              <a:rPr sz="400" dirty="0">
                <a:latin typeface="Courier"/>
              </a:rPr>
              <a:t>}{
  \begin{center}
    \</a:t>
            </a:r>
            <a:r>
              <a:rPr sz="400" dirty="0" err="1">
                <a:latin typeface="Courier"/>
              </a:rPr>
              <a:t>includegraphics</a:t>
            </a:r>
            <a:r>
              <a:rPr sz="400" dirty="0">
                <a:latin typeface="Courier"/>
              </a:rPr>
              <a:t>[width=0.8\</a:t>
            </a:r>
            <a:r>
              <a:rPr sz="400" dirty="0" err="1">
                <a:latin typeface="Courier"/>
              </a:rPr>
              <a:t>textwidth</a:t>
            </a:r>
            <a:r>
              <a:rPr sz="400" dirty="0">
                <a:latin typeface="Courier"/>
              </a:rPr>
              <a:t>]{image.png}
    \</a:t>
            </a:r>
            <a:r>
              <a:rPr sz="400" dirty="0" err="1">
                <a:latin typeface="Courier"/>
              </a:rPr>
              <a:t>captionof</a:t>
            </a:r>
            <a:r>
              <a:rPr sz="400" dirty="0">
                <a:latin typeface="Courier"/>
              </a:rPr>
              <a:t>{figure}{</a:t>
            </a:r>
            <a:r>
              <a:rPr sz="400" dirty="0" err="1">
                <a:latin typeface="Courier"/>
              </a:rPr>
              <a:t>Подпись</a:t>
            </a:r>
            <a:r>
              <a:rPr sz="400" dirty="0">
                <a:latin typeface="Courier"/>
              </a:rPr>
              <a:t> к </a:t>
            </a:r>
            <a:r>
              <a:rPr sz="400" dirty="0" err="1">
                <a:latin typeface="Courier"/>
              </a:rPr>
              <a:t>изображению</a:t>
            </a:r>
            <a:r>
              <a:rPr sz="400" dirty="0">
                <a:latin typeface="Courier"/>
              </a:rPr>
              <a:t>}
  \end{center}
}</a:t>
            </a:r>
          </a:p>
          <a:p>
            <a:pPr marL="0" lvl="0" indent="0">
              <a:buNone/>
            </a:pPr>
            <a:r>
              <a:rPr sz="400" dirty="0" err="1"/>
              <a:t>Поддерживаемые</a:t>
            </a:r>
            <a:r>
              <a:rPr sz="400" dirty="0"/>
              <a:t> </a:t>
            </a:r>
            <a:r>
              <a:rPr sz="400" dirty="0" err="1"/>
              <a:t>форматы</a:t>
            </a:r>
            <a:endParaRPr sz="400" dirty="0"/>
          </a:p>
          <a:p>
            <a:pPr lvl="0"/>
            <a:r>
              <a:rPr sz="400" dirty="0"/>
              <a:t>PNG — </a:t>
            </a: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скриншотов</a:t>
            </a:r>
            <a:r>
              <a:rPr sz="400" dirty="0"/>
              <a:t> и </a:t>
            </a:r>
            <a:r>
              <a:rPr sz="400" dirty="0" err="1"/>
              <a:t>растровой</a:t>
            </a:r>
            <a:r>
              <a:rPr sz="400" dirty="0"/>
              <a:t> </a:t>
            </a:r>
            <a:r>
              <a:rPr sz="400" dirty="0" err="1"/>
              <a:t>графики</a:t>
            </a:r>
            <a:endParaRPr sz="400" dirty="0"/>
          </a:p>
          <a:p>
            <a:pPr lvl="0"/>
            <a:r>
              <a:rPr sz="400" dirty="0"/>
              <a:t>JPG — </a:t>
            </a: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фотографий</a:t>
            </a:r>
            <a:endParaRPr sz="400" dirty="0"/>
          </a:p>
          <a:p>
            <a:pPr lvl="0"/>
            <a:r>
              <a:rPr sz="400" dirty="0"/>
              <a:t>PDF — </a:t>
            </a: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векторной</a:t>
            </a:r>
            <a:r>
              <a:rPr sz="400" dirty="0"/>
              <a:t> </a:t>
            </a:r>
            <a:r>
              <a:rPr sz="400" dirty="0" err="1"/>
              <a:t>графики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Вставка</a:t>
            </a:r>
            <a:r>
              <a:rPr sz="400" dirty="0"/>
              <a:t> </a:t>
            </a:r>
            <a:r>
              <a:rPr sz="400" dirty="0" err="1"/>
              <a:t>векторных</a:t>
            </a:r>
            <a:r>
              <a:rPr sz="400" dirty="0"/>
              <a:t> </a:t>
            </a:r>
            <a:r>
              <a:rPr sz="400" dirty="0" err="1"/>
              <a:t>рисунков</a:t>
            </a:r>
            <a:r>
              <a:rPr sz="400" dirty="0"/>
              <a:t> </a:t>
            </a:r>
            <a:r>
              <a:rPr sz="400" dirty="0" err="1"/>
              <a:t>TikZ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0.55</a:t>
            </a:r>
          </a:p>
          <a:p>
            <a:pPr lvl="0" indent="0">
              <a:buNone/>
            </a:pPr>
            <a:r>
              <a:rPr sz="400" dirty="0">
                <a:latin typeface="Courier"/>
              </a:rPr>
              <a:t>\block{</a:t>
            </a:r>
            <a:r>
              <a:rPr sz="400" dirty="0" err="1">
                <a:latin typeface="Courier"/>
              </a:rPr>
              <a:t>Схема</a:t>
            </a:r>
            <a:r>
              <a:rPr sz="400" dirty="0">
                <a:latin typeface="Courier"/>
              </a:rPr>
              <a:t>}{
  \begin{center}
    \begin{</a:t>
            </a:r>
            <a:r>
              <a:rPr sz="400" dirty="0" err="1">
                <a:latin typeface="Courier"/>
              </a:rPr>
              <a:t>tikzpicture</a:t>
            </a:r>
            <a:r>
              <a:rPr sz="400" dirty="0">
                <a:latin typeface="Courier"/>
              </a:rPr>
              <a:t>}
      \draw[thick,-&gt;] (0,0) -- (4,0) 
        node[right]{$x$};
      \draw[thick,-&gt;] (0,0) -- (0,3) 
        node[above]{$y$};
      \draw[</a:t>
            </a:r>
            <a:r>
              <a:rPr sz="400" dirty="0" err="1">
                <a:latin typeface="Courier"/>
              </a:rPr>
              <a:t>blue,thick</a:t>
            </a:r>
            <a:r>
              <a:rPr sz="400" dirty="0">
                <a:latin typeface="Courier"/>
              </a:rPr>
              <a:t>] (0,0) 
        parabola (3,2);
    \end{</a:t>
            </a:r>
            <a:r>
              <a:rPr sz="400" dirty="0" err="1">
                <a:latin typeface="Courier"/>
              </a:rPr>
              <a:t>tikzpicture</a:t>
            </a:r>
            <a:r>
              <a:rPr sz="400" dirty="0">
                <a:latin typeface="Courier"/>
              </a:rPr>
              <a:t>}
    \</a:t>
            </a:r>
            <a:r>
              <a:rPr sz="400" dirty="0" err="1">
                <a:latin typeface="Courier"/>
              </a:rPr>
              <a:t>captionof</a:t>
            </a:r>
            <a:r>
              <a:rPr sz="400" dirty="0">
                <a:latin typeface="Courier"/>
              </a:rPr>
              <a:t>{figure}{</a:t>
            </a:r>
            <a:r>
              <a:rPr sz="400" dirty="0" err="1">
                <a:latin typeface="Courier"/>
              </a:rPr>
              <a:t>График</a:t>
            </a:r>
            <a:r>
              <a:rPr sz="400" dirty="0">
                <a:latin typeface="Courier"/>
              </a:rPr>
              <a:t>}
  \end{center}
}</a:t>
            </a:r>
          </a:p>
          <a:p>
            <a:pPr marL="0" lvl="0" indent="0">
              <a:buNone/>
            </a:pPr>
            <a:r>
              <a:rPr sz="400" dirty="0"/>
              <a:t>0.45</a:t>
            </a:r>
          </a:p>
          <a:p>
            <a:pPr marL="0" lvl="0" indent="0">
              <a:buNone/>
            </a:pPr>
            <a:r>
              <a:rPr sz="400" b="1" dirty="0" err="1"/>
              <a:t>Преимущества</a:t>
            </a:r>
            <a:r>
              <a:rPr sz="400" b="1" dirty="0"/>
              <a:t> </a:t>
            </a:r>
            <a:r>
              <a:rPr sz="400" b="1" dirty="0" err="1"/>
              <a:t>TikZ</a:t>
            </a:r>
            <a:r>
              <a:rPr sz="400" b="1" dirty="0"/>
              <a:t>:</a:t>
            </a:r>
          </a:p>
          <a:p>
            <a:pPr lvl="0"/>
            <a:r>
              <a:rPr sz="400" dirty="0" err="1"/>
              <a:t>Векторная</a:t>
            </a:r>
            <a:r>
              <a:rPr sz="400" dirty="0"/>
              <a:t> </a:t>
            </a:r>
            <a:r>
              <a:rPr sz="400" dirty="0" err="1"/>
              <a:t>графика</a:t>
            </a:r>
            <a:endParaRPr sz="400" dirty="0"/>
          </a:p>
          <a:p>
            <a:pPr lvl="0"/>
            <a:r>
              <a:rPr sz="400" dirty="0" err="1"/>
              <a:t>Масштабируемость</a:t>
            </a:r>
            <a:endParaRPr sz="400" dirty="0"/>
          </a:p>
          <a:p>
            <a:pPr lvl="0"/>
            <a:r>
              <a:rPr sz="400" dirty="0" err="1"/>
              <a:t>Интеграция</a:t>
            </a:r>
            <a:r>
              <a:rPr sz="400" dirty="0"/>
              <a:t> с </a:t>
            </a:r>
            <a:r>
              <a:rPr sz="400" dirty="0" err="1"/>
              <a:t>LaTeX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Рекомендации</a:t>
            </a:r>
            <a:r>
              <a:rPr sz="400" dirty="0"/>
              <a:t> </a:t>
            </a:r>
            <a:r>
              <a:rPr sz="400" dirty="0" err="1"/>
              <a:t>по</a:t>
            </a:r>
            <a:r>
              <a:rPr sz="400" dirty="0"/>
              <a:t> </a:t>
            </a:r>
            <a:r>
              <a:rPr sz="400" dirty="0" err="1"/>
              <a:t>изображениям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</a:t>
            </a:r>
          </a:p>
          <a:p>
            <a:pPr marL="0" lvl="0" indent="0">
              <a:buNone/>
            </a:pP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печати</a:t>
            </a:r>
            <a:endParaRPr sz="400" dirty="0"/>
          </a:p>
          <a:p>
            <a:pPr lvl="0"/>
            <a:r>
              <a:rPr sz="400" dirty="0" err="1"/>
              <a:t>Разрешение</a:t>
            </a:r>
            <a:r>
              <a:rPr sz="400" dirty="0"/>
              <a:t> ≥ 300 DPI</a:t>
            </a:r>
          </a:p>
          <a:p>
            <a:pPr lvl="0"/>
            <a:r>
              <a:rPr sz="400" dirty="0" err="1"/>
              <a:t>Векторные</a:t>
            </a:r>
            <a:r>
              <a:rPr sz="400" dirty="0"/>
              <a:t> </a:t>
            </a:r>
            <a:r>
              <a:rPr sz="400" dirty="0" err="1"/>
              <a:t>форматы</a:t>
            </a:r>
            <a:r>
              <a:rPr sz="400" dirty="0"/>
              <a:t> (PDF, EPS)</a:t>
            </a:r>
          </a:p>
          <a:p>
            <a:pPr lvl="0"/>
            <a:r>
              <a:rPr sz="400" dirty="0" err="1"/>
              <a:t>Крупные</a:t>
            </a:r>
            <a:r>
              <a:rPr sz="400" dirty="0"/>
              <a:t> </a:t>
            </a:r>
            <a:r>
              <a:rPr sz="400" dirty="0" err="1"/>
              <a:t>шрифты</a:t>
            </a:r>
            <a:r>
              <a:rPr sz="400" dirty="0"/>
              <a:t> </a:t>
            </a:r>
            <a:r>
              <a:rPr sz="400" dirty="0" err="1"/>
              <a:t>на</a:t>
            </a:r>
            <a:r>
              <a:rPr sz="400" dirty="0"/>
              <a:t> </a:t>
            </a:r>
            <a:r>
              <a:rPr sz="400" dirty="0" err="1"/>
              <a:t>графиках</a:t>
            </a:r>
            <a:endParaRPr sz="400" dirty="0"/>
          </a:p>
          <a:p>
            <a:pPr lvl="0"/>
            <a:r>
              <a:rPr sz="400" dirty="0" err="1"/>
              <a:t>Высокий</a:t>
            </a:r>
            <a:r>
              <a:rPr sz="400" dirty="0"/>
              <a:t> </a:t>
            </a:r>
            <a:r>
              <a:rPr sz="400" dirty="0" err="1"/>
              <a:t>контраст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</a:t>
            </a:r>
          </a:p>
          <a:p>
            <a:pPr marL="0" lvl="0" indent="0">
              <a:buNone/>
            </a:pP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экрана</a:t>
            </a:r>
            <a:endParaRPr sz="400" dirty="0"/>
          </a:p>
          <a:p>
            <a:pPr lvl="0"/>
            <a:r>
              <a:rPr sz="400" dirty="0" err="1"/>
              <a:t>Разрешение</a:t>
            </a:r>
            <a:r>
              <a:rPr sz="400" dirty="0"/>
              <a:t> ≥ 150 DPI</a:t>
            </a:r>
          </a:p>
          <a:p>
            <a:pPr lvl="0"/>
            <a:r>
              <a:rPr sz="400" dirty="0"/>
              <a:t>PNG с </a:t>
            </a:r>
            <a:r>
              <a:rPr sz="400" dirty="0" err="1"/>
              <a:t>прозрачностью</a:t>
            </a:r>
            <a:endParaRPr sz="400" dirty="0"/>
          </a:p>
          <a:p>
            <a:pPr lvl="0"/>
            <a:r>
              <a:rPr sz="400" dirty="0" err="1"/>
              <a:t>Оптимизация</a:t>
            </a:r>
            <a:r>
              <a:rPr sz="400" dirty="0"/>
              <a:t> </a:t>
            </a:r>
            <a:r>
              <a:rPr sz="400" dirty="0" err="1"/>
              <a:t>размера</a:t>
            </a:r>
            <a:endParaRPr sz="400" dirty="0"/>
          </a:p>
          <a:p>
            <a:pPr lvl="0"/>
            <a:r>
              <a:rPr sz="400" dirty="0" err="1"/>
              <a:t>Яркие</a:t>
            </a:r>
            <a:r>
              <a:rPr sz="400" dirty="0"/>
              <a:t> </a:t>
            </a:r>
            <a:r>
              <a:rPr sz="400" dirty="0" err="1"/>
              <a:t>цвета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Совет</a:t>
            </a:r>
            <a:r>
              <a:rPr sz="400" dirty="0"/>
              <a:t> </a:t>
            </a:r>
            <a:r>
              <a:rPr sz="400" dirty="0" err="1"/>
              <a:t>Всегда</a:t>
            </a:r>
            <a:r>
              <a:rPr sz="400" dirty="0"/>
              <a:t> </a:t>
            </a:r>
            <a:r>
              <a:rPr sz="400" dirty="0" err="1"/>
              <a:t>проверяйте</a:t>
            </a:r>
            <a:r>
              <a:rPr sz="400" dirty="0"/>
              <a:t>, </a:t>
            </a:r>
            <a:r>
              <a:rPr sz="400" dirty="0" err="1"/>
              <a:t>как</a:t>
            </a:r>
            <a:r>
              <a:rPr sz="400" dirty="0"/>
              <a:t> </a:t>
            </a:r>
            <a:r>
              <a:rPr sz="400" dirty="0" err="1"/>
              <a:t>выглядят</a:t>
            </a:r>
            <a:r>
              <a:rPr sz="400" dirty="0"/>
              <a:t> </a:t>
            </a:r>
            <a:r>
              <a:rPr sz="400" dirty="0" err="1"/>
              <a:t>изображения</a:t>
            </a:r>
            <a:r>
              <a:rPr sz="400" dirty="0"/>
              <a:t> в </a:t>
            </a:r>
            <a:r>
              <a:rPr sz="400" dirty="0" err="1"/>
              <a:t>финальном</a:t>
            </a:r>
            <a:r>
              <a:rPr sz="400" dirty="0"/>
              <a:t> </a:t>
            </a:r>
            <a:r>
              <a:rPr sz="400" dirty="0" err="1"/>
              <a:t>размере</a:t>
            </a:r>
            <a:r>
              <a:rPr sz="400" dirty="0"/>
              <a:t> </a:t>
            </a:r>
            <a:r>
              <a:rPr sz="400" dirty="0" err="1"/>
              <a:t>постера</a:t>
            </a:r>
            <a:r>
              <a:rPr sz="400" dirty="0"/>
              <a:t>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Работа с цветовым оформлением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400" dirty="0" err="1"/>
              <a:t>Ограничения</a:t>
            </a:r>
            <a:r>
              <a:rPr sz="400" dirty="0"/>
              <a:t> </a:t>
            </a:r>
            <a:r>
              <a:rPr sz="400" dirty="0" err="1"/>
              <a:t>tikzposter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Важное</a:t>
            </a:r>
            <a:r>
              <a:rPr sz="400" dirty="0"/>
              <a:t> </a:t>
            </a:r>
            <a:r>
              <a:rPr sz="400" dirty="0" err="1"/>
              <a:t>ограничение</a:t>
            </a:r>
            <a:r>
              <a:rPr sz="400" dirty="0"/>
              <a:t>! </a:t>
            </a:r>
            <a:r>
              <a:rPr sz="400" dirty="0" err="1"/>
              <a:t>Пакет</a:t>
            </a:r>
            <a:r>
              <a:rPr sz="400" dirty="0"/>
              <a:t> </a:t>
            </a:r>
            <a:r>
              <a:rPr sz="400" dirty="0" err="1"/>
              <a:t>tikzposter</a:t>
            </a:r>
            <a:r>
              <a:rPr sz="400" dirty="0"/>
              <a:t> </a:t>
            </a:r>
            <a:r>
              <a:rPr sz="400" b="1" dirty="0" err="1"/>
              <a:t>не</a:t>
            </a:r>
            <a:r>
              <a:rPr sz="400" b="1" dirty="0"/>
              <a:t> </a:t>
            </a:r>
            <a:r>
              <a:rPr sz="400" b="1" dirty="0" err="1"/>
              <a:t>поддерживает</a:t>
            </a:r>
            <a:r>
              <a:rPr sz="400" dirty="0"/>
              <a:t> </a:t>
            </a:r>
            <a:r>
              <a:rPr sz="400" dirty="0" err="1"/>
              <a:t>опцию</a:t>
            </a:r>
            <a:r>
              <a:rPr sz="400" dirty="0"/>
              <a:t> </a:t>
            </a:r>
            <a:r>
              <a:rPr sz="400" dirty="0" err="1">
                <a:latin typeface="Courier"/>
              </a:rPr>
              <a:t>svgnames</a:t>
            </a:r>
            <a:r>
              <a:rPr sz="400" dirty="0"/>
              <a:t> </a:t>
            </a:r>
            <a:r>
              <a:rPr sz="400" dirty="0" err="1"/>
              <a:t>пакета</a:t>
            </a:r>
            <a:r>
              <a:rPr sz="400" dirty="0"/>
              <a:t> </a:t>
            </a:r>
            <a:r>
              <a:rPr sz="400" dirty="0" err="1"/>
              <a:t>xcolor</a:t>
            </a:r>
            <a:endParaRPr sz="400" dirty="0"/>
          </a:p>
          <a:p>
            <a:pPr marL="0" lvl="0" indent="0">
              <a:buNone/>
            </a:pPr>
            <a:r>
              <a:rPr sz="400" b="1" dirty="0" err="1"/>
              <a:t>Это</a:t>
            </a:r>
            <a:r>
              <a:rPr sz="400" b="1" dirty="0"/>
              <a:t> </a:t>
            </a:r>
            <a:r>
              <a:rPr sz="400" b="1" dirty="0" err="1"/>
              <a:t>означает</a:t>
            </a:r>
            <a:r>
              <a:rPr sz="400" b="1" dirty="0"/>
              <a:t>, </a:t>
            </a:r>
            <a:r>
              <a:rPr sz="400" b="1" dirty="0" err="1"/>
              <a:t>что</a:t>
            </a:r>
            <a:r>
              <a:rPr sz="400" b="1" dirty="0"/>
              <a:t> </a:t>
            </a:r>
            <a:r>
              <a:rPr sz="400" b="1" dirty="0" err="1"/>
              <a:t>недоступны</a:t>
            </a:r>
            <a:r>
              <a:rPr sz="400" b="1" dirty="0"/>
              <a:t>:</a:t>
            </a:r>
          </a:p>
          <a:p>
            <a:pPr lvl="0"/>
            <a:r>
              <a:rPr sz="400" dirty="0">
                <a:latin typeface="Courier"/>
              </a:rPr>
              <a:t>Red</a:t>
            </a:r>
            <a:r>
              <a:rPr sz="400" dirty="0"/>
              <a:t>, </a:t>
            </a:r>
            <a:r>
              <a:rPr sz="400" dirty="0">
                <a:latin typeface="Courier"/>
              </a:rPr>
              <a:t>Blue</a:t>
            </a:r>
            <a:r>
              <a:rPr sz="400" dirty="0"/>
              <a:t>, </a:t>
            </a:r>
            <a:r>
              <a:rPr sz="400" dirty="0">
                <a:latin typeface="Courier"/>
              </a:rPr>
              <a:t>Green</a:t>
            </a:r>
          </a:p>
          <a:p>
            <a:pPr lvl="0"/>
            <a:r>
              <a:rPr sz="400" dirty="0" err="1">
                <a:latin typeface="Courier"/>
              </a:rPr>
              <a:t>ForestGreen</a:t>
            </a:r>
            <a:r>
              <a:rPr sz="400" dirty="0"/>
              <a:t>, </a:t>
            </a:r>
            <a:r>
              <a:rPr sz="400" dirty="0" err="1">
                <a:latin typeface="Courier"/>
              </a:rPr>
              <a:t>RoyalBlue</a:t>
            </a:r>
            <a:endParaRPr sz="400" dirty="0">
              <a:latin typeface="Courier"/>
            </a:endParaRPr>
          </a:p>
          <a:p>
            <a:pPr lvl="0"/>
            <a:r>
              <a:rPr sz="400" dirty="0" err="1"/>
              <a:t>Другие</a:t>
            </a:r>
            <a:r>
              <a:rPr sz="400" dirty="0"/>
              <a:t> </a:t>
            </a:r>
            <a:r>
              <a:rPr sz="400" dirty="0" err="1"/>
              <a:t>именованные</a:t>
            </a:r>
            <a:r>
              <a:rPr sz="400" dirty="0"/>
              <a:t> </a:t>
            </a:r>
            <a:r>
              <a:rPr sz="400" dirty="0" err="1"/>
              <a:t>цвета</a:t>
            </a:r>
            <a:r>
              <a:rPr sz="400" dirty="0"/>
              <a:t> SVG</a:t>
            </a:r>
          </a:p>
          <a:p>
            <a:pPr marL="0" lvl="0" indent="0">
              <a:buNone/>
            </a:pPr>
            <a:r>
              <a:rPr sz="400" dirty="0" err="1"/>
              <a:t>Решение</a:t>
            </a:r>
            <a:r>
              <a:rPr sz="400" dirty="0"/>
              <a:t> </a:t>
            </a:r>
            <a:r>
              <a:rPr sz="400" dirty="0" err="1"/>
              <a:t>Все</a:t>
            </a:r>
            <a:r>
              <a:rPr sz="400" dirty="0"/>
              <a:t> </a:t>
            </a:r>
            <a:r>
              <a:rPr sz="400" dirty="0" err="1"/>
              <a:t>цвета</a:t>
            </a:r>
            <a:r>
              <a:rPr sz="400" dirty="0"/>
              <a:t> </a:t>
            </a:r>
            <a:r>
              <a:rPr sz="400" dirty="0" err="1"/>
              <a:t>должны</a:t>
            </a:r>
            <a:r>
              <a:rPr sz="400" dirty="0"/>
              <a:t> </a:t>
            </a:r>
            <a:r>
              <a:rPr sz="400" dirty="0" err="1"/>
              <a:t>быть</a:t>
            </a:r>
            <a:r>
              <a:rPr sz="400" dirty="0"/>
              <a:t> </a:t>
            </a:r>
            <a:r>
              <a:rPr sz="400" dirty="0" err="1"/>
              <a:t>определены</a:t>
            </a:r>
            <a:r>
              <a:rPr sz="400" dirty="0"/>
              <a:t> </a:t>
            </a:r>
            <a:r>
              <a:rPr sz="400" dirty="0" err="1"/>
              <a:t>вручную</a:t>
            </a:r>
            <a:r>
              <a:rPr sz="400" dirty="0"/>
              <a:t> с </a:t>
            </a:r>
            <a:r>
              <a:rPr sz="400" dirty="0" err="1"/>
              <a:t>помощью</a:t>
            </a:r>
            <a:r>
              <a:rPr sz="400" dirty="0"/>
              <a:t> </a:t>
            </a:r>
            <a:r>
              <a:rPr sz="400" dirty="0">
                <a:latin typeface="Courier"/>
              </a:rPr>
              <a:t>\</a:t>
            </a:r>
            <a:r>
              <a:rPr sz="400" dirty="0" err="1">
                <a:latin typeface="Courier"/>
              </a:rPr>
              <a:t>definecolor</a:t>
            </a:r>
            <a:endParaRPr sz="400" dirty="0">
              <a:latin typeface="Courier"/>
            </a:endParaRPr>
          </a:p>
          <a:p>
            <a:pPr marL="0" lvl="0" indent="0">
              <a:buNone/>
            </a:pPr>
            <a:r>
              <a:rPr sz="400" dirty="0" err="1"/>
              <a:t>Определение</a:t>
            </a:r>
            <a:r>
              <a:rPr sz="400" dirty="0"/>
              <a:t> </a:t>
            </a:r>
            <a:r>
              <a:rPr sz="400" dirty="0" err="1"/>
              <a:t>пользовательских</a:t>
            </a:r>
            <a:r>
              <a:rPr sz="400" dirty="0"/>
              <a:t> </a:t>
            </a:r>
            <a:r>
              <a:rPr sz="400" dirty="0" err="1"/>
              <a:t>цветов</a:t>
            </a:r>
            <a:r>
              <a:rPr sz="400" dirty="0"/>
              <a:t> </a:t>
            </a:r>
            <a:r>
              <a:rPr sz="400" b="1" dirty="0"/>
              <a:t>В </a:t>
            </a:r>
            <a:r>
              <a:rPr sz="400" b="1" dirty="0" err="1"/>
              <a:t>преамбуле</a:t>
            </a:r>
            <a:r>
              <a:rPr sz="400" b="1" dirty="0"/>
              <a:t> </a:t>
            </a:r>
            <a:r>
              <a:rPr sz="400" b="1" dirty="0" err="1"/>
              <a:t>документа</a:t>
            </a:r>
            <a:r>
              <a:rPr sz="400" b="1" dirty="0"/>
              <a:t>:</a:t>
            </a:r>
          </a:p>
          <a:p>
            <a:pPr lvl="0" indent="0">
              <a:buNone/>
            </a:pPr>
            <a:r>
              <a:rPr sz="400" dirty="0">
                <a:latin typeface="Courier"/>
              </a:rPr>
              <a:t>\</a:t>
            </a:r>
            <a:r>
              <a:rPr sz="400" dirty="0" err="1">
                <a:latin typeface="Courier"/>
              </a:rPr>
              <a:t>definecolor</a:t>
            </a:r>
            <a:r>
              <a:rPr sz="400" dirty="0">
                <a:latin typeface="Courier"/>
              </a:rPr>
              <a:t>{</a:t>
            </a:r>
            <a:r>
              <a:rPr sz="400" dirty="0" err="1">
                <a:latin typeface="Courier"/>
              </a:rPr>
              <a:t>MyPink</a:t>
            </a:r>
            <a:r>
              <a:rPr sz="400" dirty="0">
                <a:latin typeface="Courier"/>
              </a:rPr>
              <a:t>}{RGB}{194, 19, 182}
\</a:t>
            </a:r>
            <a:r>
              <a:rPr sz="400" dirty="0" err="1">
                <a:latin typeface="Courier"/>
              </a:rPr>
              <a:t>definecolor</a:t>
            </a:r>
            <a:r>
              <a:rPr sz="400" dirty="0">
                <a:latin typeface="Courier"/>
              </a:rPr>
              <a:t>{</a:t>
            </a:r>
            <a:r>
              <a:rPr sz="400" dirty="0" err="1">
                <a:latin typeface="Courier"/>
              </a:rPr>
              <a:t>MyBlue</a:t>
            </a:r>
            <a:r>
              <a:rPr sz="400" dirty="0">
                <a:latin typeface="Courier"/>
              </a:rPr>
              <a:t>}{RGB}{0, 102, 204}
\</a:t>
            </a:r>
            <a:r>
              <a:rPr sz="400" dirty="0" err="1">
                <a:latin typeface="Courier"/>
              </a:rPr>
              <a:t>definecolor</a:t>
            </a:r>
            <a:r>
              <a:rPr sz="400" dirty="0">
                <a:latin typeface="Courier"/>
              </a:rPr>
              <a:t>{</a:t>
            </a:r>
            <a:r>
              <a:rPr sz="400" dirty="0" err="1">
                <a:latin typeface="Courier"/>
              </a:rPr>
              <a:t>MyGreen</a:t>
            </a:r>
            <a:r>
              <a:rPr sz="400" dirty="0">
                <a:latin typeface="Courier"/>
              </a:rPr>
              <a:t>}{RGB}{34, 139, 34}
\</a:t>
            </a:r>
            <a:r>
              <a:rPr sz="400" dirty="0" err="1">
                <a:latin typeface="Courier"/>
              </a:rPr>
              <a:t>definecolor</a:t>
            </a:r>
            <a:r>
              <a:rPr sz="400" dirty="0">
                <a:latin typeface="Courier"/>
              </a:rPr>
              <a:t>{</a:t>
            </a:r>
            <a:r>
              <a:rPr sz="400" dirty="0" err="1">
                <a:latin typeface="Courier"/>
              </a:rPr>
              <a:t>MyOrange</a:t>
            </a:r>
            <a:r>
              <a:rPr sz="400" dirty="0">
                <a:latin typeface="Courier"/>
              </a:rPr>
              <a:t>}{RGB}{255, 140, 0}</a:t>
            </a:r>
          </a:p>
          <a:p>
            <a:pPr marL="0" lvl="0" indent="0">
              <a:buNone/>
            </a:pPr>
            <a:r>
              <a:rPr sz="400" dirty="0" err="1"/>
              <a:t>Цветовые</a:t>
            </a:r>
            <a:r>
              <a:rPr sz="400" dirty="0"/>
              <a:t> </a:t>
            </a:r>
            <a:r>
              <a:rPr sz="400" dirty="0" err="1"/>
              <a:t>модели</a:t>
            </a:r>
            <a:endParaRPr sz="400" dirty="0"/>
          </a:p>
          <a:p>
            <a:pPr marL="0" lvl="0" indent="0">
              <a:buNone/>
            </a:pPr>
            <a:r>
              <a:rPr sz="400" b="1" dirty="0"/>
              <a:t>RGB</a:t>
            </a:r>
          </a:p>
          <a:p>
            <a:pPr marL="1270000" lvl="0" indent="0">
              <a:buNone/>
            </a:pPr>
            <a:r>
              <a:rPr sz="300" dirty="0" err="1"/>
              <a:t>Красный</a:t>
            </a:r>
            <a:r>
              <a:rPr sz="300" dirty="0"/>
              <a:t>, </a:t>
            </a:r>
            <a:r>
              <a:rPr sz="300" dirty="0" err="1"/>
              <a:t>Зеленый</a:t>
            </a:r>
            <a:r>
              <a:rPr sz="300" dirty="0"/>
              <a:t>, </a:t>
            </a:r>
            <a:r>
              <a:rPr sz="300" dirty="0" err="1"/>
              <a:t>Синий</a:t>
            </a:r>
            <a:r>
              <a:rPr sz="300" dirty="0"/>
              <a:t> (0-255)</a:t>
            </a:r>
          </a:p>
          <a:p>
            <a:pPr marL="0" lvl="0" indent="0">
              <a:buNone/>
            </a:pPr>
            <a:r>
              <a:rPr sz="400" b="1" dirty="0"/>
              <a:t>HTML</a:t>
            </a:r>
          </a:p>
          <a:p>
            <a:pPr marL="1270000" lvl="0" indent="0">
              <a:buNone/>
            </a:pPr>
            <a:r>
              <a:rPr sz="300" dirty="0" err="1"/>
              <a:t>Шестнадцатеричный</a:t>
            </a:r>
            <a:r>
              <a:rPr sz="300" dirty="0"/>
              <a:t> </a:t>
            </a:r>
            <a:r>
              <a:rPr sz="300" dirty="0" err="1"/>
              <a:t>код</a:t>
            </a:r>
            <a:r>
              <a:rPr sz="300" dirty="0"/>
              <a:t> (#RRGGBB)</a:t>
            </a:r>
          </a:p>
          <a:p>
            <a:pPr marL="0" lvl="0" indent="0">
              <a:buNone/>
            </a:pPr>
            <a:r>
              <a:rPr sz="400" b="1" dirty="0" err="1"/>
              <a:t>cmyk</a:t>
            </a:r>
            <a:endParaRPr sz="400" b="1" dirty="0"/>
          </a:p>
          <a:p>
            <a:pPr marL="1270000" lvl="0" indent="0">
              <a:buNone/>
            </a:pPr>
            <a:r>
              <a:rPr sz="300" dirty="0" err="1"/>
              <a:t>Голубой</a:t>
            </a:r>
            <a:r>
              <a:rPr sz="300" dirty="0"/>
              <a:t>, </a:t>
            </a:r>
            <a:r>
              <a:rPr sz="300" dirty="0" err="1"/>
              <a:t>Пурпурный</a:t>
            </a:r>
            <a:r>
              <a:rPr sz="300" dirty="0"/>
              <a:t>, </a:t>
            </a:r>
            <a:r>
              <a:rPr sz="300" dirty="0" err="1"/>
              <a:t>Желтый</a:t>
            </a:r>
            <a:r>
              <a:rPr sz="300" dirty="0"/>
              <a:t>, </a:t>
            </a:r>
            <a:r>
              <a:rPr sz="300" dirty="0" err="1"/>
              <a:t>Черный</a:t>
            </a:r>
            <a:r>
              <a:rPr sz="300" dirty="0"/>
              <a:t> (0-1)</a:t>
            </a:r>
          </a:p>
          <a:p>
            <a:pPr marL="0" lvl="0" indent="0">
              <a:buNone/>
            </a:pPr>
            <a:r>
              <a:rPr sz="400" dirty="0" err="1"/>
              <a:t>Использование</a:t>
            </a:r>
            <a:r>
              <a:rPr sz="400" dirty="0"/>
              <a:t> </a:t>
            </a:r>
            <a:r>
              <a:rPr sz="400" dirty="0" err="1"/>
              <a:t>цветов</a:t>
            </a:r>
            <a:r>
              <a:rPr sz="400" dirty="0"/>
              <a:t> в </a:t>
            </a:r>
            <a:r>
              <a:rPr sz="400" dirty="0" err="1"/>
              <a:t>тексте</a:t>
            </a:r>
            <a:endParaRPr sz="400" dirty="0"/>
          </a:p>
          <a:p>
            <a:pPr lvl="0" indent="0">
              <a:buNone/>
            </a:pPr>
            <a:r>
              <a:rPr sz="400" dirty="0" err="1">
                <a:latin typeface="Courier"/>
              </a:rPr>
              <a:t>Обычный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черный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текст</a:t>
            </a:r>
            <a:r>
              <a:rPr sz="400" dirty="0">
                <a:latin typeface="Courier"/>
              </a:rPr>
              <a:t>, 
\color{</a:t>
            </a:r>
            <a:r>
              <a:rPr sz="400" dirty="0" err="1">
                <a:latin typeface="Courier"/>
              </a:rPr>
              <a:t>MyPink</a:t>
            </a:r>
            <a:r>
              <a:rPr sz="400" dirty="0">
                <a:latin typeface="Courier"/>
              </a:rPr>
              <a:t>} </a:t>
            </a:r>
            <a:r>
              <a:rPr sz="400" dirty="0" err="1">
                <a:latin typeface="Courier"/>
              </a:rPr>
              <a:t>розовый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текст</a:t>
            </a:r>
            <a:r>
              <a:rPr sz="400" dirty="0">
                <a:latin typeface="Courier"/>
              </a:rPr>
              <a:t>, 
\color{black} </a:t>
            </a:r>
            <a:r>
              <a:rPr sz="400" dirty="0" err="1">
                <a:latin typeface="Courier"/>
              </a:rPr>
              <a:t>снова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черный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текст</a:t>
            </a:r>
            <a:r>
              <a:rPr sz="400" dirty="0">
                <a:latin typeface="Courier"/>
              </a:rPr>
              <a:t>.</a:t>
            </a:r>
          </a:p>
          <a:p>
            <a:pPr marL="0" lvl="0" indent="0">
              <a:buNone/>
            </a:pPr>
            <a:r>
              <a:rPr sz="400" b="1" dirty="0" err="1"/>
              <a:t>Результат</a:t>
            </a:r>
            <a:r>
              <a:rPr sz="400" b="1" dirty="0"/>
              <a:t>:</a:t>
            </a:r>
          </a:p>
          <a:p>
            <a:pPr marL="0" lvl="0" indent="0">
              <a:buNone/>
            </a:pPr>
            <a:r>
              <a:rPr sz="400" dirty="0" err="1"/>
              <a:t>Обычный</a:t>
            </a:r>
            <a:r>
              <a:rPr sz="400" dirty="0"/>
              <a:t> </a:t>
            </a:r>
            <a:r>
              <a:rPr sz="400" dirty="0" err="1"/>
              <a:t>черный</a:t>
            </a:r>
            <a:r>
              <a:rPr sz="400" dirty="0"/>
              <a:t> </a:t>
            </a:r>
            <a:r>
              <a:rPr sz="400" dirty="0" err="1"/>
              <a:t>текст</a:t>
            </a:r>
            <a:r>
              <a:rPr sz="400" dirty="0"/>
              <a:t>, </a:t>
            </a:r>
            <a:r>
              <a:rPr sz="400" dirty="0" err="1"/>
              <a:t>розовый</a:t>
            </a:r>
            <a:r>
              <a:rPr sz="400" dirty="0"/>
              <a:t> </a:t>
            </a:r>
            <a:r>
              <a:rPr sz="400" dirty="0" err="1"/>
              <a:t>текст</a:t>
            </a:r>
            <a:r>
              <a:rPr sz="400" dirty="0"/>
              <a:t>, </a:t>
            </a:r>
            <a:r>
              <a:rPr sz="400" dirty="0" err="1"/>
              <a:t>снова</a:t>
            </a:r>
            <a:r>
              <a:rPr sz="400" dirty="0"/>
              <a:t> </a:t>
            </a:r>
            <a:r>
              <a:rPr sz="400" dirty="0" err="1"/>
              <a:t>черный</a:t>
            </a:r>
            <a:r>
              <a:rPr sz="400" dirty="0"/>
              <a:t> </a:t>
            </a:r>
            <a:r>
              <a:rPr sz="400" dirty="0" err="1"/>
              <a:t>текст</a:t>
            </a:r>
            <a:r>
              <a:rPr sz="400" dirty="0"/>
              <a:t>.</a:t>
            </a:r>
          </a:p>
          <a:p>
            <a:pPr marL="0" lvl="0" indent="0">
              <a:buNone/>
            </a:pPr>
            <a:r>
              <a:rPr sz="400" dirty="0" err="1"/>
              <a:t>Важно</a:t>
            </a:r>
            <a:r>
              <a:rPr sz="400" dirty="0"/>
              <a:t>! </a:t>
            </a:r>
            <a:r>
              <a:rPr sz="400" dirty="0" err="1"/>
              <a:t>После</a:t>
            </a:r>
            <a:r>
              <a:rPr sz="400" dirty="0"/>
              <a:t> </a:t>
            </a:r>
            <a:r>
              <a:rPr sz="400" dirty="0" err="1"/>
              <a:t>использования</a:t>
            </a:r>
            <a:r>
              <a:rPr sz="400" dirty="0"/>
              <a:t> </a:t>
            </a:r>
            <a:r>
              <a:rPr sz="400" dirty="0">
                <a:latin typeface="Courier"/>
              </a:rPr>
              <a:t>\color</a:t>
            </a:r>
            <a:r>
              <a:rPr sz="400" dirty="0"/>
              <a:t> </a:t>
            </a:r>
            <a:r>
              <a:rPr sz="400" dirty="0" err="1"/>
              <a:t>все</a:t>
            </a:r>
            <a:r>
              <a:rPr sz="400" dirty="0"/>
              <a:t> </a:t>
            </a:r>
            <a:r>
              <a:rPr sz="400" dirty="0" err="1"/>
              <a:t>последующий</a:t>
            </a:r>
            <a:r>
              <a:rPr sz="400" dirty="0"/>
              <a:t> </a:t>
            </a:r>
            <a:r>
              <a:rPr sz="400" dirty="0" err="1"/>
              <a:t>текст</a:t>
            </a:r>
            <a:r>
              <a:rPr sz="400" dirty="0"/>
              <a:t> </a:t>
            </a:r>
            <a:r>
              <a:rPr sz="400" dirty="0" err="1"/>
              <a:t>будет</a:t>
            </a:r>
            <a:r>
              <a:rPr sz="400" dirty="0"/>
              <a:t> </a:t>
            </a:r>
            <a:r>
              <a:rPr sz="400" dirty="0" err="1"/>
              <a:t>этого</a:t>
            </a:r>
            <a:r>
              <a:rPr sz="400" dirty="0"/>
              <a:t> </a:t>
            </a:r>
            <a:r>
              <a:rPr sz="400" dirty="0" err="1"/>
              <a:t>цвета</a:t>
            </a:r>
            <a:r>
              <a:rPr sz="400" dirty="0"/>
              <a:t>, </a:t>
            </a:r>
            <a:r>
              <a:rPr sz="400" dirty="0" err="1"/>
              <a:t>пока</a:t>
            </a:r>
            <a:r>
              <a:rPr sz="400" dirty="0"/>
              <a:t> </a:t>
            </a:r>
            <a:r>
              <a:rPr sz="400" dirty="0" err="1"/>
              <a:t>не</a:t>
            </a:r>
            <a:r>
              <a:rPr sz="400" dirty="0"/>
              <a:t> </a:t>
            </a:r>
            <a:r>
              <a:rPr sz="400" dirty="0" err="1"/>
              <a:t>будет</a:t>
            </a:r>
            <a:r>
              <a:rPr sz="400" dirty="0"/>
              <a:t> </a:t>
            </a:r>
            <a:r>
              <a:rPr sz="400" dirty="0" err="1"/>
              <a:t>задан</a:t>
            </a:r>
            <a:r>
              <a:rPr sz="400" dirty="0"/>
              <a:t> </a:t>
            </a:r>
            <a:r>
              <a:rPr sz="400" dirty="0" err="1"/>
              <a:t>другой</a:t>
            </a:r>
            <a:r>
              <a:rPr sz="400" dirty="0"/>
              <a:t> </a:t>
            </a:r>
            <a:r>
              <a:rPr sz="400" dirty="0" err="1"/>
              <a:t>цвет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Демонстрация</a:t>
            </a:r>
            <a:r>
              <a:rPr sz="400" dirty="0"/>
              <a:t> </a:t>
            </a:r>
            <a:r>
              <a:rPr sz="400" dirty="0" err="1"/>
              <a:t>цветов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Инструменты</a:t>
            </a:r>
            <a:r>
              <a:rPr sz="400" dirty="0"/>
              <a:t> </a:t>
            </a: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подбора</a:t>
            </a:r>
            <a:r>
              <a:rPr sz="400" dirty="0"/>
              <a:t> </a:t>
            </a:r>
            <a:r>
              <a:rPr sz="400" dirty="0" err="1"/>
              <a:t>цветов</a:t>
            </a:r>
            <a:endParaRPr sz="400" dirty="0"/>
          </a:p>
          <a:p>
            <a:pPr lvl="0"/>
            <a:r>
              <a:rPr sz="400" dirty="0"/>
              <a:t>Google Color Picker</a:t>
            </a:r>
          </a:p>
          <a:p>
            <a:pPr lvl="0"/>
            <a:r>
              <a:rPr sz="400" dirty="0"/>
              <a:t>Adobe Color (color.adobe.com)</a:t>
            </a:r>
          </a:p>
          <a:p>
            <a:pPr lvl="0"/>
            <a:r>
              <a:rPr sz="400" dirty="0"/>
              <a:t>Coolors.co — </a:t>
            </a:r>
            <a:r>
              <a:rPr sz="400" dirty="0" err="1"/>
              <a:t>генератор</a:t>
            </a:r>
            <a:r>
              <a:rPr sz="400" dirty="0"/>
              <a:t> </a:t>
            </a:r>
            <a:r>
              <a:rPr sz="400" dirty="0" err="1"/>
              <a:t>палитр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Принципы</a:t>
            </a:r>
            <a:r>
              <a:rPr sz="400" dirty="0"/>
              <a:t> </a:t>
            </a:r>
            <a:r>
              <a:rPr sz="400" dirty="0" err="1"/>
              <a:t>работы</a:t>
            </a:r>
            <a:r>
              <a:rPr sz="400" dirty="0"/>
              <a:t> с </a:t>
            </a:r>
            <a:r>
              <a:rPr sz="400" dirty="0" err="1"/>
              <a:t>цветом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</a:t>
            </a:r>
          </a:p>
          <a:p>
            <a:pPr marL="0" lvl="0" indent="0">
              <a:buNone/>
            </a:pPr>
            <a:r>
              <a:rPr sz="400" dirty="0" err="1"/>
              <a:t>Правило</a:t>
            </a:r>
            <a:r>
              <a:rPr sz="400" dirty="0"/>
              <a:t> 60-30-10</a:t>
            </a:r>
          </a:p>
          <a:p>
            <a:pPr lvl="0"/>
            <a:r>
              <a:rPr sz="400" dirty="0"/>
              <a:t>60% — </a:t>
            </a:r>
            <a:r>
              <a:rPr sz="400" dirty="0" err="1"/>
              <a:t>основной</a:t>
            </a:r>
            <a:r>
              <a:rPr sz="400" dirty="0"/>
              <a:t> </a:t>
            </a:r>
            <a:r>
              <a:rPr sz="400" dirty="0" err="1"/>
              <a:t>цвет</a:t>
            </a:r>
            <a:endParaRPr sz="400" dirty="0"/>
          </a:p>
          <a:p>
            <a:pPr lvl="0"/>
            <a:r>
              <a:rPr sz="400" dirty="0"/>
              <a:t>30% — </a:t>
            </a:r>
            <a:r>
              <a:rPr sz="400" dirty="0" err="1"/>
              <a:t>дополнительный</a:t>
            </a:r>
            <a:endParaRPr sz="400" dirty="0"/>
          </a:p>
          <a:p>
            <a:pPr lvl="0"/>
            <a:r>
              <a:rPr sz="400" dirty="0"/>
              <a:t>10% — </a:t>
            </a:r>
            <a:r>
              <a:rPr sz="400" dirty="0" err="1"/>
              <a:t>акцентный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Контрастность</a:t>
            </a:r>
            <a:endParaRPr sz="400" dirty="0"/>
          </a:p>
          <a:p>
            <a:pPr lvl="0"/>
            <a:r>
              <a:rPr sz="400" dirty="0" err="1"/>
              <a:t>Темный</a:t>
            </a:r>
            <a:r>
              <a:rPr sz="400" dirty="0"/>
              <a:t> </a:t>
            </a:r>
            <a:r>
              <a:rPr sz="400" dirty="0" err="1"/>
              <a:t>текст</a:t>
            </a:r>
            <a:r>
              <a:rPr sz="400" dirty="0"/>
              <a:t> </a:t>
            </a:r>
            <a:r>
              <a:rPr sz="400" dirty="0" err="1"/>
              <a:t>на</a:t>
            </a:r>
            <a:r>
              <a:rPr sz="400" dirty="0"/>
              <a:t> </a:t>
            </a:r>
            <a:r>
              <a:rPr sz="400" dirty="0" err="1"/>
              <a:t>светлом</a:t>
            </a:r>
            <a:r>
              <a:rPr sz="400" dirty="0"/>
              <a:t> </a:t>
            </a:r>
            <a:r>
              <a:rPr sz="400" dirty="0" err="1"/>
              <a:t>фоне</a:t>
            </a:r>
            <a:endParaRPr sz="400" dirty="0"/>
          </a:p>
          <a:p>
            <a:pPr lvl="0"/>
            <a:r>
              <a:rPr sz="400" dirty="0" err="1"/>
              <a:t>Светлый</a:t>
            </a:r>
            <a:r>
              <a:rPr sz="400" dirty="0"/>
              <a:t> </a:t>
            </a:r>
            <a:r>
              <a:rPr sz="400" dirty="0" err="1"/>
              <a:t>текст</a:t>
            </a:r>
            <a:r>
              <a:rPr sz="400" dirty="0"/>
              <a:t> </a:t>
            </a:r>
            <a:r>
              <a:rPr sz="400" dirty="0" err="1"/>
              <a:t>на</a:t>
            </a:r>
            <a:r>
              <a:rPr sz="400" dirty="0"/>
              <a:t> </a:t>
            </a:r>
            <a:r>
              <a:rPr sz="400" dirty="0" err="1"/>
              <a:t>темном</a:t>
            </a:r>
            <a:r>
              <a:rPr sz="400" dirty="0"/>
              <a:t> </a:t>
            </a:r>
            <a:r>
              <a:rPr sz="400" dirty="0" err="1"/>
              <a:t>фоне</a:t>
            </a:r>
            <a:endParaRPr sz="400" dirty="0"/>
          </a:p>
          <a:p>
            <a:pPr lvl="0"/>
            <a:r>
              <a:rPr sz="400" dirty="0" err="1"/>
              <a:t>Избегайте</a:t>
            </a:r>
            <a:r>
              <a:rPr sz="400" dirty="0"/>
              <a:t> </a:t>
            </a:r>
            <a:r>
              <a:rPr sz="400" dirty="0" err="1"/>
              <a:t>низкого</a:t>
            </a:r>
            <a:r>
              <a:rPr sz="400" dirty="0"/>
              <a:t> </a:t>
            </a:r>
            <a:r>
              <a:rPr sz="400" dirty="0" err="1"/>
              <a:t>контраста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</a:t>
            </a:r>
          </a:p>
          <a:p>
            <a:pPr marL="0" lvl="0" indent="0">
              <a:buNone/>
            </a:pPr>
            <a:r>
              <a:rPr sz="400" dirty="0" err="1"/>
              <a:t>Хорошие</a:t>
            </a:r>
            <a:r>
              <a:rPr sz="400" dirty="0"/>
              <a:t> </a:t>
            </a:r>
            <a:r>
              <a:rPr sz="400" dirty="0" err="1"/>
              <a:t>сочетания</a:t>
            </a:r>
            <a:endParaRPr sz="400" dirty="0"/>
          </a:p>
          <a:p>
            <a:pPr lvl="0"/>
            <a:r>
              <a:rPr sz="400" dirty="0" err="1"/>
              <a:t>Синий</a:t>
            </a:r>
            <a:r>
              <a:rPr sz="400" dirty="0"/>
              <a:t> + </a:t>
            </a:r>
            <a:r>
              <a:rPr sz="400" dirty="0" err="1"/>
              <a:t>оранжевый</a:t>
            </a:r>
            <a:endParaRPr sz="400" dirty="0"/>
          </a:p>
          <a:p>
            <a:pPr lvl="0"/>
            <a:r>
              <a:rPr sz="400" dirty="0" err="1"/>
              <a:t>Фиолетовый</a:t>
            </a:r>
            <a:r>
              <a:rPr sz="400" dirty="0"/>
              <a:t> + </a:t>
            </a:r>
            <a:r>
              <a:rPr sz="400" dirty="0" err="1"/>
              <a:t>желтый</a:t>
            </a:r>
            <a:endParaRPr sz="400" dirty="0"/>
          </a:p>
          <a:p>
            <a:pPr lvl="0"/>
            <a:r>
              <a:rPr sz="400" dirty="0" err="1"/>
              <a:t>Зеленый</a:t>
            </a:r>
            <a:r>
              <a:rPr sz="400" dirty="0"/>
              <a:t> + </a:t>
            </a:r>
            <a:r>
              <a:rPr sz="400" dirty="0" err="1"/>
              <a:t>красный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Избегайте</a:t>
            </a:r>
            <a:endParaRPr sz="400" dirty="0"/>
          </a:p>
          <a:p>
            <a:pPr lvl="0"/>
            <a:r>
              <a:rPr sz="400" dirty="0" err="1"/>
              <a:t>Более</a:t>
            </a:r>
            <a:r>
              <a:rPr sz="400" dirty="0"/>
              <a:t> 4-5 </a:t>
            </a:r>
            <a:r>
              <a:rPr sz="400" dirty="0" err="1"/>
              <a:t>цветов</a:t>
            </a:r>
            <a:endParaRPr sz="400" dirty="0"/>
          </a:p>
          <a:p>
            <a:pPr lvl="0"/>
            <a:r>
              <a:rPr sz="400" dirty="0" err="1"/>
              <a:t>Слишком</a:t>
            </a:r>
            <a:r>
              <a:rPr sz="400" dirty="0"/>
              <a:t> </a:t>
            </a:r>
            <a:r>
              <a:rPr sz="400" dirty="0" err="1"/>
              <a:t>яркие</a:t>
            </a:r>
            <a:r>
              <a:rPr sz="400" dirty="0"/>
              <a:t> </a:t>
            </a:r>
            <a:r>
              <a:rPr sz="400" dirty="0" err="1"/>
              <a:t>цвета</a:t>
            </a:r>
            <a:endParaRPr sz="400" dirty="0"/>
          </a:p>
          <a:p>
            <a:pPr lvl="0"/>
            <a:r>
              <a:rPr sz="400" dirty="0" err="1"/>
              <a:t>Плохой</a:t>
            </a:r>
            <a:r>
              <a:rPr sz="400" dirty="0"/>
              <a:t> </a:t>
            </a:r>
            <a:r>
              <a:rPr sz="400" dirty="0" err="1"/>
              <a:t>контраст</a:t>
            </a:r>
            <a:endParaRPr sz="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Полный пример постера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400" dirty="0" err="1"/>
              <a:t>Структура</a:t>
            </a:r>
            <a:r>
              <a:rPr sz="400" dirty="0"/>
              <a:t> </a:t>
            </a:r>
            <a:r>
              <a:rPr sz="400" dirty="0" err="1"/>
              <a:t>документа</a:t>
            </a:r>
            <a:endParaRPr sz="400" dirty="0"/>
          </a:p>
          <a:p>
            <a:pPr lvl="0" indent="0">
              <a:buNone/>
            </a:pPr>
            <a:r>
              <a:rPr sz="400" dirty="0">
                <a:latin typeface="Courier"/>
              </a:rPr>
              <a:t>\</a:t>
            </a:r>
            <a:r>
              <a:rPr sz="400" dirty="0" err="1">
                <a:latin typeface="Courier"/>
              </a:rPr>
              <a:t>documentclass</a:t>
            </a:r>
            <a:r>
              <a:rPr sz="400" dirty="0">
                <a:latin typeface="Courier"/>
              </a:rPr>
              <a:t>[25pt, a0paper, portrait]{</a:t>
            </a:r>
            <a:r>
              <a:rPr sz="400" dirty="0" err="1">
                <a:latin typeface="Courier"/>
              </a:rPr>
              <a:t>tikzposter</a:t>
            </a:r>
            <a:r>
              <a:rPr sz="400" dirty="0">
                <a:latin typeface="Courier"/>
              </a:rPr>
              <a:t>}
\</a:t>
            </a:r>
            <a:r>
              <a:rPr sz="400" dirty="0" err="1">
                <a:latin typeface="Courier"/>
              </a:rPr>
              <a:t>usepackage</a:t>
            </a:r>
            <a:r>
              <a:rPr sz="400" dirty="0">
                <a:latin typeface="Courier"/>
              </a:rPr>
              <a:t>[utf8]{</a:t>
            </a:r>
            <a:r>
              <a:rPr sz="400" dirty="0" err="1">
                <a:latin typeface="Courier"/>
              </a:rPr>
              <a:t>inputenc</a:t>
            </a:r>
            <a:r>
              <a:rPr sz="400" dirty="0">
                <a:latin typeface="Courier"/>
              </a:rPr>
              <a:t>}
\</a:t>
            </a:r>
            <a:r>
              <a:rPr sz="400" dirty="0" err="1">
                <a:latin typeface="Courier"/>
              </a:rPr>
              <a:t>usepackage</a:t>
            </a:r>
            <a:r>
              <a:rPr sz="400" dirty="0">
                <a:latin typeface="Courier"/>
              </a:rPr>
              <a:t>[</a:t>
            </a:r>
            <a:r>
              <a:rPr sz="400" dirty="0" err="1">
                <a:latin typeface="Courier"/>
              </a:rPr>
              <a:t>russian</a:t>
            </a:r>
            <a:r>
              <a:rPr sz="400" dirty="0">
                <a:latin typeface="Courier"/>
              </a:rPr>
              <a:t>]{babel}
\</a:t>
            </a:r>
            <a:r>
              <a:rPr sz="400" dirty="0" err="1">
                <a:latin typeface="Courier"/>
              </a:rPr>
              <a:t>usepackage</a:t>
            </a:r>
            <a:r>
              <a:rPr sz="400" dirty="0">
                <a:latin typeface="Courier"/>
              </a:rPr>
              <a:t>{caption}
\</a:t>
            </a:r>
            <a:r>
              <a:rPr sz="400" dirty="0" err="1">
                <a:latin typeface="Courier"/>
              </a:rPr>
              <a:t>definecolor</a:t>
            </a:r>
            <a:r>
              <a:rPr sz="400" dirty="0">
                <a:latin typeface="Courier"/>
              </a:rPr>
              <a:t>{</a:t>
            </a:r>
            <a:r>
              <a:rPr sz="400" dirty="0" err="1">
                <a:latin typeface="Courier"/>
              </a:rPr>
              <a:t>MyPink</a:t>
            </a:r>
            <a:r>
              <a:rPr sz="400" dirty="0">
                <a:latin typeface="Courier"/>
              </a:rPr>
              <a:t>}{RGB}{194, 19, 182}
\</a:t>
            </a:r>
            <a:r>
              <a:rPr sz="400" dirty="0" err="1">
                <a:latin typeface="Courier"/>
              </a:rPr>
              <a:t>definecolor</a:t>
            </a:r>
            <a:r>
              <a:rPr sz="400" dirty="0">
                <a:latin typeface="Courier"/>
              </a:rPr>
              <a:t>{</a:t>
            </a:r>
            <a:r>
              <a:rPr sz="400" dirty="0" err="1">
                <a:latin typeface="Courier"/>
              </a:rPr>
              <a:t>MyBlue</a:t>
            </a:r>
            <a:r>
              <a:rPr sz="400" dirty="0">
                <a:latin typeface="Courier"/>
              </a:rPr>
              <a:t>}{RGB}{0, 102, 204}
\title{</a:t>
            </a:r>
            <a:r>
              <a:rPr sz="400" dirty="0" err="1">
                <a:latin typeface="Courier"/>
              </a:rPr>
              <a:t>Название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исследования</a:t>
            </a:r>
            <a:r>
              <a:rPr sz="400" dirty="0">
                <a:latin typeface="Courier"/>
              </a:rPr>
              <a:t>}
\author{</a:t>
            </a:r>
            <a:r>
              <a:rPr sz="400" dirty="0" err="1">
                <a:latin typeface="Courier"/>
              </a:rPr>
              <a:t>Автор</a:t>
            </a:r>
            <a:r>
              <a:rPr sz="400" dirty="0">
                <a:latin typeface="Courier"/>
              </a:rPr>
              <a:t>}
\institute{</a:t>
            </a:r>
            <a:r>
              <a:rPr sz="400" dirty="0" err="1">
                <a:latin typeface="Courier"/>
              </a:rPr>
              <a:t>Университет</a:t>
            </a:r>
            <a:r>
              <a:rPr sz="400" dirty="0">
                <a:latin typeface="Courier"/>
              </a:rPr>
              <a:t>}
\begin{document}
\</a:t>
            </a:r>
            <a:r>
              <a:rPr sz="400" dirty="0" err="1">
                <a:latin typeface="Courier"/>
              </a:rPr>
              <a:t>maketitle</a:t>
            </a:r>
            <a:r>
              <a:rPr sz="400" dirty="0">
                <a:latin typeface="Courier"/>
              </a:rPr>
              <a:t>
% </a:t>
            </a:r>
            <a:r>
              <a:rPr sz="400" dirty="0" err="1">
                <a:latin typeface="Courier"/>
              </a:rPr>
              <a:t>Содержимое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постера</a:t>
            </a:r>
            <a:r>
              <a:rPr sz="400" dirty="0">
                <a:latin typeface="Courier"/>
              </a:rPr>
              <a:t>
\end{document}</a:t>
            </a:r>
          </a:p>
          <a:p>
            <a:pPr marL="0" lvl="0" indent="0">
              <a:buNone/>
            </a:pPr>
            <a:r>
              <a:rPr sz="400" dirty="0" err="1"/>
              <a:t>Пример</a:t>
            </a:r>
            <a:r>
              <a:rPr sz="400" dirty="0"/>
              <a:t> </a:t>
            </a:r>
            <a:r>
              <a:rPr sz="400" dirty="0" err="1"/>
              <a:t>содержимого</a:t>
            </a:r>
            <a:r>
              <a:rPr sz="400" dirty="0"/>
              <a:t> </a:t>
            </a:r>
            <a:r>
              <a:rPr sz="400" dirty="0" err="1"/>
              <a:t>постера</a:t>
            </a:r>
            <a:r>
              <a:rPr sz="400" dirty="0"/>
              <a:t> (1/2)</a:t>
            </a:r>
          </a:p>
          <a:p>
            <a:pPr lvl="0" indent="0">
              <a:buNone/>
            </a:pPr>
            <a:r>
              <a:rPr sz="400" dirty="0">
                <a:latin typeface="Courier"/>
              </a:rPr>
              <a:t>\begin{columns}
  \column{.5}
  \block{</a:t>
            </a:r>
            <a:r>
              <a:rPr sz="400" dirty="0" err="1">
                <a:latin typeface="Courier"/>
              </a:rPr>
              <a:t>Введение</a:t>
            </a:r>
            <a:r>
              <a:rPr sz="400" dirty="0">
                <a:latin typeface="Courier"/>
              </a:rPr>
              <a:t>}{
    </a:t>
            </a:r>
            <a:r>
              <a:rPr sz="400" dirty="0" err="1">
                <a:latin typeface="Courier"/>
              </a:rPr>
              <a:t>Краткое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описание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проблемы</a:t>
            </a:r>
            <a:r>
              <a:rPr sz="400" dirty="0">
                <a:latin typeface="Courier"/>
              </a:rPr>
              <a:t> и </a:t>
            </a:r>
            <a:r>
              <a:rPr sz="400" dirty="0" err="1">
                <a:latin typeface="Courier"/>
              </a:rPr>
              <a:t>актуальности</a:t>
            </a:r>
            <a:r>
              <a:rPr sz="400" dirty="0">
                <a:latin typeface="Courier"/>
              </a:rPr>
              <a:t> 
    </a:t>
            </a:r>
            <a:r>
              <a:rPr sz="400" dirty="0" err="1">
                <a:latin typeface="Courier"/>
              </a:rPr>
              <a:t>исследования</a:t>
            </a:r>
            <a:r>
              <a:rPr sz="400" dirty="0">
                <a:latin typeface="Courier"/>
              </a:rPr>
              <a:t>. </a:t>
            </a:r>
            <a:r>
              <a:rPr sz="400" dirty="0" err="1">
                <a:latin typeface="Courier"/>
              </a:rPr>
              <a:t>Постановка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задачи</a:t>
            </a:r>
            <a:r>
              <a:rPr sz="400" dirty="0">
                <a:latin typeface="Courier"/>
              </a:rPr>
              <a:t>.
  }
  \block{</a:t>
            </a:r>
            <a:r>
              <a:rPr sz="400" dirty="0" err="1">
                <a:latin typeface="Courier"/>
              </a:rPr>
              <a:t>Методы</a:t>
            </a:r>
            <a:r>
              <a:rPr sz="400" dirty="0">
                <a:latin typeface="Courier"/>
              </a:rPr>
              <a:t>}{
    \begin{itemize}
      \item </a:t>
            </a:r>
            <a:r>
              <a:rPr sz="400" dirty="0" err="1">
                <a:latin typeface="Courier"/>
              </a:rPr>
              <a:t>Описание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используемых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методов</a:t>
            </a:r>
            <a:r>
              <a:rPr sz="400" dirty="0">
                <a:latin typeface="Courier"/>
              </a:rPr>
              <a:t>
      \item </a:t>
            </a:r>
            <a:r>
              <a:rPr sz="400" dirty="0" err="1">
                <a:latin typeface="Courier"/>
              </a:rPr>
              <a:t>Экспериментальная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установка</a:t>
            </a:r>
            <a:r>
              <a:rPr sz="400" dirty="0">
                <a:latin typeface="Courier"/>
              </a:rPr>
              <a:t>
      \item </a:t>
            </a:r>
            <a:r>
              <a:rPr sz="400" dirty="0" err="1">
                <a:latin typeface="Courier"/>
              </a:rPr>
              <a:t>Параметры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эксперимента</a:t>
            </a:r>
            <a:r>
              <a:rPr sz="400" dirty="0">
                <a:latin typeface="Courier"/>
              </a:rPr>
              <a:t>
    \end{itemize}
  }</a:t>
            </a:r>
          </a:p>
          <a:p>
            <a:pPr marL="0" lvl="0" indent="0">
              <a:buNone/>
            </a:pPr>
            <a:r>
              <a:rPr sz="400" dirty="0" err="1"/>
              <a:t>Пример</a:t>
            </a:r>
            <a:r>
              <a:rPr sz="400" dirty="0"/>
              <a:t> </a:t>
            </a:r>
            <a:r>
              <a:rPr sz="400" dirty="0" err="1"/>
              <a:t>содержимого</a:t>
            </a:r>
            <a:r>
              <a:rPr sz="400" dirty="0"/>
              <a:t> </a:t>
            </a:r>
            <a:r>
              <a:rPr sz="400" dirty="0" err="1"/>
              <a:t>постера</a:t>
            </a:r>
            <a:r>
              <a:rPr sz="400" dirty="0"/>
              <a:t> (2/2)</a:t>
            </a:r>
          </a:p>
          <a:p>
            <a:pPr lvl="0" indent="0">
              <a:buNone/>
            </a:pPr>
            <a:r>
              <a:rPr sz="400" dirty="0">
                <a:latin typeface="Courier"/>
              </a:rPr>
              <a:t>\column{.5}
  \block{</a:t>
            </a:r>
            <a:r>
              <a:rPr sz="400" dirty="0" err="1">
                <a:latin typeface="Courier"/>
              </a:rPr>
              <a:t>Результаты</a:t>
            </a:r>
            <a:r>
              <a:rPr sz="400" dirty="0">
                <a:latin typeface="Courier"/>
              </a:rPr>
              <a:t>}{
    \begin{center}
      \</a:t>
            </a:r>
            <a:r>
              <a:rPr sz="400" dirty="0" err="1">
                <a:latin typeface="Courier"/>
              </a:rPr>
              <a:t>includegraphics</a:t>
            </a:r>
            <a:r>
              <a:rPr sz="400" dirty="0">
                <a:latin typeface="Courier"/>
              </a:rPr>
              <a:t>[width=0.9\</a:t>
            </a:r>
            <a:r>
              <a:rPr sz="400" dirty="0" err="1">
                <a:latin typeface="Courier"/>
              </a:rPr>
              <a:t>textwidth</a:t>
            </a:r>
            <a:r>
              <a:rPr sz="400" dirty="0">
                <a:latin typeface="Courier"/>
              </a:rPr>
              <a:t>]{results.png}
      \</a:t>
            </a:r>
            <a:r>
              <a:rPr sz="400" dirty="0" err="1">
                <a:latin typeface="Courier"/>
              </a:rPr>
              <a:t>captionof</a:t>
            </a:r>
            <a:r>
              <a:rPr sz="400" dirty="0">
                <a:latin typeface="Courier"/>
              </a:rPr>
              <a:t>{figure}{</a:t>
            </a:r>
            <a:r>
              <a:rPr sz="400" dirty="0" err="1">
                <a:latin typeface="Courier"/>
              </a:rPr>
              <a:t>Основные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результаты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эксперимента</a:t>
            </a:r>
            <a:r>
              <a:rPr sz="400" dirty="0">
                <a:latin typeface="Courier"/>
              </a:rPr>
              <a:t>}
    \end{center}
  }
  \block{</a:t>
            </a:r>
            <a:r>
              <a:rPr sz="400" dirty="0" err="1">
                <a:latin typeface="Courier"/>
              </a:rPr>
              <a:t>Выводы</a:t>
            </a:r>
            <a:r>
              <a:rPr sz="400" dirty="0">
                <a:latin typeface="Courier"/>
              </a:rPr>
              <a:t>}{
    \begin{enumerate}
      \item </a:t>
            </a:r>
            <a:r>
              <a:rPr sz="400" dirty="0" err="1">
                <a:latin typeface="Courier"/>
              </a:rPr>
              <a:t>Первый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важный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вывод</a:t>
            </a:r>
            <a:r>
              <a:rPr sz="400" dirty="0">
                <a:latin typeface="Courier"/>
              </a:rPr>
              <a:t>
      \item </a:t>
            </a:r>
            <a:r>
              <a:rPr sz="400" dirty="0" err="1">
                <a:latin typeface="Courier"/>
              </a:rPr>
              <a:t>Второй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важный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вывод</a:t>
            </a:r>
            <a:r>
              <a:rPr sz="400" dirty="0">
                <a:latin typeface="Courier"/>
              </a:rPr>
              <a:t>
      \item </a:t>
            </a:r>
            <a:r>
              <a:rPr sz="400" dirty="0" err="1">
                <a:latin typeface="Courier"/>
              </a:rPr>
              <a:t>Перспективы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дальнейших</a:t>
            </a:r>
            <a:r>
              <a:rPr sz="400" dirty="0">
                <a:latin typeface="Courier"/>
              </a:rPr>
              <a:t> </a:t>
            </a:r>
            <a:r>
              <a:rPr sz="400" dirty="0" err="1">
                <a:latin typeface="Courier"/>
              </a:rPr>
              <a:t>исследований</a:t>
            </a:r>
            <a:r>
              <a:rPr sz="400" dirty="0">
                <a:latin typeface="Courier"/>
              </a:rPr>
              <a:t>
    \end{enumerate}
  }
\end{columns}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Практические рекомендации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lvl="0" indent="0">
              <a:buNone/>
            </a:pPr>
            <a:r>
              <a:rPr/>
              <a:t>Планирование структуры</a:t>
            </a:r>
          </a:p>
          <a:p>
            <a:pPr marL="0" lvl="0" indent="0">
              <a:buNone/>
            </a:pPr>
            <a:r>
              <a:rPr/>
              <a:t>Перед началом работы</a:t>
            </a:r>
          </a:p>
          <a:p>
            <a:pPr marL="342900" lvl="0" indent="-342900">
              <a:buAutoNum type="arabicPeriod"/>
            </a:pPr>
            <a:r>
              <a:rPr/>
              <a:t>Определите основные разделы постера</a:t>
            </a:r>
          </a:p>
          <a:p>
            <a:pPr marL="342900" lvl="0" indent="-342900">
              <a:buAutoNum type="arabicPeriod"/>
            </a:pPr>
            <a:r>
              <a:rPr/>
              <a:t>Спланируйте количество и ширину колонок</a:t>
            </a:r>
          </a:p>
          <a:p>
            <a:pPr marL="342900" lvl="0" indent="-342900">
              <a:buAutoNum type="arabicPeriod"/>
            </a:pPr>
            <a:r>
              <a:rPr/>
              <a:t>Оцените необходимое пространство для графиков</a:t>
            </a:r>
          </a:p>
          <a:p>
            <a:pPr marL="342900" lvl="0" indent="-342900">
              <a:buAutoNum type="arabicPeriod"/>
            </a:pPr>
            <a:r>
              <a:rPr/>
              <a:t>Продумайте цветовую схему</a:t>
            </a:r>
          </a:p>
          <a:p>
            <a:pPr marL="342900" lvl="0" indent="-342900">
              <a:buAutoNum type="arabicPeriod"/>
            </a:pPr>
            <a:r>
              <a:rPr/>
              <a:t>Подготовьте все изображения в нужном формате</a:t>
            </a:r>
          </a:p>
          <a:p>
            <a:pPr marL="0" lvl="0" indent="0">
              <a:buNone/>
            </a:pPr>
            <a:r>
              <a:rPr/>
              <a:t>Совет Нарисуйте эскиз постера на бумаге перед началом работы в LaTeX!</a:t>
            </a:r>
          </a:p>
          <a:p>
            <a:pPr marL="0" lvl="0" indent="0">
              <a:buNone/>
            </a:pPr>
            <a:r>
              <a:rPr/>
              <a:t>Оформление контента</a:t>
            </a:r>
          </a:p>
          <a:p>
            <a:pPr marL="0" lvl="0" indent="0">
              <a:buNone/>
            </a:pPr>
            <a:r>
              <a:rPr/>
              <a:t>0.5</a:t>
            </a:r>
          </a:p>
          <a:p>
            <a:pPr marL="0" lvl="0" indent="0">
              <a:buNone/>
            </a:pPr>
            <a:r>
              <a:rPr/>
              <a:t>Текст</a:t>
            </a:r>
          </a:p>
          <a:p>
            <a:pPr lvl="0"/>
            <a:r>
              <a:rPr/>
              <a:t>Краткие заголовки</a:t>
            </a:r>
          </a:p>
          <a:p>
            <a:pPr lvl="0"/>
            <a:r>
              <a:rPr/>
              <a:t>Минимум текста</a:t>
            </a:r>
          </a:p>
          <a:p>
            <a:pPr lvl="0"/>
            <a:r>
              <a:rPr/>
              <a:t>Крупный шрифт</a:t>
            </a:r>
          </a:p>
          <a:p>
            <a:pPr lvl="0"/>
            <a:r>
              <a:rPr/>
              <a:t>Структурированность</a:t>
            </a:r>
          </a:p>
          <a:p>
            <a:pPr marL="0" lvl="0" indent="0">
              <a:buNone/>
            </a:pPr>
            <a:r>
              <a:rPr/>
              <a:t>0.5</a:t>
            </a:r>
          </a:p>
          <a:p>
            <a:pPr marL="0" lvl="0" indent="0">
              <a:buNone/>
            </a:pPr>
            <a:r>
              <a:rPr/>
              <a:t>Визуализация</a:t>
            </a:r>
          </a:p>
          <a:p>
            <a:pPr lvl="0"/>
            <a:r>
              <a:rPr/>
              <a:t>Больше графиков</a:t>
            </a:r>
          </a:p>
          <a:p>
            <a:pPr lvl="0"/>
            <a:r>
              <a:rPr/>
              <a:t>Меньше таблиц</a:t>
            </a:r>
          </a:p>
          <a:p>
            <a:pPr lvl="0"/>
            <a:r>
              <a:rPr/>
              <a:t>Яркие цвета</a:t>
            </a:r>
          </a:p>
          <a:p>
            <a:pPr lvl="0"/>
            <a:r>
              <a:rPr/>
              <a:t>Понятные подписи</a:t>
            </a:r>
          </a:p>
          <a:p>
            <a:pPr marL="0" lvl="0" indent="0">
              <a:buNone/>
            </a:pPr>
            <a:r>
              <a:rPr/>
              <a:t>Правило «3 метра» Основная информация должна читаться с расстояния 3 метров</a:t>
            </a:r>
          </a:p>
          <a:p>
            <a:pPr marL="0" lvl="0" indent="0">
              <a:buNone/>
            </a:pPr>
            <a:r>
              <a:rPr/>
              <a:t>Типичные ошибки</a:t>
            </a:r>
          </a:p>
          <a:p>
            <a:pPr marL="0" lvl="0" indent="0">
              <a:buNone/>
            </a:pPr>
            <a:r>
              <a:rPr/>
              <a:t>Чего следует избегать</a:t>
            </a:r>
          </a:p>
          <a:p>
            <a:pPr lvl="0"/>
            <a:r>
              <a:rPr/>
              <a:t>Слишком много текста — постер превращается в статью</a:t>
            </a:r>
          </a:p>
          <a:p>
            <a:pPr lvl="0"/>
            <a:r>
              <a:rPr/>
              <a:t>Мелкий шрифт — информация нечитаема</a:t>
            </a:r>
          </a:p>
          <a:p>
            <a:pPr lvl="0"/>
            <a:r>
              <a:rPr/>
              <a:t>Слишком много цветов — пестрота и хаос</a:t>
            </a:r>
          </a:p>
          <a:p>
            <a:pPr lvl="0"/>
            <a:r>
              <a:rPr/>
              <a:t>Низкое качество изображений — непрофессиональный вид</a:t>
            </a:r>
          </a:p>
          <a:p>
            <a:pPr lvl="0"/>
            <a:r>
              <a:rPr/>
              <a:t>Отсутствие структуры — сложно следить за логикой</a:t>
            </a:r>
          </a:p>
          <a:p>
            <a:pPr lvl="0"/>
            <a:r>
              <a:rPr/>
              <a:t>Неправильные пропорции колонок — неэффективное использование пространства</a:t>
            </a:r>
          </a:p>
          <a:p>
            <a:pPr marL="0" lvl="0" indent="0">
              <a:buNone/>
            </a:pPr>
            <a:r>
              <a:rPr/>
              <a:t>Технические аспекты</a:t>
            </a:r>
          </a:p>
          <a:p>
            <a:pPr marL="0" lvl="0" indent="0">
              <a:buNone/>
            </a:pPr>
            <a:r>
              <a:rPr/>
              <a:t>Обязательные требования</a:t>
            </a:r>
          </a:p>
          <a:p>
            <a:pPr lvl="0"/>
            <a:r>
              <a:rPr/>
              <a:t>Подключить пакет </a:t>
            </a:r>
            <a:r>
              <a:rPr>
                <a:latin typeface="Courier"/>
              </a:rPr>
              <a:t>caption</a:t>
            </a:r>
            <a:r>
              <a:rPr/>
              <a:t> для работы с подписями</a:t>
            </a:r>
          </a:p>
          <a:p>
            <a:pPr lvl="0"/>
            <a:r>
              <a:rPr/>
              <a:t>Определить все используемые цвета в преамбуле</a:t>
            </a:r>
          </a:p>
          <a:p>
            <a:pPr lvl="0"/>
            <a:r>
              <a:rPr/>
              <a:t>Проверить сумму ширин колонок (должна быть ≈ 1.0)</a:t>
            </a:r>
          </a:p>
          <a:p>
            <a:pPr lvl="0"/>
            <a:r>
              <a:rPr/>
              <a:t>Использовать изображения в высоком разрешении</a:t>
            </a:r>
          </a:p>
          <a:p>
            <a:pPr lvl="0"/>
            <a:r>
              <a:rPr/>
              <a:t>Добавить </a:t>
            </a:r>
            <a:r>
              <a:rPr>
                <a:latin typeface="Courier"/>
              </a:rPr>
              <a:t>\vspace</a:t>
            </a:r>
            <a:r>
              <a:rPr/>
              <a:t> для заметок</a:t>
            </a:r>
          </a:p>
          <a:p>
            <a:pPr marL="0" lvl="0" indent="0">
              <a:buNone/>
            </a:pPr>
            <a:r>
              <a:rPr/>
              <a:t>Размеры постеров</a:t>
            </a:r>
          </a:p>
          <a:p>
            <a:pPr lvl="0"/>
            <a:r>
              <a:rPr/>
              <a:t>A0 — 841 × 1189 мм (стандарт для конференций)</a:t>
            </a:r>
          </a:p>
          <a:p>
            <a:pPr lvl="0"/>
            <a:r>
              <a:rPr/>
              <a:t>A1 — 594 × 841 мм (компактный вариант)</a:t>
            </a:r>
          </a:p>
          <a:p>
            <a:pPr lvl="0"/>
            <a:r>
              <a:rPr/>
              <a:t>Ориентация: portrait (вертикальная) или landscape (горизонтальная)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sz="400" dirty="0" err="1"/>
              <a:t>Освоенные</a:t>
            </a:r>
            <a:r>
              <a:rPr sz="400" dirty="0"/>
              <a:t> </a:t>
            </a:r>
            <a:r>
              <a:rPr sz="400" dirty="0" err="1"/>
              <a:t>навыки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 </a:t>
            </a:r>
            <a:r>
              <a:rPr sz="400" b="1" dirty="0" err="1"/>
              <a:t>Структурирование</a:t>
            </a:r>
            <a:r>
              <a:rPr sz="400" b="1" dirty="0"/>
              <a:t>:</a:t>
            </a:r>
          </a:p>
          <a:p>
            <a:pPr lvl="0"/>
            <a:r>
              <a:rPr sz="400" dirty="0" err="1"/>
              <a:t>Многоколоночные</a:t>
            </a:r>
            <a:r>
              <a:rPr sz="400" dirty="0"/>
              <a:t> </a:t>
            </a:r>
            <a:r>
              <a:rPr sz="400" dirty="0" err="1"/>
              <a:t>макеты</a:t>
            </a:r>
            <a:endParaRPr sz="400" dirty="0"/>
          </a:p>
          <a:p>
            <a:pPr lvl="0"/>
            <a:r>
              <a:rPr sz="400" dirty="0" err="1"/>
              <a:t>Блоки</a:t>
            </a:r>
            <a:r>
              <a:rPr sz="400" dirty="0"/>
              <a:t> </a:t>
            </a:r>
            <a:r>
              <a:rPr sz="400" dirty="0" err="1"/>
              <a:t>контента</a:t>
            </a:r>
            <a:endParaRPr sz="400" dirty="0"/>
          </a:p>
          <a:p>
            <a:pPr lvl="0"/>
            <a:r>
              <a:rPr sz="400" dirty="0" err="1"/>
              <a:t>Заметки</a:t>
            </a:r>
            <a:r>
              <a:rPr sz="400" dirty="0"/>
              <a:t> и </a:t>
            </a:r>
            <a:r>
              <a:rPr sz="400" dirty="0" err="1"/>
              <a:t>аннотации</a:t>
            </a:r>
            <a:endParaRPr sz="400" dirty="0"/>
          </a:p>
          <a:p>
            <a:pPr marL="0" lvl="0" indent="0">
              <a:buNone/>
            </a:pPr>
            <a:r>
              <a:rPr sz="400" b="1" dirty="0" err="1"/>
              <a:t>Оформление</a:t>
            </a:r>
            <a:r>
              <a:rPr sz="400" b="1" dirty="0"/>
              <a:t>:</a:t>
            </a:r>
          </a:p>
          <a:p>
            <a:pPr lvl="0"/>
            <a:r>
              <a:rPr sz="400" dirty="0" err="1"/>
              <a:t>Цветовые</a:t>
            </a:r>
            <a:r>
              <a:rPr sz="400" dirty="0"/>
              <a:t> </a:t>
            </a:r>
            <a:r>
              <a:rPr sz="400" dirty="0" err="1"/>
              <a:t>схемы</a:t>
            </a:r>
            <a:endParaRPr sz="400" dirty="0"/>
          </a:p>
          <a:p>
            <a:pPr lvl="0"/>
            <a:r>
              <a:rPr sz="400" dirty="0" err="1"/>
              <a:t>Пользовательские</a:t>
            </a:r>
            <a:r>
              <a:rPr sz="400" dirty="0"/>
              <a:t> </a:t>
            </a:r>
            <a:r>
              <a:rPr sz="400" dirty="0" err="1"/>
              <a:t>цвета</a:t>
            </a:r>
            <a:endParaRPr sz="400" dirty="0"/>
          </a:p>
          <a:p>
            <a:pPr lvl="0"/>
            <a:r>
              <a:rPr sz="400" dirty="0" err="1"/>
              <a:t>Форматирование</a:t>
            </a:r>
            <a:r>
              <a:rPr sz="400" dirty="0"/>
              <a:t> </a:t>
            </a:r>
            <a:r>
              <a:rPr sz="400" dirty="0" err="1"/>
              <a:t>текста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 </a:t>
            </a:r>
            <a:r>
              <a:rPr sz="400" b="1" dirty="0" err="1"/>
              <a:t>Графика</a:t>
            </a:r>
            <a:r>
              <a:rPr sz="400" b="1" dirty="0"/>
              <a:t>:</a:t>
            </a:r>
          </a:p>
          <a:p>
            <a:pPr lvl="0"/>
            <a:r>
              <a:rPr sz="400" dirty="0" err="1"/>
              <a:t>Растровые</a:t>
            </a:r>
            <a:r>
              <a:rPr sz="400" dirty="0"/>
              <a:t> </a:t>
            </a:r>
            <a:r>
              <a:rPr sz="400" dirty="0" err="1"/>
              <a:t>изображения</a:t>
            </a:r>
            <a:endParaRPr sz="400" dirty="0"/>
          </a:p>
          <a:p>
            <a:pPr lvl="0"/>
            <a:r>
              <a:rPr sz="400" dirty="0" err="1"/>
              <a:t>Векторная</a:t>
            </a:r>
            <a:r>
              <a:rPr sz="400" dirty="0"/>
              <a:t> </a:t>
            </a:r>
            <a:r>
              <a:rPr sz="400" dirty="0" err="1"/>
              <a:t>графика</a:t>
            </a:r>
            <a:r>
              <a:rPr sz="400" dirty="0"/>
              <a:t> </a:t>
            </a:r>
            <a:r>
              <a:rPr sz="400" dirty="0" err="1"/>
              <a:t>TikZ</a:t>
            </a:r>
            <a:endParaRPr sz="400" dirty="0"/>
          </a:p>
          <a:p>
            <a:pPr lvl="0"/>
            <a:r>
              <a:rPr sz="400" dirty="0" err="1"/>
              <a:t>Подписи</a:t>
            </a:r>
            <a:r>
              <a:rPr sz="400" dirty="0"/>
              <a:t> к </a:t>
            </a:r>
            <a:r>
              <a:rPr sz="400" dirty="0" err="1"/>
              <a:t>рисункам</a:t>
            </a:r>
            <a:endParaRPr sz="400" dirty="0"/>
          </a:p>
          <a:p>
            <a:pPr marL="0" lvl="0" indent="0">
              <a:buNone/>
            </a:pPr>
            <a:r>
              <a:rPr sz="400" b="1" dirty="0" err="1"/>
              <a:t>Техническое</a:t>
            </a:r>
            <a:r>
              <a:rPr sz="400" b="1" dirty="0"/>
              <a:t>:</a:t>
            </a:r>
          </a:p>
          <a:p>
            <a:pPr lvl="0"/>
            <a:r>
              <a:rPr sz="400" dirty="0" err="1"/>
              <a:t>Работа</a:t>
            </a:r>
            <a:r>
              <a:rPr sz="400" dirty="0"/>
              <a:t> с </a:t>
            </a:r>
            <a:r>
              <a:rPr sz="400" dirty="0" err="1"/>
              <a:t>пакетами</a:t>
            </a:r>
            <a:endParaRPr sz="400" dirty="0"/>
          </a:p>
          <a:p>
            <a:pPr lvl="0"/>
            <a:r>
              <a:rPr sz="400" dirty="0" err="1"/>
              <a:t>Настройка</a:t>
            </a:r>
            <a:r>
              <a:rPr sz="400" dirty="0"/>
              <a:t> </a:t>
            </a:r>
            <a:r>
              <a:rPr sz="400" dirty="0" err="1"/>
              <a:t>параметров</a:t>
            </a:r>
            <a:endParaRPr sz="400" dirty="0"/>
          </a:p>
          <a:p>
            <a:pPr lvl="0"/>
            <a:r>
              <a:rPr sz="400" dirty="0" err="1"/>
              <a:t>Решение</a:t>
            </a:r>
            <a:r>
              <a:rPr sz="400" dirty="0"/>
              <a:t> </a:t>
            </a:r>
            <a:r>
              <a:rPr sz="400" dirty="0" err="1"/>
              <a:t>проблем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Преимущества</a:t>
            </a:r>
            <a:r>
              <a:rPr sz="400" dirty="0"/>
              <a:t> </a:t>
            </a:r>
            <a:r>
              <a:rPr sz="400" dirty="0" err="1"/>
              <a:t>tikzposter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Почему</a:t>
            </a:r>
            <a:r>
              <a:rPr sz="400" dirty="0"/>
              <a:t> </a:t>
            </a:r>
            <a:r>
              <a:rPr sz="400" dirty="0" err="1"/>
              <a:t>стоит</a:t>
            </a:r>
            <a:r>
              <a:rPr sz="400" dirty="0"/>
              <a:t> </a:t>
            </a:r>
            <a:r>
              <a:rPr sz="400" dirty="0" err="1"/>
              <a:t>использовать</a:t>
            </a:r>
            <a:r>
              <a:rPr sz="400" dirty="0"/>
              <a:t> </a:t>
            </a:r>
            <a:r>
              <a:rPr sz="400" dirty="0" err="1"/>
              <a:t>tikzposter</a:t>
            </a:r>
            <a:r>
              <a:rPr sz="400" dirty="0"/>
              <a:t>?</a:t>
            </a:r>
          </a:p>
          <a:p>
            <a:pPr marL="342900" lvl="0" indent="-342900">
              <a:buAutoNum type="arabicPeriod"/>
            </a:pPr>
            <a:r>
              <a:rPr sz="400" b="1" dirty="0" err="1"/>
              <a:t>Профессиональное</a:t>
            </a:r>
            <a:r>
              <a:rPr sz="400" b="1" dirty="0"/>
              <a:t> </a:t>
            </a:r>
            <a:r>
              <a:rPr sz="400" b="1" dirty="0" err="1"/>
              <a:t>оформление</a:t>
            </a:r>
            <a:r>
              <a:rPr sz="400" dirty="0"/>
              <a:t> — </a:t>
            </a:r>
            <a:r>
              <a:rPr sz="400" dirty="0" err="1"/>
              <a:t>без</a:t>
            </a:r>
            <a:r>
              <a:rPr sz="400" dirty="0"/>
              <a:t> </a:t>
            </a:r>
            <a:r>
              <a:rPr sz="400" dirty="0" err="1"/>
              <a:t>графических</a:t>
            </a:r>
            <a:r>
              <a:rPr sz="400" dirty="0"/>
              <a:t> </a:t>
            </a:r>
            <a:r>
              <a:rPr sz="400" dirty="0" err="1"/>
              <a:t>редакторов</a:t>
            </a:r>
            <a:endParaRPr sz="400" dirty="0"/>
          </a:p>
          <a:p>
            <a:pPr marL="342900" lvl="0" indent="-342900">
              <a:buAutoNum type="arabicPeriod"/>
            </a:pPr>
            <a:r>
              <a:rPr sz="400" b="1" dirty="0" err="1"/>
              <a:t>Гибкость</a:t>
            </a:r>
            <a:r>
              <a:rPr sz="400" dirty="0"/>
              <a:t> — </a:t>
            </a:r>
            <a:r>
              <a:rPr sz="400" dirty="0" err="1"/>
              <a:t>полный</a:t>
            </a:r>
            <a:r>
              <a:rPr sz="400" dirty="0"/>
              <a:t> </a:t>
            </a:r>
            <a:r>
              <a:rPr sz="400" dirty="0" err="1"/>
              <a:t>контроль</a:t>
            </a:r>
            <a:r>
              <a:rPr sz="400" dirty="0"/>
              <a:t> </a:t>
            </a:r>
            <a:r>
              <a:rPr sz="400" dirty="0" err="1"/>
              <a:t>над</a:t>
            </a:r>
            <a:r>
              <a:rPr sz="400" dirty="0"/>
              <a:t> </a:t>
            </a:r>
            <a:r>
              <a:rPr sz="400" dirty="0" err="1"/>
              <a:t>структурой</a:t>
            </a:r>
            <a:r>
              <a:rPr sz="400" dirty="0"/>
              <a:t> и </a:t>
            </a:r>
            <a:r>
              <a:rPr sz="400" dirty="0" err="1"/>
              <a:t>дизайном</a:t>
            </a:r>
            <a:endParaRPr sz="400" dirty="0"/>
          </a:p>
          <a:p>
            <a:pPr marL="342900" lvl="0" indent="-342900">
              <a:buAutoNum type="arabicPeriod"/>
            </a:pPr>
            <a:r>
              <a:rPr sz="400" b="1" dirty="0" err="1"/>
              <a:t>Интеграция</a:t>
            </a:r>
            <a:r>
              <a:rPr sz="400" dirty="0"/>
              <a:t> — </a:t>
            </a:r>
            <a:r>
              <a:rPr sz="400" dirty="0" err="1"/>
              <a:t>работает</a:t>
            </a:r>
            <a:r>
              <a:rPr sz="400" dirty="0"/>
              <a:t> </a:t>
            </a:r>
            <a:r>
              <a:rPr sz="400" dirty="0" err="1"/>
              <a:t>со</a:t>
            </a:r>
            <a:r>
              <a:rPr sz="400" dirty="0"/>
              <a:t> </a:t>
            </a:r>
            <a:r>
              <a:rPr sz="400" dirty="0" err="1"/>
              <a:t>всеми</a:t>
            </a:r>
            <a:r>
              <a:rPr sz="400" dirty="0"/>
              <a:t> </a:t>
            </a:r>
            <a:r>
              <a:rPr sz="400" dirty="0" err="1"/>
              <a:t>пакетами</a:t>
            </a:r>
            <a:r>
              <a:rPr sz="400" dirty="0"/>
              <a:t> </a:t>
            </a:r>
            <a:r>
              <a:rPr sz="400" dirty="0" err="1"/>
              <a:t>LaTeX</a:t>
            </a:r>
            <a:endParaRPr sz="400" dirty="0"/>
          </a:p>
          <a:p>
            <a:pPr marL="342900" lvl="0" indent="-342900">
              <a:buAutoNum type="arabicPeriod"/>
            </a:pPr>
            <a:r>
              <a:rPr sz="400" b="1" dirty="0" err="1"/>
              <a:t>Масштабируемость</a:t>
            </a:r>
            <a:r>
              <a:rPr sz="400" dirty="0"/>
              <a:t> — </a:t>
            </a:r>
            <a:r>
              <a:rPr sz="400" dirty="0" err="1"/>
              <a:t>легко</a:t>
            </a:r>
            <a:r>
              <a:rPr sz="400" dirty="0"/>
              <a:t> </a:t>
            </a:r>
            <a:r>
              <a:rPr sz="400" dirty="0" err="1"/>
              <a:t>изменить</a:t>
            </a:r>
            <a:r>
              <a:rPr sz="400" dirty="0"/>
              <a:t> </a:t>
            </a:r>
            <a:r>
              <a:rPr sz="400" dirty="0" err="1"/>
              <a:t>размер</a:t>
            </a:r>
            <a:r>
              <a:rPr sz="400" dirty="0"/>
              <a:t> </a:t>
            </a:r>
            <a:r>
              <a:rPr sz="400" dirty="0" err="1"/>
              <a:t>постера</a:t>
            </a:r>
            <a:endParaRPr sz="400" dirty="0"/>
          </a:p>
          <a:p>
            <a:pPr marL="342900" lvl="0" indent="-342900">
              <a:buAutoNum type="arabicPeriod"/>
            </a:pPr>
            <a:r>
              <a:rPr sz="400" b="1" dirty="0" err="1"/>
              <a:t>Воспроизводимость</a:t>
            </a:r>
            <a:r>
              <a:rPr sz="400" dirty="0"/>
              <a:t> — </a:t>
            </a:r>
            <a:r>
              <a:rPr sz="400" dirty="0" err="1"/>
              <a:t>легко</a:t>
            </a:r>
            <a:r>
              <a:rPr sz="400" dirty="0"/>
              <a:t> </a:t>
            </a:r>
            <a:r>
              <a:rPr sz="400" dirty="0" err="1"/>
              <a:t>обновлять</a:t>
            </a:r>
            <a:r>
              <a:rPr sz="400" dirty="0"/>
              <a:t> и </a:t>
            </a:r>
            <a:r>
              <a:rPr sz="400" dirty="0" err="1"/>
              <a:t>модифицировать</a:t>
            </a:r>
            <a:endParaRPr sz="400" dirty="0"/>
          </a:p>
          <a:p>
            <a:pPr marL="342900" lvl="0" indent="-342900">
              <a:buAutoNum type="arabicPeriod"/>
            </a:pPr>
            <a:r>
              <a:rPr sz="400" b="1" dirty="0" err="1"/>
              <a:t>Качество</a:t>
            </a:r>
            <a:r>
              <a:rPr sz="400" dirty="0"/>
              <a:t> — </a:t>
            </a:r>
            <a:r>
              <a:rPr sz="400" dirty="0" err="1"/>
              <a:t>векторная</a:t>
            </a:r>
            <a:r>
              <a:rPr sz="400" dirty="0"/>
              <a:t> </a:t>
            </a:r>
            <a:r>
              <a:rPr sz="400" dirty="0" err="1"/>
              <a:t>графика</a:t>
            </a:r>
            <a:r>
              <a:rPr sz="400" dirty="0"/>
              <a:t> </a:t>
            </a: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печати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Области</a:t>
            </a:r>
            <a:r>
              <a:rPr sz="400" dirty="0"/>
              <a:t> </a:t>
            </a:r>
            <a:r>
              <a:rPr sz="400" dirty="0" err="1"/>
              <a:t>применения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</a:t>
            </a:r>
          </a:p>
          <a:p>
            <a:pPr marL="0" lvl="0" indent="0">
              <a:buNone/>
            </a:pPr>
            <a:r>
              <a:rPr sz="400" dirty="0" err="1"/>
              <a:t>Научная</a:t>
            </a:r>
            <a:r>
              <a:rPr sz="400" dirty="0"/>
              <a:t> </a:t>
            </a:r>
            <a:r>
              <a:rPr sz="400" dirty="0" err="1"/>
              <a:t>сфера</a:t>
            </a:r>
            <a:endParaRPr sz="400" dirty="0"/>
          </a:p>
          <a:p>
            <a:pPr lvl="0"/>
            <a:r>
              <a:rPr sz="400" dirty="0" err="1"/>
              <a:t>Конференции</a:t>
            </a:r>
            <a:endParaRPr sz="400" dirty="0"/>
          </a:p>
          <a:p>
            <a:pPr lvl="0"/>
            <a:r>
              <a:rPr sz="400" dirty="0" err="1"/>
              <a:t>Симпозиумы</a:t>
            </a:r>
            <a:endParaRPr sz="400" dirty="0"/>
          </a:p>
          <a:p>
            <a:pPr lvl="0"/>
            <a:r>
              <a:rPr sz="400" dirty="0" err="1"/>
              <a:t>Семинары</a:t>
            </a:r>
            <a:endParaRPr sz="400" dirty="0"/>
          </a:p>
          <a:p>
            <a:pPr lvl="0"/>
            <a:r>
              <a:rPr sz="400" dirty="0" err="1"/>
              <a:t>Защиты</a:t>
            </a:r>
            <a:r>
              <a:rPr sz="400" dirty="0"/>
              <a:t> </a:t>
            </a:r>
            <a:r>
              <a:rPr sz="400" dirty="0" err="1"/>
              <a:t>диссертаций</a:t>
            </a:r>
            <a:endParaRPr sz="400" dirty="0"/>
          </a:p>
          <a:p>
            <a:pPr marL="0" lvl="0" indent="0">
              <a:buNone/>
            </a:pPr>
            <a:r>
              <a:rPr sz="400" dirty="0"/>
              <a:t>0.5</a:t>
            </a:r>
          </a:p>
          <a:p>
            <a:pPr marL="0" lvl="0" indent="0">
              <a:buNone/>
            </a:pPr>
            <a:r>
              <a:rPr sz="400" dirty="0" err="1"/>
              <a:t>Образование</a:t>
            </a:r>
            <a:endParaRPr sz="400" dirty="0"/>
          </a:p>
          <a:p>
            <a:pPr lvl="0"/>
            <a:r>
              <a:rPr sz="400" dirty="0" err="1"/>
              <a:t>Курсовые</a:t>
            </a:r>
            <a:r>
              <a:rPr sz="400" dirty="0"/>
              <a:t> </a:t>
            </a:r>
            <a:r>
              <a:rPr sz="400" dirty="0" err="1"/>
              <a:t>работы</a:t>
            </a:r>
            <a:endParaRPr sz="400" dirty="0"/>
          </a:p>
          <a:p>
            <a:pPr lvl="0"/>
            <a:r>
              <a:rPr sz="400" dirty="0" err="1"/>
              <a:t>Дипломные</a:t>
            </a:r>
            <a:r>
              <a:rPr sz="400" dirty="0"/>
              <a:t> </a:t>
            </a:r>
            <a:r>
              <a:rPr sz="400" dirty="0" err="1"/>
              <a:t>проекты</a:t>
            </a:r>
            <a:endParaRPr sz="400" dirty="0"/>
          </a:p>
          <a:p>
            <a:pPr lvl="0"/>
            <a:r>
              <a:rPr sz="400" dirty="0" err="1"/>
              <a:t>Студенческие</a:t>
            </a:r>
            <a:r>
              <a:rPr sz="400" dirty="0"/>
              <a:t> </a:t>
            </a:r>
            <a:r>
              <a:rPr sz="400" dirty="0" err="1"/>
              <a:t>конференции</a:t>
            </a:r>
            <a:endParaRPr sz="400" dirty="0"/>
          </a:p>
          <a:p>
            <a:pPr lvl="0"/>
            <a:r>
              <a:rPr sz="400" dirty="0" err="1"/>
              <a:t>Научные</a:t>
            </a:r>
            <a:r>
              <a:rPr sz="400" dirty="0"/>
              <a:t> </a:t>
            </a:r>
            <a:r>
              <a:rPr sz="400" dirty="0" err="1"/>
              <a:t>кружки</a:t>
            </a:r>
            <a:endParaRPr sz="400" dirty="0"/>
          </a:p>
          <a:p>
            <a:pPr marL="0" lvl="0" indent="0">
              <a:buNone/>
            </a:pPr>
            <a:r>
              <a:rPr sz="400" b="1" dirty="0" err="1"/>
              <a:t>tikzposter</a:t>
            </a:r>
            <a:r>
              <a:rPr sz="400" b="1" dirty="0"/>
              <a:t> — </a:t>
            </a:r>
            <a:r>
              <a:rPr sz="400" b="1" dirty="0" err="1"/>
              <a:t>мощный</a:t>
            </a:r>
            <a:r>
              <a:rPr sz="400" b="1" dirty="0"/>
              <a:t> </a:t>
            </a:r>
            <a:r>
              <a:rPr sz="400" b="1" dirty="0" err="1"/>
              <a:t>инструмент</a:t>
            </a:r>
            <a:r>
              <a:rPr sz="400" b="1" dirty="0"/>
              <a:t> </a:t>
            </a:r>
            <a:r>
              <a:rPr sz="400" b="1" dirty="0" err="1"/>
              <a:t>для</a:t>
            </a:r>
            <a:r>
              <a:rPr sz="400" dirty="0"/>
              <a:t/>
            </a:r>
            <a:br>
              <a:rPr sz="400" dirty="0"/>
            </a:br>
            <a:r>
              <a:rPr sz="400" b="1" dirty="0" err="1"/>
              <a:t>визуализации</a:t>
            </a:r>
            <a:r>
              <a:rPr sz="400" b="1" dirty="0"/>
              <a:t> </a:t>
            </a:r>
            <a:r>
              <a:rPr sz="400" b="1" dirty="0" err="1"/>
              <a:t>научных</a:t>
            </a:r>
            <a:r>
              <a:rPr sz="400" b="1" dirty="0"/>
              <a:t> </a:t>
            </a:r>
            <a:r>
              <a:rPr sz="400" b="1" dirty="0" err="1"/>
              <a:t>результатов</a:t>
            </a:r>
            <a:r>
              <a:rPr sz="400" b="1" dirty="0"/>
              <a:t>!</a:t>
            </a:r>
          </a:p>
          <a:p>
            <a:pPr marL="0" lvl="0" indent="0">
              <a:buNone/>
            </a:pPr>
            <a:r>
              <a:rPr sz="400" dirty="0" err="1"/>
              <a:t>Дальнейшее</a:t>
            </a:r>
            <a:r>
              <a:rPr sz="400" dirty="0"/>
              <a:t> </a:t>
            </a:r>
            <a:r>
              <a:rPr sz="400" dirty="0" err="1"/>
              <a:t>изучение</a:t>
            </a:r>
            <a:endParaRPr sz="400" dirty="0"/>
          </a:p>
          <a:p>
            <a:pPr marL="0" lvl="0" indent="0">
              <a:buNone/>
            </a:pPr>
            <a:r>
              <a:rPr sz="400" dirty="0" err="1"/>
              <a:t>Рекомендуемые</a:t>
            </a:r>
            <a:r>
              <a:rPr sz="400" dirty="0"/>
              <a:t> </a:t>
            </a:r>
            <a:r>
              <a:rPr sz="400" dirty="0" err="1"/>
              <a:t>ресурсы</a:t>
            </a:r>
            <a:endParaRPr sz="400" dirty="0"/>
          </a:p>
          <a:p>
            <a:pPr lvl="0"/>
            <a:r>
              <a:rPr sz="400" dirty="0" err="1"/>
              <a:t>Официальная</a:t>
            </a:r>
            <a:r>
              <a:rPr sz="400" dirty="0"/>
              <a:t> </a:t>
            </a:r>
            <a:r>
              <a:rPr sz="400" dirty="0" err="1"/>
              <a:t>документация</a:t>
            </a:r>
            <a:r>
              <a:rPr sz="400" dirty="0"/>
              <a:t> </a:t>
            </a:r>
            <a:r>
              <a:rPr sz="400" dirty="0" err="1"/>
              <a:t>tikzposter</a:t>
            </a:r>
            <a:endParaRPr sz="400" dirty="0"/>
          </a:p>
          <a:p>
            <a:pPr lvl="0"/>
            <a:r>
              <a:rPr sz="400" dirty="0" err="1"/>
              <a:t>Галерея</a:t>
            </a:r>
            <a:r>
              <a:rPr sz="400" dirty="0"/>
              <a:t> </a:t>
            </a:r>
            <a:r>
              <a:rPr sz="400" dirty="0" err="1"/>
              <a:t>примеров</a:t>
            </a:r>
            <a:r>
              <a:rPr sz="400" dirty="0"/>
              <a:t> </a:t>
            </a:r>
            <a:r>
              <a:rPr sz="400" dirty="0" err="1"/>
              <a:t>на</a:t>
            </a:r>
            <a:r>
              <a:rPr sz="400" dirty="0"/>
              <a:t> Overleaf</a:t>
            </a:r>
          </a:p>
          <a:p>
            <a:pPr lvl="0"/>
            <a:r>
              <a:rPr sz="400" dirty="0" err="1"/>
              <a:t>Сообщество</a:t>
            </a:r>
            <a:r>
              <a:rPr sz="400" dirty="0"/>
              <a:t> </a:t>
            </a:r>
            <a:r>
              <a:rPr sz="400" dirty="0" err="1"/>
              <a:t>TeX</a:t>
            </a:r>
            <a:r>
              <a:rPr sz="400" dirty="0"/>
              <a:t> Stack Exchange</a:t>
            </a:r>
          </a:p>
          <a:p>
            <a:pPr lvl="0"/>
            <a:r>
              <a:rPr sz="400" dirty="0" err="1"/>
              <a:t>Книга</a:t>
            </a:r>
            <a:r>
              <a:rPr sz="400" dirty="0"/>
              <a:t> «The </a:t>
            </a:r>
            <a:r>
              <a:rPr sz="400" dirty="0" err="1"/>
              <a:t>TikZ</a:t>
            </a:r>
            <a:r>
              <a:rPr sz="400" dirty="0"/>
              <a:t> and PGF Manual»</a:t>
            </a:r>
          </a:p>
          <a:p>
            <a:pPr marL="0" lvl="0" indent="0">
              <a:buNone/>
            </a:pPr>
            <a:r>
              <a:rPr sz="400" dirty="0" err="1"/>
              <a:t>Дополнительные</a:t>
            </a:r>
            <a:r>
              <a:rPr sz="400" dirty="0"/>
              <a:t> </a:t>
            </a:r>
            <a:r>
              <a:rPr sz="400" dirty="0" err="1"/>
              <a:t>возможности</a:t>
            </a:r>
            <a:r>
              <a:rPr sz="400" dirty="0"/>
              <a:t> </a:t>
            </a:r>
            <a:r>
              <a:rPr sz="400" dirty="0" err="1"/>
              <a:t>для</a:t>
            </a:r>
            <a:r>
              <a:rPr sz="400" dirty="0"/>
              <a:t> </a:t>
            </a:r>
            <a:r>
              <a:rPr sz="400" dirty="0" err="1"/>
              <a:t>изучения</a:t>
            </a:r>
            <a:endParaRPr sz="400" dirty="0"/>
          </a:p>
          <a:p>
            <a:pPr lvl="0"/>
            <a:r>
              <a:rPr sz="400" dirty="0" err="1"/>
              <a:t>Создание</a:t>
            </a:r>
            <a:r>
              <a:rPr sz="400" dirty="0"/>
              <a:t> </a:t>
            </a:r>
            <a:r>
              <a:rPr sz="400" dirty="0" err="1"/>
              <a:t>собственных</a:t>
            </a:r>
            <a:r>
              <a:rPr sz="400" dirty="0"/>
              <a:t> </a:t>
            </a:r>
            <a:r>
              <a:rPr sz="400" dirty="0" err="1"/>
              <a:t>тем</a:t>
            </a:r>
            <a:r>
              <a:rPr sz="400" dirty="0"/>
              <a:t> </a:t>
            </a:r>
            <a:r>
              <a:rPr sz="400" dirty="0" err="1"/>
              <a:t>оформления</a:t>
            </a:r>
            <a:endParaRPr sz="400" dirty="0"/>
          </a:p>
          <a:p>
            <a:pPr lvl="0"/>
            <a:r>
              <a:rPr sz="400" dirty="0" err="1"/>
              <a:t>Продвинутая</a:t>
            </a:r>
            <a:r>
              <a:rPr sz="400" dirty="0"/>
              <a:t> </a:t>
            </a:r>
            <a:r>
              <a:rPr sz="400" dirty="0" err="1"/>
              <a:t>работа</a:t>
            </a:r>
            <a:r>
              <a:rPr sz="400" dirty="0"/>
              <a:t> с </a:t>
            </a:r>
            <a:r>
              <a:rPr sz="400" dirty="0" err="1"/>
              <a:t>TikZ</a:t>
            </a:r>
            <a:endParaRPr sz="400" dirty="0"/>
          </a:p>
          <a:p>
            <a:pPr lvl="0"/>
            <a:r>
              <a:rPr sz="400" dirty="0" err="1"/>
              <a:t>Интеграция</a:t>
            </a:r>
            <a:r>
              <a:rPr sz="400" dirty="0"/>
              <a:t> с </a:t>
            </a:r>
            <a:r>
              <a:rPr sz="400" dirty="0" err="1"/>
              <a:t>другими</a:t>
            </a:r>
            <a:r>
              <a:rPr sz="400" dirty="0"/>
              <a:t> </a:t>
            </a:r>
            <a:r>
              <a:rPr sz="400" dirty="0" err="1"/>
              <a:t>пакетами</a:t>
            </a:r>
            <a:r>
              <a:rPr sz="400" dirty="0"/>
              <a:t> (</a:t>
            </a:r>
            <a:r>
              <a:rPr sz="400" dirty="0" err="1"/>
              <a:t>pgfplots</a:t>
            </a:r>
            <a:r>
              <a:rPr sz="400" dirty="0"/>
              <a:t>, </a:t>
            </a:r>
            <a:r>
              <a:rPr sz="400" dirty="0" err="1"/>
              <a:t>circuitikz</a:t>
            </a:r>
            <a:r>
              <a:rPr sz="400" dirty="0"/>
              <a:t>)</a:t>
            </a:r>
          </a:p>
          <a:p>
            <a:pPr lvl="0"/>
            <a:r>
              <a:rPr sz="400" dirty="0" err="1"/>
              <a:t>Автоматизация</a:t>
            </a:r>
            <a:r>
              <a:rPr sz="400" dirty="0"/>
              <a:t> </a:t>
            </a:r>
            <a:r>
              <a:rPr sz="400" dirty="0" err="1"/>
              <a:t>создания</a:t>
            </a:r>
            <a:r>
              <a:rPr sz="400" dirty="0"/>
              <a:t> </a:t>
            </a:r>
            <a:r>
              <a:rPr sz="400" dirty="0" err="1"/>
              <a:t>постеров</a:t>
            </a:r>
            <a:endParaRPr sz="400" dirty="0"/>
          </a:p>
          <a:p>
            <a:pPr marL="0" lvl="0" indent="0">
              <a:buNone/>
            </a:pPr>
            <a:r>
              <a:rPr sz="400" b="1" dirty="0" err="1"/>
              <a:t>Спасибо</a:t>
            </a:r>
            <a:r>
              <a:rPr sz="400" b="1" dirty="0"/>
              <a:t> </a:t>
            </a:r>
            <a:r>
              <a:rPr sz="400" b="1" dirty="0" err="1"/>
              <a:t>за</a:t>
            </a:r>
            <a:r>
              <a:rPr sz="400" b="1" dirty="0"/>
              <a:t> </a:t>
            </a:r>
            <a:r>
              <a:rPr sz="400" b="1" dirty="0" err="1"/>
              <a:t>внимание</a:t>
            </a:r>
            <a:r>
              <a:rPr sz="400" b="1" dirty="0"/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530</Words>
  <Application>Microsoft Office PowerPoint</Application>
  <PresentationFormat>Экран (16:9)</PresentationFormat>
  <Paragraphs>243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</vt:lpstr>
      <vt:lpstr>Office Theme</vt:lpstr>
      <vt:lpstr>Создание научных постеров с использованием пакета tikzposter</vt:lpstr>
      <vt:lpstr>Презентация PowerPoint</vt:lpstr>
      <vt:lpstr>Введение</vt:lpstr>
      <vt:lpstr>Структура постера и колонки</vt:lpstr>
      <vt:lpstr>Работа с блоками контента</vt:lpstr>
      <vt:lpstr>Вставка графических элементов</vt:lpstr>
      <vt:lpstr>Работа с цветовым оформлением</vt:lpstr>
      <vt:lpstr>Полный пример постера</vt:lpstr>
      <vt:lpstr>Практические рекомендации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научных постеров с использованием пакета tikzposter</dc:title>
  <dc:creator>Студент группы НПМмд02-24 Викторов Егор</dc:creator>
  <cp:keywords/>
  <cp:lastModifiedBy>Пользователь</cp:lastModifiedBy>
  <cp:revision>2</cp:revision>
  <dcterms:created xsi:type="dcterms:W3CDTF">2025-12-06T14:07:25Z</dcterms:created>
  <dcterms:modified xsi:type="dcterms:W3CDTF">2025-12-06T15:37:44Z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2025-12-06</vt:lpwstr>
  </property>
  <property fmtid="{D5CDD505-2E9C-101B-9397-08002B2CF9AE}" pid="3" name="subtitle">
    <vt:lpwstr>Отчет по изучению возможностей LaTeX</vt:lpwstr>
  </property>
</Properties>
</file>