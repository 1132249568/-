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/>
              <a:t>Построение графических объектов в TikZ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/>
              <a:t>Графы, функции и фракталы</a:t>
            </a:r>
            <a:r>
              <a:t/>
            </a:r>
            <a:br/>
            <a:r>
              <a:t/>
            </a:r>
            <a:br/>
            <a:r>
              <a:rPr/>
              <a:t>Выполнил: [Викторов Егор]</a:t>
            </a:r>
            <a:r>
              <a:t/>
            </a:r>
            <a:br/>
            <a:r>
              <a:rPr/>
              <a:t>Группа: [НПМмд02-24]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2025-12-19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Содержание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r>
              <a:rPr/>
              <a:t>Цель работы</a:t>
            </a:r>
          </a:p>
          <a:p>
            <a:pPr marL="0" lvl="0" indent="0">
              <a:buNone/>
            </a:pPr>
            <a:r>
              <a:rPr/>
              <a:t>Основная цель Изучение возможностей пакета TikZ для создания различных графических объектов в системе LaTeX</a:t>
            </a:r>
          </a:p>
          <a:p>
            <a:pPr marL="0" lvl="0" indent="0">
              <a:buNone/>
            </a:pPr>
            <a:r>
              <a:rPr/>
              <a:t>0.48 </a:t>
            </a:r>
            <a:r>
              <a:rPr b="1"/>
              <a:t>Задачи:</a:t>
            </a:r>
          </a:p>
          <a:p>
            <a:pPr lvl="0"/>
            <a:r>
              <a:rPr/>
              <a:t>Построение графов с узлами</a:t>
            </a:r>
          </a:p>
          <a:p>
            <a:pPr lvl="0"/>
            <a:r>
              <a:rPr/>
              <a:t>Визуализация функций</a:t>
            </a:r>
          </a:p>
          <a:p>
            <a:pPr lvl="0"/>
            <a:r>
              <a:rPr/>
              <a:t>Создание фракталов</a:t>
            </a:r>
          </a:p>
          <a:p>
            <a:pPr marL="0" lvl="0" indent="0">
              <a:buNone/>
            </a:pPr>
            <a:r>
              <a:rPr/>
              <a:t>0.48 </a:t>
            </a:r>
            <a:r>
              <a:rPr b="1"/>
              <a:t>Инструменты:</a:t>
            </a:r>
          </a:p>
          <a:p>
            <a:pPr lvl="0"/>
            <a:r>
              <a:rPr/>
              <a:t>Пакет TikZ/PGF</a:t>
            </a:r>
          </a:p>
          <a:p>
            <a:pPr lvl="0"/>
            <a:r>
              <a:rPr/>
              <a:t>Рекурсивные алгоритмы</a:t>
            </a:r>
          </a:p>
          <a:p>
            <a:pPr lvl="0"/>
            <a:r>
              <a:rPr/>
              <a:t>Математические вычисления</a:t>
            </a:r>
          </a:p>
          <a:p>
            <a:pPr marL="0" lvl="0" indent="0">
              <a:buNone/>
            </a:pPr>
            <a:r>
              <a:rPr/>
              <a:t>Что такое TikZ?</a:t>
            </a:r>
          </a:p>
          <a:p>
            <a:pPr marL="0" lvl="0" indent="0">
              <a:buNone/>
            </a:pPr>
            <a:r>
              <a:rPr/>
              <a:t>0.55 </a:t>
            </a:r>
            <a:r>
              <a:rPr b="1"/>
              <a:t>TikZ</a:t>
            </a:r>
            <a:r>
              <a:rPr/>
              <a:t> (TikZ ist kein Zeichenprogramm)</a:t>
            </a:r>
          </a:p>
          <a:p>
            <a:pPr lvl="0"/>
            <a:r>
              <a:rPr/>
              <a:t>Мощный инструмент для векторной графики</a:t>
            </a:r>
          </a:p>
          <a:p>
            <a:pPr lvl="0"/>
            <a:r>
              <a:rPr/>
              <a:t>Интеграция с LaTeX</a:t>
            </a:r>
          </a:p>
          <a:p>
            <a:pPr lvl="0"/>
            <a:r>
              <a:rPr/>
              <a:t>Программируемость</a:t>
            </a:r>
          </a:p>
          <a:p>
            <a:pPr lvl="0"/>
            <a:r>
              <a:rPr/>
              <a:t>Точность и масштабируемость</a:t>
            </a:r>
          </a:p>
          <a:p>
            <a:pPr marL="0" lvl="0" indent="0">
              <a:buNone/>
            </a:pPr>
            <a:r>
              <a:rPr/>
              <a:t>Преимущество Графика создается кодом, что обеспечивает воспроизводимость и точность</a:t>
            </a:r>
          </a:p>
          <a:p>
            <a:pPr marL="0" lvl="0" indent="0">
              <a:buNone/>
            </a:pPr>
            <a:r>
              <a:rPr/>
              <a:t>0.4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Задание 1: Граф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038" y="979894"/>
            <a:ext cx="3133655" cy="339447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600" dirty="0" err="1"/>
              <a:t>Задание</a:t>
            </a:r>
            <a:r>
              <a:rPr sz="600" dirty="0"/>
              <a:t> 1: </a:t>
            </a:r>
            <a:r>
              <a:rPr sz="600" dirty="0" err="1"/>
              <a:t>Построение</a:t>
            </a:r>
            <a:r>
              <a:rPr sz="600" dirty="0"/>
              <a:t> </a:t>
            </a:r>
            <a:r>
              <a:rPr sz="600" dirty="0" err="1"/>
              <a:t>графа</a:t>
            </a:r>
            <a:endParaRPr sz="600" dirty="0"/>
          </a:p>
          <a:p>
            <a:pPr marL="0" lvl="0" indent="0">
              <a:buNone/>
            </a:pPr>
            <a:r>
              <a:rPr sz="600" dirty="0" err="1"/>
              <a:t>Постановка</a:t>
            </a:r>
            <a:r>
              <a:rPr sz="600" dirty="0"/>
              <a:t> </a:t>
            </a:r>
            <a:r>
              <a:rPr sz="600" dirty="0" err="1"/>
              <a:t>задачи</a:t>
            </a:r>
            <a:r>
              <a:rPr sz="600" dirty="0"/>
              <a:t> </a:t>
            </a:r>
            <a:r>
              <a:rPr sz="600" dirty="0" err="1"/>
              <a:t>Построить</a:t>
            </a:r>
            <a:r>
              <a:rPr sz="600" dirty="0"/>
              <a:t> </a:t>
            </a:r>
            <a:r>
              <a:rPr sz="600" dirty="0" err="1"/>
              <a:t>граф</a:t>
            </a:r>
            <a:r>
              <a:rPr sz="600" dirty="0"/>
              <a:t> с 6 </a:t>
            </a:r>
            <a:r>
              <a:rPr sz="600" dirty="0" err="1"/>
              <a:t>узлами</a:t>
            </a:r>
            <a:r>
              <a:rPr sz="600" dirty="0"/>
              <a:t>, </a:t>
            </a:r>
            <a:r>
              <a:rPr sz="600" dirty="0" err="1"/>
              <a:t>расположенными</a:t>
            </a:r>
            <a:r>
              <a:rPr sz="600" dirty="0"/>
              <a:t> </a:t>
            </a:r>
            <a:r>
              <a:rPr sz="600" dirty="0" err="1"/>
              <a:t>по</a:t>
            </a:r>
            <a:r>
              <a:rPr sz="600" dirty="0"/>
              <a:t> </a:t>
            </a:r>
            <a:r>
              <a:rPr sz="600" dirty="0" err="1"/>
              <a:t>окружности</a:t>
            </a:r>
            <a:r>
              <a:rPr sz="600" dirty="0"/>
              <a:t>, с </a:t>
            </a:r>
            <a:r>
              <a:rPr sz="600" dirty="0" err="1"/>
              <a:t>различными</a:t>
            </a:r>
            <a:r>
              <a:rPr sz="600" dirty="0"/>
              <a:t> </a:t>
            </a:r>
            <a:r>
              <a:rPr sz="600" dirty="0" err="1"/>
              <a:t>стилями</a:t>
            </a:r>
            <a:r>
              <a:rPr sz="600" dirty="0"/>
              <a:t> </a:t>
            </a:r>
            <a:r>
              <a:rPr sz="600" dirty="0" err="1"/>
              <a:t>узлов</a:t>
            </a:r>
            <a:r>
              <a:rPr sz="600" dirty="0"/>
              <a:t> и </a:t>
            </a:r>
            <a:r>
              <a:rPr sz="600" dirty="0" err="1"/>
              <a:t>ребер</a:t>
            </a:r>
            <a:endParaRPr sz="600" dirty="0"/>
          </a:p>
          <a:p>
            <a:pPr marL="0" lvl="0" indent="0">
              <a:buNone/>
            </a:pPr>
            <a:r>
              <a:rPr sz="600" dirty="0"/>
              <a:t>0.48 </a:t>
            </a:r>
            <a:r>
              <a:rPr sz="600" b="1" dirty="0" err="1"/>
              <a:t>Типы</a:t>
            </a:r>
            <a:r>
              <a:rPr sz="600" b="1" dirty="0"/>
              <a:t> </a:t>
            </a:r>
            <a:r>
              <a:rPr sz="600" b="1" dirty="0" err="1"/>
              <a:t>узлов</a:t>
            </a:r>
            <a:r>
              <a:rPr sz="600" b="1" dirty="0"/>
              <a:t>:</a:t>
            </a:r>
          </a:p>
          <a:p>
            <a:pPr lvl="0"/>
            <a:r>
              <a:rPr sz="600" dirty="0" err="1"/>
              <a:t>Зеленые</a:t>
            </a:r>
            <a:r>
              <a:rPr sz="600" dirty="0"/>
              <a:t> </a:t>
            </a:r>
            <a:r>
              <a:rPr sz="600" dirty="0" err="1"/>
              <a:t>заполненные</a:t>
            </a:r>
            <a:r>
              <a:rPr sz="600" dirty="0"/>
              <a:t> (A, C, E)</a:t>
            </a:r>
          </a:p>
          <a:p>
            <a:pPr lvl="0"/>
            <a:r>
              <a:rPr sz="600" dirty="0" err="1"/>
              <a:t>Двойная</a:t>
            </a:r>
            <a:r>
              <a:rPr sz="600" dirty="0"/>
              <a:t> </a:t>
            </a:r>
            <a:r>
              <a:rPr sz="600" dirty="0" err="1"/>
              <a:t>обводка</a:t>
            </a:r>
            <a:r>
              <a:rPr sz="600" dirty="0"/>
              <a:t> (B, D, F)</a:t>
            </a:r>
          </a:p>
          <a:p>
            <a:pPr marL="0" lvl="0" indent="0">
              <a:buNone/>
            </a:pPr>
            <a:r>
              <a:rPr sz="600" b="1" dirty="0" err="1"/>
              <a:t>Типы</a:t>
            </a:r>
            <a:r>
              <a:rPr sz="600" b="1" dirty="0"/>
              <a:t> </a:t>
            </a:r>
            <a:r>
              <a:rPr sz="600" b="1" dirty="0" err="1"/>
              <a:t>ребер</a:t>
            </a:r>
            <a:r>
              <a:rPr sz="600" b="1" dirty="0"/>
              <a:t>:</a:t>
            </a:r>
          </a:p>
          <a:p>
            <a:pPr lvl="0"/>
            <a:r>
              <a:rPr sz="600" dirty="0" err="1"/>
              <a:t>Пунктирные</a:t>
            </a:r>
            <a:r>
              <a:rPr sz="600" dirty="0"/>
              <a:t> с </a:t>
            </a:r>
            <a:r>
              <a:rPr sz="600" dirty="0" err="1"/>
              <a:t>весами</a:t>
            </a:r>
            <a:endParaRPr sz="600" dirty="0"/>
          </a:p>
          <a:p>
            <a:pPr lvl="0"/>
            <a:r>
              <a:rPr sz="600" dirty="0" err="1"/>
              <a:t>Кривые</a:t>
            </a:r>
            <a:r>
              <a:rPr sz="600" dirty="0"/>
              <a:t> с </a:t>
            </a:r>
            <a:r>
              <a:rPr sz="600" dirty="0" err="1"/>
              <a:t>закруглениями</a:t>
            </a:r>
            <a:endParaRPr sz="600" dirty="0"/>
          </a:p>
          <a:p>
            <a:pPr lvl="0"/>
            <a:r>
              <a:rPr sz="600" dirty="0" err="1"/>
              <a:t>Гладкие</a:t>
            </a:r>
            <a:r>
              <a:rPr sz="600" dirty="0"/>
              <a:t> </a:t>
            </a:r>
            <a:r>
              <a:rPr sz="600" dirty="0" err="1"/>
              <a:t>кривые</a:t>
            </a:r>
            <a:endParaRPr sz="600" dirty="0"/>
          </a:p>
          <a:p>
            <a:pPr marL="0" lvl="0" indent="0">
              <a:buNone/>
            </a:pPr>
            <a:r>
              <a:rPr sz="600" dirty="0"/>
              <a:t>0.48 </a:t>
            </a:r>
            <a:r>
              <a:rPr sz="600" b="1" dirty="0" err="1"/>
              <a:t>Используемые</a:t>
            </a:r>
            <a:r>
              <a:rPr sz="600" b="1" dirty="0"/>
              <a:t> </a:t>
            </a:r>
            <a:r>
              <a:rPr sz="600" b="1" dirty="0" err="1"/>
              <a:t>техники</a:t>
            </a:r>
            <a:r>
              <a:rPr sz="600" b="1" dirty="0"/>
              <a:t>:</a:t>
            </a:r>
          </a:p>
          <a:p>
            <a:pPr lvl="0"/>
            <a:r>
              <a:rPr sz="600" dirty="0" err="1"/>
              <a:t>Полярные</a:t>
            </a:r>
            <a:r>
              <a:rPr sz="600" dirty="0"/>
              <a:t> </a:t>
            </a:r>
            <a:r>
              <a:rPr sz="600" dirty="0" err="1"/>
              <a:t>координаты</a:t>
            </a:r>
            <a:endParaRPr sz="600" dirty="0"/>
          </a:p>
          <a:p>
            <a:pPr lvl="0"/>
            <a:r>
              <a:rPr sz="600" dirty="0" err="1"/>
              <a:t>Пользовательские</a:t>
            </a:r>
            <a:r>
              <a:rPr sz="600" dirty="0"/>
              <a:t> </a:t>
            </a:r>
            <a:r>
              <a:rPr sz="600" dirty="0" err="1"/>
              <a:t>стили</a:t>
            </a:r>
            <a:endParaRPr sz="600" dirty="0"/>
          </a:p>
          <a:p>
            <a:pPr lvl="0"/>
            <a:r>
              <a:rPr sz="600" dirty="0" err="1"/>
              <a:t>Параметры</a:t>
            </a:r>
            <a:r>
              <a:rPr sz="600" dirty="0"/>
              <a:t> </a:t>
            </a:r>
            <a:r>
              <a:rPr sz="600" dirty="0" err="1"/>
              <a:t>кривизны</a:t>
            </a:r>
            <a:endParaRPr sz="600" dirty="0"/>
          </a:p>
          <a:p>
            <a:pPr lvl="0"/>
            <a:r>
              <a:rPr sz="600" dirty="0" err="1"/>
              <a:t>Позиционирование</a:t>
            </a:r>
            <a:r>
              <a:rPr sz="600" dirty="0"/>
              <a:t> </a:t>
            </a:r>
            <a:r>
              <a:rPr sz="600" dirty="0" err="1"/>
              <a:t>меток</a:t>
            </a:r>
            <a:endParaRPr sz="600" dirty="0"/>
          </a:p>
          <a:p>
            <a:pPr marL="0" lvl="0" indent="0">
              <a:buNone/>
            </a:pPr>
            <a:r>
              <a:rPr sz="600" dirty="0" err="1"/>
              <a:t>Код</a:t>
            </a:r>
            <a:r>
              <a:rPr sz="600" dirty="0"/>
              <a:t>: </a:t>
            </a:r>
            <a:r>
              <a:rPr sz="600" dirty="0" err="1"/>
              <a:t>Определение</a:t>
            </a:r>
            <a:r>
              <a:rPr sz="600" dirty="0"/>
              <a:t> </a:t>
            </a:r>
            <a:r>
              <a:rPr sz="600" dirty="0" err="1"/>
              <a:t>стилей</a:t>
            </a:r>
            <a:endParaRPr sz="600" dirty="0"/>
          </a:p>
          <a:p>
            <a:pPr lvl="0" indent="0">
              <a:buNone/>
            </a:pPr>
            <a:r>
              <a:rPr sz="600" dirty="0">
                <a:latin typeface="Courier"/>
              </a:rPr>
              <a:t>\</a:t>
            </a:r>
            <a:r>
              <a:rPr sz="600" dirty="0" err="1">
                <a:latin typeface="Courier"/>
              </a:rPr>
              <a:t>tikzset</a:t>
            </a:r>
            <a:r>
              <a:rPr sz="600" dirty="0">
                <a:latin typeface="Courier"/>
              </a:rPr>
              <a:t>{
  ring/.style={
    circle,
    draw=black,
    thin,
    double=black,
    double distance=1.5pt,
    minimum size=9mm,
    inner </a:t>
            </a:r>
            <a:r>
              <a:rPr sz="600" dirty="0" err="1">
                <a:latin typeface="Courier"/>
              </a:rPr>
              <a:t>sep</a:t>
            </a:r>
            <a:r>
              <a:rPr sz="600" dirty="0">
                <a:latin typeface="Courier"/>
              </a:rPr>
              <a:t>=0pt,
    fill=white
  },
  green/.style={
    circle,
    draw=black,
    very thick,
    minimum size=9mm,
    inner </a:t>
            </a:r>
            <a:r>
              <a:rPr sz="600" dirty="0" err="1">
                <a:latin typeface="Courier"/>
              </a:rPr>
              <a:t>sep</a:t>
            </a:r>
            <a:r>
              <a:rPr sz="600" dirty="0">
                <a:latin typeface="Courier"/>
              </a:rPr>
              <a:t>=0pt,
    fill=green!60
  }
</a:t>
            </a:r>
            <a:r>
              <a:rPr sz="600" dirty="0" smtClean="0">
                <a:latin typeface="Courier"/>
              </a:rPr>
              <a:t>}</a:t>
            </a:r>
            <a:endParaRPr sz="600" dirty="0">
              <a:latin typeface="Courier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421825" y="104825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ru-RU" sz="600" dirty="0"/>
              <a:t>Код: Размещение узлов</a:t>
            </a:r>
          </a:p>
          <a:p>
            <a:pPr lvl="0" indent="0">
              <a:buNone/>
            </a:pPr>
            <a:r>
              <a:rPr lang="ru-RU" sz="600" dirty="0">
                <a:latin typeface="Courier"/>
              </a:rPr>
              <a:t>% Узлы в полярных координатах (</a:t>
            </a:r>
            <a:r>
              <a:rPr lang="ru-RU" sz="600" dirty="0" err="1">
                <a:latin typeface="Courier"/>
              </a:rPr>
              <a:t>угол:радиус</a:t>
            </a:r>
            <a:r>
              <a:rPr lang="ru-RU" sz="600" dirty="0">
                <a:latin typeface="Courier"/>
              </a:rPr>
              <a:t>)
\</a:t>
            </a:r>
            <a:r>
              <a:rPr lang="en-US" sz="600" dirty="0">
                <a:latin typeface="Courier"/>
              </a:rPr>
              <a:t>node[green] (A) at (90:3cm)  {A};
\node[ring]  (B) at (150:3cm) {B};
\node[green] (C) at (210:3cm) {C};
\node[ring]  (D) at (270:3cm) {D};
\node[green] (E) at (330:3cm) {E};
\node[ring]  (F) at (30:3cm)  {F};</a:t>
            </a:r>
          </a:p>
          <a:p>
            <a:pPr lvl="0"/>
            <a:r>
              <a:rPr lang="ru-RU" sz="600" dirty="0"/>
              <a:t>Код: Рисование ребер</a:t>
            </a:r>
          </a:p>
          <a:p>
            <a:pPr lvl="0" indent="0">
              <a:buNone/>
            </a:pPr>
            <a:r>
              <a:rPr lang="ru-RU" sz="600" dirty="0">
                <a:latin typeface="Courier"/>
              </a:rPr>
              <a:t>% Пунктирные </a:t>
            </a:r>
            <a:r>
              <a:rPr lang="ru-RU" sz="500" dirty="0">
                <a:latin typeface="Courier"/>
              </a:rPr>
              <a:t>линии</a:t>
            </a:r>
            <a:r>
              <a:rPr lang="ru-RU" sz="600" dirty="0">
                <a:latin typeface="Courier"/>
              </a:rPr>
              <a:t> с метками весов
\</a:t>
            </a:r>
            <a:r>
              <a:rPr lang="en-US" sz="600" dirty="0">
                <a:latin typeface="Courier"/>
              </a:rPr>
              <a:t>draw[</a:t>
            </a:r>
            <a:r>
              <a:rPr lang="en-US" sz="600" dirty="0" err="1">
                <a:latin typeface="Courier"/>
              </a:rPr>
              <a:t>dotted,blue,line</a:t>
            </a:r>
            <a:r>
              <a:rPr lang="en-US" sz="600" dirty="0">
                <a:latin typeface="Courier"/>
              </a:rPr>
              <a:t> width=1.5pt] (B) -- 
  node[</a:t>
            </a:r>
            <a:r>
              <a:rPr lang="en-US" sz="600" dirty="0" err="1">
                <a:latin typeface="Courier"/>
              </a:rPr>
              <a:t>midway,above,fill</a:t>
            </a:r>
            <a:r>
              <a:rPr lang="en-US" sz="600" dirty="0">
                <a:latin typeface="Courier"/>
              </a:rPr>
              <a:t>=white] {6} (F);
\draw[</a:t>
            </a:r>
            <a:r>
              <a:rPr lang="en-US" sz="600" dirty="0" err="1">
                <a:latin typeface="Courier"/>
              </a:rPr>
              <a:t>dotted,blue,very</a:t>
            </a:r>
            <a:r>
              <a:rPr lang="en-US" sz="600" dirty="0">
                <a:latin typeface="Courier"/>
              </a:rPr>
              <a:t> thick] (B) -- 
  node[</a:t>
            </a:r>
            <a:r>
              <a:rPr lang="en-US" sz="600" dirty="0" err="1">
                <a:latin typeface="Courier"/>
              </a:rPr>
              <a:t>pos</a:t>
            </a:r>
            <a:r>
              <a:rPr lang="en-US" sz="600" dirty="0">
                <a:latin typeface="Courier"/>
              </a:rPr>
              <a:t>=0.5,left,fill=white] {2} (D);
% </a:t>
            </a:r>
            <a:r>
              <a:rPr lang="ru-RU" sz="600" dirty="0">
                <a:latin typeface="Courier"/>
              </a:rPr>
              <a:t>Голубая кривая с закругленными углами
\</a:t>
            </a:r>
            <a:r>
              <a:rPr lang="en-US" sz="600" dirty="0">
                <a:latin typeface="Courier"/>
              </a:rPr>
              <a:t>draw[cyan!80!black,very </a:t>
            </a:r>
            <a:r>
              <a:rPr lang="en-US" sz="600" dirty="0" err="1">
                <a:latin typeface="Courier"/>
              </a:rPr>
              <a:t>thick,rounded</a:t>
            </a:r>
            <a:r>
              <a:rPr lang="en-US" sz="600" dirty="0">
                <a:latin typeface="Courier"/>
              </a:rPr>
              <a:t> corners=6pt]
  (B) to[out=200,in=160] (C) to[out=-20,in=180] (D);
% </a:t>
            </a:r>
            <a:r>
              <a:rPr lang="ru-RU" sz="600" dirty="0">
                <a:latin typeface="Courier"/>
              </a:rPr>
              <a:t>Красные гладкие кривые
\</a:t>
            </a:r>
            <a:r>
              <a:rPr lang="en-US" sz="600" dirty="0">
                <a:latin typeface="Courier"/>
              </a:rPr>
              <a:t>draw[red!80!black,very </a:t>
            </a:r>
            <a:r>
              <a:rPr lang="en-US" sz="600" dirty="0" err="1">
                <a:latin typeface="Courier"/>
              </a:rPr>
              <a:t>thick,smooth</a:t>
            </a:r>
            <a:r>
              <a:rPr lang="en-US" sz="600" dirty="0">
                <a:latin typeface="Courier"/>
              </a:rPr>
              <a:t>]
  (A) to[out=-60,in=90] 
  node[</a:t>
            </a:r>
            <a:r>
              <a:rPr lang="en-US" sz="600" dirty="0" err="1">
                <a:latin typeface="Courier"/>
              </a:rPr>
              <a:t>pos</a:t>
            </a:r>
            <a:r>
              <a:rPr lang="en-US" sz="600" dirty="0">
                <a:latin typeface="Courier"/>
              </a:rPr>
              <a:t>=0.5,right,red,fill=white] {$\</a:t>
            </a:r>
            <a:r>
              <a:rPr lang="en-US" sz="600" dirty="0" err="1">
                <a:latin typeface="Courier"/>
              </a:rPr>
              <a:t>sqrt</a:t>
            </a:r>
            <a:r>
              <a:rPr lang="en-US" sz="600" dirty="0">
                <a:latin typeface="Courier"/>
              </a:rPr>
              <a:t>{2}$} (D);</a:t>
            </a:r>
          </a:p>
          <a:p>
            <a:pPr lvl="0"/>
            <a:r>
              <a:rPr lang="ru-RU" sz="600" dirty="0"/>
              <a:t>Результат: Граф</a:t>
            </a:r>
            <a:endParaRPr lang="ru-RU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Задание 2: Функции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 marL="0" lvl="0" indent="0">
                  <a:buNone/>
                </a:pPr>
                <a:r>
                  <a:rPr/>
                  <a:t>Задание 2: Графики функций</a:t>
                </a:r>
              </a:p>
              <a:p>
                <a:pPr marL="0" lvl="0" indent="0">
                  <a:buNone/>
                </a:pPr>
                <a:r>
                  <a:rPr/>
                  <a:t>Постановка задачи Построить графики взаимно обратных функций: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/>
                  <a:t> и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ln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0" lvl="0" indent="0">
                  <a:buNone/>
                </a:pPr>
                <a:r>
                  <a:rPr/>
                  <a:t>0.48 </a:t>
                </a:r>
                <a:r>
                  <a:rPr b="1"/>
                  <a:t>Экспоненциальная функция: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b="1"/>
              </a:p>
              <a:p>
                <a:pPr lvl="0"/>
                <a:r>
                  <a:rPr/>
                  <a:t>Область определения: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(−∞,+∞)</m:t>
                    </m:r>
                  </m:oMath>
                </a14:m>
                <a:endParaRPr/>
              </a:p>
              <a:p>
                <a:pPr lvl="0"/>
                <a:r>
                  <a:rPr/>
                  <a:t>Область значений: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(0,+∞)</m:t>
                    </m:r>
                  </m:oMath>
                </a14:m>
                <a:endParaRPr/>
              </a:p>
              <a:p>
                <a:pPr lvl="0"/>
                <a:r>
                  <a:rPr/>
                  <a:t>Проходит через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/>
              </a:p>
              <a:p>
                <a:pPr marL="0" lvl="0" indent="0">
                  <a:buNone/>
                </a:pPr>
                <a:r>
                  <a:rPr/>
                  <a:t>0.48 </a:t>
                </a:r>
                <a:r>
                  <a:rPr b="1"/>
                  <a:t>Натуральный логарифм: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b="1"/>
              </a:p>
              <a:p>
                <a:pPr lvl="0"/>
                <a:r>
                  <a:rPr/>
                  <a:t>Область определения: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(0,+∞)</m:t>
                    </m:r>
                  </m:oMath>
                </a14:m>
                <a:endParaRPr/>
              </a:p>
              <a:p>
                <a:pPr lvl="0"/>
                <a:r>
                  <a:rPr/>
                  <a:t>Область значений: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(−∞,+∞)</m:t>
                    </m:r>
                  </m:oMath>
                </a14:m>
                <a:endParaRPr/>
              </a:p>
              <a:p>
                <a:pPr lvl="0"/>
                <a:r>
                  <a:rPr/>
                  <a:t>Проходит через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(1,0)</m:t>
                    </m:r>
                  </m:oMath>
                </a14:m>
                <a:endParaRPr/>
              </a:p>
              <a:p>
                <a:pPr marL="0" lvl="0" indent="0">
                  <a:buNone/>
                </a:pPr>
                <a:r>
                  <a:rPr/>
                  <a:t>Свойство Графики симметричны относительно прямой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/>
              </a:p>
              <a:p>
                <a:pPr marL="0" lvl="0" indent="0">
                  <a:buNone/>
                </a:pPr>
                <a:r>
                  <a:rPr/>
                  <a:t>Код: Построение графиков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% Координатные оси
\draw[-&gt;,gray!60] (0,-2.6) -- (0,3.6) node[above] {$y$};
\draw[-&gt;,gray!60] (-1.6,0) -- (3.2,0) node[right] {$x$};
% Вспомогательная линия y=1
\draw[gray!25] (-1.3,1) -- (3.0,1);
% График y = e^x
\draw[domain=-1.2:2.2, smooth, variable=\x,
      blue!80!black, very thick]
  plot ({\x},{exp(\x)});
% График y = ln(x)
\draw[domain=0.11:2.8, smooth, variable=\x,
      black!80, very thick]
  plot ({\x},{ln(\x)});</a:t>
                </a:r>
              </a:p>
              <a:p>
                <a:pPr marL="0" lvl="0" indent="0">
                  <a:buNone/>
                </a:pPr>
                <a:r>
                  <a:rPr/>
                  <a:t>Результат: Графики функций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Задание 3: Фрактал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400" dirty="0" err="1"/>
                  <a:t>Задание</a:t>
                </a:r>
                <a:r>
                  <a:rPr sz="400" dirty="0"/>
                  <a:t> 3: </a:t>
                </a:r>
                <a:r>
                  <a:rPr sz="400" dirty="0" err="1"/>
                  <a:t>Ковер</a:t>
                </a:r>
                <a:r>
                  <a:rPr sz="400" dirty="0"/>
                  <a:t> </a:t>
                </a:r>
                <a:r>
                  <a:rPr sz="400" dirty="0" err="1"/>
                  <a:t>Серпинского</a:t>
                </a:r>
                <a:endParaRPr sz="400" dirty="0"/>
              </a:p>
              <a:p>
                <a:pPr marL="0" lvl="0" indent="0">
                  <a:buNone/>
                </a:pPr>
                <a:r>
                  <a:rPr sz="400" dirty="0"/>
                  <a:t>0.55</a:t>
                </a:r>
              </a:p>
              <a:p>
                <a:pPr marL="0" lvl="0" indent="0">
                  <a:buNone/>
                </a:pPr>
                <a:r>
                  <a:rPr sz="400" dirty="0" err="1"/>
                  <a:t>Что</a:t>
                </a:r>
                <a:r>
                  <a:rPr sz="400" dirty="0"/>
                  <a:t> </a:t>
                </a:r>
                <a:r>
                  <a:rPr sz="400" dirty="0" err="1"/>
                  <a:t>такое</a:t>
                </a:r>
                <a:r>
                  <a:rPr sz="400" dirty="0"/>
                  <a:t> </a:t>
                </a:r>
                <a:r>
                  <a:rPr sz="400" dirty="0" err="1"/>
                  <a:t>фрактал</a:t>
                </a:r>
                <a:r>
                  <a:rPr sz="400" dirty="0"/>
                  <a:t>? </a:t>
                </a:r>
                <a:r>
                  <a:rPr sz="400" dirty="0" err="1"/>
                  <a:t>Самоподобная</a:t>
                </a:r>
                <a:r>
                  <a:rPr sz="400" dirty="0"/>
                  <a:t> </a:t>
                </a:r>
                <a:r>
                  <a:rPr sz="400" dirty="0" err="1"/>
                  <a:t>геометрическая</a:t>
                </a:r>
                <a:r>
                  <a:rPr sz="400" dirty="0"/>
                  <a:t> </a:t>
                </a:r>
                <a:r>
                  <a:rPr sz="400" dirty="0" err="1"/>
                  <a:t>фигура</a:t>
                </a:r>
                <a:r>
                  <a:rPr sz="400" dirty="0"/>
                  <a:t>, </a:t>
                </a:r>
                <a:r>
                  <a:rPr sz="400" dirty="0" err="1"/>
                  <a:t>каждая</a:t>
                </a:r>
                <a:r>
                  <a:rPr sz="400" dirty="0"/>
                  <a:t> </a:t>
                </a:r>
                <a:r>
                  <a:rPr sz="400" dirty="0" err="1"/>
                  <a:t>часть</a:t>
                </a:r>
                <a:r>
                  <a:rPr sz="400" dirty="0"/>
                  <a:t> </a:t>
                </a:r>
                <a:r>
                  <a:rPr sz="400" dirty="0" err="1"/>
                  <a:t>которой</a:t>
                </a:r>
                <a:r>
                  <a:rPr sz="400" dirty="0"/>
                  <a:t> </a:t>
                </a:r>
                <a:r>
                  <a:rPr sz="400" dirty="0" err="1"/>
                  <a:t>повторяет</a:t>
                </a:r>
                <a:r>
                  <a:rPr sz="400" dirty="0"/>
                  <a:t> </a:t>
                </a:r>
                <a:r>
                  <a:rPr sz="400" dirty="0" err="1"/>
                  <a:t>всю</a:t>
                </a:r>
                <a:r>
                  <a:rPr sz="400" dirty="0"/>
                  <a:t> </a:t>
                </a:r>
                <a:r>
                  <a:rPr sz="400" dirty="0" err="1"/>
                  <a:t>фигуру</a:t>
                </a:r>
                <a:r>
                  <a:rPr sz="400" dirty="0"/>
                  <a:t> </a:t>
                </a:r>
                <a:r>
                  <a:rPr sz="400" dirty="0" err="1"/>
                  <a:t>целиком</a:t>
                </a:r>
                <a:endParaRPr sz="400" dirty="0"/>
              </a:p>
              <a:p>
                <a:pPr marL="0" lvl="0" indent="0">
                  <a:buNone/>
                </a:pPr>
                <a:r>
                  <a:rPr sz="400" b="1" dirty="0" err="1"/>
                  <a:t>Ковер</a:t>
                </a:r>
                <a:r>
                  <a:rPr sz="400" b="1" dirty="0"/>
                  <a:t> </a:t>
                </a:r>
                <a:r>
                  <a:rPr sz="400" b="1" dirty="0" err="1"/>
                  <a:t>Серпинского</a:t>
                </a:r>
                <a:r>
                  <a:rPr sz="400" b="1" dirty="0"/>
                  <a:t>:</a:t>
                </a:r>
              </a:p>
              <a:p>
                <a:pPr lvl="0"/>
                <a:r>
                  <a:rPr sz="400" dirty="0" err="1"/>
                  <a:t>Квадрат</a:t>
                </a:r>
                <a:r>
                  <a:rPr sz="400" dirty="0"/>
                  <a:t> </a:t>
                </a:r>
                <a:r>
                  <a:rPr sz="400" dirty="0" err="1"/>
                  <a:t>делится</a:t>
                </a:r>
                <a:r>
                  <a:rPr sz="400" dirty="0"/>
                  <a:t> </a:t>
                </a:r>
                <a:r>
                  <a:rPr sz="400" dirty="0" err="1"/>
                  <a:t>на</a:t>
                </a:r>
                <a:r>
                  <a:rPr sz="400" dirty="0"/>
                  <a:t> 9 </a:t>
                </a:r>
                <a:r>
                  <a:rPr sz="400" dirty="0" err="1"/>
                  <a:t>частей</a:t>
                </a:r>
                <a:r>
                  <a:rPr sz="400" dirty="0"/>
                  <a:t> (3×3)</a:t>
                </a:r>
              </a:p>
              <a:p>
                <a:pPr lvl="0"/>
                <a:r>
                  <a:rPr sz="400" dirty="0" err="1"/>
                  <a:t>Центральная</a:t>
                </a:r>
                <a:r>
                  <a:rPr sz="400" dirty="0"/>
                  <a:t> </a:t>
                </a:r>
                <a:r>
                  <a:rPr sz="400" dirty="0" err="1"/>
                  <a:t>часть</a:t>
                </a:r>
                <a:r>
                  <a:rPr sz="400" dirty="0"/>
                  <a:t> </a:t>
                </a:r>
                <a:r>
                  <a:rPr sz="400" dirty="0" err="1"/>
                  <a:t>удаляется</a:t>
                </a:r>
                <a:endParaRPr sz="400" dirty="0"/>
              </a:p>
              <a:p>
                <a:pPr lvl="0"/>
                <a:r>
                  <a:rPr sz="400" dirty="0" err="1"/>
                  <a:t>Процесс</a:t>
                </a:r>
                <a:r>
                  <a:rPr sz="400" dirty="0"/>
                  <a:t> </a:t>
                </a:r>
                <a:r>
                  <a:rPr sz="400" dirty="0" err="1"/>
                  <a:t>повторяется</a:t>
                </a:r>
                <a:r>
                  <a:rPr sz="400" dirty="0"/>
                  <a:t> </a:t>
                </a:r>
                <a:r>
                  <a:rPr sz="400" dirty="0" err="1"/>
                  <a:t>рекурсивно</a:t>
                </a:r>
                <a:endParaRPr sz="400" dirty="0"/>
              </a:p>
              <a:p>
                <a:pPr marL="0" lvl="0" indent="0">
                  <a:buNone/>
                </a:pPr>
                <a:r>
                  <a:rPr sz="400" b="1" dirty="0" err="1"/>
                  <a:t>Фрактальная</a:t>
                </a:r>
                <a:r>
                  <a:rPr sz="400" b="1" dirty="0"/>
                  <a:t> </a:t>
                </a:r>
                <a:r>
                  <a:rPr sz="400" b="1" dirty="0" err="1"/>
                  <a:t>размерность</a:t>
                </a:r>
                <a:r>
                  <a:rPr sz="400" b="1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0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40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sz="40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40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sz="4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sz="400">
                          <a:latin typeface="Cambria Math" panose="02040503050406030204" pitchFamily="18" charset="0"/>
                        </a:rPr>
                        <m:t>≈1.893</m:t>
                      </m:r>
                    </m:oMath>
                  </m:oMathPara>
                </a14:m>
                <a:endParaRPr sz="400" b="1" dirty="0"/>
              </a:p>
              <a:p>
                <a:pPr marL="0" lvl="0" indent="0">
                  <a:buNone/>
                </a:pPr>
                <a:r>
                  <a:rPr sz="400" dirty="0"/>
                  <a:t>0.4</a:t>
                </a:r>
              </a:p>
              <a:p>
                <a:pPr marL="0" lvl="0" indent="0">
                  <a:buNone/>
                </a:pPr>
                <a:r>
                  <a:rPr sz="400" dirty="0" err="1"/>
                  <a:t>Алгоритм</a:t>
                </a:r>
                <a:r>
                  <a:rPr sz="400" dirty="0"/>
                  <a:t> </a:t>
                </a:r>
                <a:r>
                  <a:rPr sz="400" dirty="0" err="1"/>
                  <a:t>построения</a:t>
                </a:r>
                <a:endParaRPr sz="400" dirty="0"/>
              </a:p>
              <a:p>
                <a:pPr lvl="0" indent="0">
                  <a:buNone/>
                </a:pPr>
                <a:r>
                  <a:rPr sz="400" dirty="0">
                    <a:latin typeface="Courier"/>
                  </a:rPr>
                  <a:t>\</a:t>
                </a:r>
                <a:r>
                  <a:rPr sz="400" dirty="0" err="1">
                    <a:latin typeface="Courier"/>
                  </a:rPr>
                  <a:t>newcommand</a:t>
                </a:r>
                <a:r>
                  <a:rPr sz="400" dirty="0">
                    <a:latin typeface="Courier"/>
                  </a:rPr>
                  <a:t>{\carpet}[4]{%
  \</a:t>
                </a:r>
                <a:r>
                  <a:rPr sz="400" dirty="0" err="1">
                    <a:latin typeface="Courier"/>
                  </a:rPr>
                  <a:t>pgfmathtruncatemacro</a:t>
                </a:r>
                <a:r>
                  <a:rPr sz="400" dirty="0">
                    <a:latin typeface="Courier"/>
                  </a:rPr>
                  <a:t>{\level}{#4}%
  \</a:t>
                </a:r>
                <a:r>
                  <a:rPr sz="400" dirty="0" err="1">
                    <a:latin typeface="Courier"/>
                  </a:rPr>
                  <a:t>ifnum</a:t>
                </a:r>
                <a:r>
                  <a:rPr sz="400" dirty="0">
                    <a:latin typeface="Courier"/>
                  </a:rPr>
                  <a:t>\level=0
    % </a:t>
                </a:r>
                <a:r>
                  <a:rPr sz="400" dirty="0" err="1">
                    <a:latin typeface="Courier"/>
                  </a:rPr>
                  <a:t>Базовый</a:t>
                </a:r>
                <a:r>
                  <a:rPr sz="400" dirty="0">
                    <a:latin typeface="Courier"/>
                  </a:rPr>
                  <a:t> </a:t>
                </a:r>
                <a:r>
                  <a:rPr sz="400" dirty="0" err="1">
                    <a:latin typeface="Courier"/>
                  </a:rPr>
                  <a:t>случай</a:t>
                </a:r>
                <a:r>
                  <a:rPr sz="400" dirty="0">
                    <a:latin typeface="Courier"/>
                  </a:rPr>
                  <a:t>: </a:t>
                </a:r>
                <a:r>
                  <a:rPr sz="400" dirty="0" err="1">
                    <a:latin typeface="Courier"/>
                  </a:rPr>
                  <a:t>рисуем</a:t>
                </a:r>
                <a:r>
                  <a:rPr sz="400" dirty="0">
                    <a:latin typeface="Courier"/>
                  </a:rPr>
                  <a:t> </a:t>
                </a:r>
                <a:r>
                  <a:rPr sz="400" dirty="0" err="1">
                    <a:latin typeface="Courier"/>
                  </a:rPr>
                  <a:t>квадрат</a:t>
                </a:r>
                <a:r>
                  <a:rPr sz="400" dirty="0">
                    <a:latin typeface="Courier"/>
                  </a:rPr>
                  <a:t>
    \fill[black] (#1,#2) rectangle +(#3,#3);
  \else
    % </a:t>
                </a:r>
                <a:r>
                  <a:rPr sz="400" dirty="0" err="1">
                    <a:latin typeface="Courier"/>
                  </a:rPr>
                  <a:t>Рекурсивный</a:t>
                </a:r>
                <a:r>
                  <a:rPr sz="400" dirty="0">
                    <a:latin typeface="Courier"/>
                  </a:rPr>
                  <a:t> </a:t>
                </a:r>
                <a:r>
                  <a:rPr sz="400" dirty="0" err="1">
                    <a:latin typeface="Courier"/>
                  </a:rPr>
                  <a:t>случай</a:t>
                </a:r>
                <a:r>
                  <a:rPr sz="400" dirty="0">
                    <a:latin typeface="Courier"/>
                  </a:rPr>
                  <a:t>
    \</a:t>
                </a:r>
                <a:r>
                  <a:rPr sz="400" dirty="0" err="1">
                    <a:latin typeface="Courier"/>
                  </a:rPr>
                  <a:t>pgfmathsetmacro</a:t>
                </a:r>
                <a:r>
                  <a:rPr sz="400" dirty="0">
                    <a:latin typeface="Courier"/>
                  </a:rPr>
                  <a:t>{\</a:t>
                </a:r>
                <a:r>
                  <a:rPr sz="400" dirty="0" err="1">
                    <a:latin typeface="Courier"/>
                  </a:rPr>
                  <a:t>newsize</a:t>
                </a:r>
                <a:r>
                  <a:rPr sz="400" dirty="0">
                    <a:latin typeface="Courier"/>
                  </a:rPr>
                  <a:t>}{#3/3}%
    \</a:t>
                </a:r>
                <a:r>
                  <a:rPr sz="400" dirty="0" err="1">
                    <a:latin typeface="Courier"/>
                  </a:rPr>
                  <a:t>pgfmathtruncatemacro</a:t>
                </a:r>
                <a:r>
                  <a:rPr sz="400" dirty="0">
                    <a:latin typeface="Courier"/>
                  </a:rPr>
                  <a:t>{\</a:t>
                </a:r>
                <a:r>
                  <a:rPr sz="400" dirty="0" err="1">
                    <a:latin typeface="Courier"/>
                  </a:rPr>
                  <a:t>nextlevel</a:t>
                </a:r>
                <a:r>
                  <a:rPr sz="400" dirty="0">
                    <a:latin typeface="Courier"/>
                  </a:rPr>
                  <a:t>}{\level-1}%
    \</a:t>
                </a:r>
                <a:r>
                  <a:rPr sz="400" dirty="0" err="1">
                    <a:latin typeface="Courier"/>
                  </a:rPr>
                  <a:t>foreach</a:t>
                </a:r>
                <a:r>
                  <a:rPr sz="400" dirty="0">
                    <a:latin typeface="Courier"/>
                  </a:rPr>
                  <a:t> \</a:t>
                </a:r>
                <a:r>
                  <a:rPr sz="400" dirty="0" err="1">
                    <a:latin typeface="Courier"/>
                  </a:rPr>
                  <a:t>i</a:t>
                </a:r>
                <a:r>
                  <a:rPr sz="400" dirty="0">
                    <a:latin typeface="Courier"/>
                  </a:rPr>
                  <a:t> in {0,1,2} {
      \</a:t>
                </a:r>
                <a:r>
                  <a:rPr sz="400" dirty="0" err="1">
                    <a:latin typeface="Courier"/>
                  </a:rPr>
                  <a:t>foreach</a:t>
                </a:r>
                <a:r>
                  <a:rPr sz="400" dirty="0">
                    <a:latin typeface="Courier"/>
                  </a:rPr>
                  <a:t> \j in {0,1,2} {
        % </a:t>
                </a:r>
                <a:r>
                  <a:rPr sz="400" dirty="0" err="1">
                    <a:latin typeface="Courier"/>
                  </a:rPr>
                  <a:t>Пропускаем</a:t>
                </a:r>
                <a:r>
                  <a:rPr sz="400" dirty="0">
                    <a:latin typeface="Courier"/>
                  </a:rPr>
                  <a:t> </a:t>
                </a:r>
                <a:r>
                  <a:rPr sz="400" dirty="0" err="1">
                    <a:latin typeface="Courier"/>
                  </a:rPr>
                  <a:t>центр</a:t>
                </a:r>
                <a:r>
                  <a:rPr sz="400" dirty="0">
                    <a:latin typeface="Courier"/>
                  </a:rPr>
                  <a:t> (</a:t>
                </a:r>
                <a:r>
                  <a:rPr sz="400" dirty="0" err="1">
                    <a:latin typeface="Courier"/>
                  </a:rPr>
                  <a:t>i</a:t>
                </a:r>
                <a:r>
                  <a:rPr sz="400" dirty="0">
                    <a:latin typeface="Courier"/>
                  </a:rPr>
                  <a:t>=1, j=1)
        \</a:t>
                </a:r>
                <a:r>
                  <a:rPr sz="400" dirty="0" err="1">
                    <a:latin typeface="Courier"/>
                  </a:rPr>
                  <a:t>pgfmathtruncatemacro</a:t>
                </a:r>
                <a:r>
                  <a:rPr sz="400" dirty="0">
                    <a:latin typeface="Courier"/>
                  </a:rPr>
                  <a:t>{\skip}{(\</a:t>
                </a:r>
                <a:r>
                  <a:rPr sz="400" dirty="0" err="1">
                    <a:latin typeface="Courier"/>
                  </a:rPr>
                  <a:t>i</a:t>
                </a:r>
                <a:r>
                  <a:rPr sz="400" dirty="0">
                    <a:latin typeface="Courier"/>
                  </a:rPr>
                  <a:t>==1 &amp;&amp; \j==1) ? 1 : 0}%
        \</a:t>
                </a:r>
                <a:r>
                  <a:rPr sz="400" dirty="0" err="1">
                    <a:latin typeface="Courier"/>
                  </a:rPr>
                  <a:t>ifnum</a:t>
                </a:r>
                <a:r>
                  <a:rPr sz="400" dirty="0">
                    <a:latin typeface="Courier"/>
                  </a:rPr>
                  <a:t>\skip=0
          \</a:t>
                </a:r>
                <a:r>
                  <a:rPr sz="400" dirty="0" err="1">
                    <a:latin typeface="Courier"/>
                  </a:rPr>
                  <a:t>pgfmathsetmacro</a:t>
                </a:r>
                <a:r>
                  <a:rPr sz="400" dirty="0">
                    <a:latin typeface="Courier"/>
                  </a:rPr>
                  <a:t>{\</a:t>
                </a:r>
                <a:r>
                  <a:rPr sz="400" dirty="0" err="1">
                    <a:latin typeface="Courier"/>
                  </a:rPr>
                  <a:t>newx</a:t>
                </a:r>
                <a:r>
                  <a:rPr sz="400" dirty="0">
                    <a:latin typeface="Courier"/>
                  </a:rPr>
                  <a:t>}{#1 + \</a:t>
                </a:r>
                <a:r>
                  <a:rPr sz="400" dirty="0" err="1">
                    <a:latin typeface="Courier"/>
                  </a:rPr>
                  <a:t>i</a:t>
                </a:r>
                <a:r>
                  <a:rPr sz="400" dirty="0">
                    <a:latin typeface="Courier"/>
                  </a:rPr>
                  <a:t>*\</a:t>
                </a:r>
                <a:r>
                  <a:rPr sz="400" dirty="0" err="1">
                    <a:latin typeface="Courier"/>
                  </a:rPr>
                  <a:t>newsize</a:t>
                </a:r>
                <a:r>
                  <a:rPr sz="400" dirty="0">
                    <a:latin typeface="Courier"/>
                  </a:rPr>
                  <a:t>}%
          \</a:t>
                </a:r>
                <a:r>
                  <a:rPr sz="400" dirty="0" err="1">
                    <a:latin typeface="Courier"/>
                  </a:rPr>
                  <a:t>pgfmathsetmacro</a:t>
                </a:r>
                <a:r>
                  <a:rPr sz="400" dirty="0">
                    <a:latin typeface="Courier"/>
                  </a:rPr>
                  <a:t>{\</a:t>
                </a:r>
                <a:r>
                  <a:rPr sz="400" dirty="0" err="1">
                    <a:latin typeface="Courier"/>
                  </a:rPr>
                  <a:t>newy</a:t>
                </a:r>
                <a:r>
                  <a:rPr sz="400" dirty="0">
                    <a:latin typeface="Courier"/>
                  </a:rPr>
                  <a:t>}{#2 + \j*\</a:t>
                </a:r>
                <a:r>
                  <a:rPr sz="400" dirty="0" err="1">
                    <a:latin typeface="Courier"/>
                  </a:rPr>
                  <a:t>newsize</a:t>
                </a:r>
                <a:r>
                  <a:rPr sz="400" dirty="0">
                    <a:latin typeface="Courier"/>
                  </a:rPr>
                  <a:t>}%
          \carpet{\</a:t>
                </a:r>
                <a:r>
                  <a:rPr sz="400" dirty="0" err="1">
                    <a:latin typeface="Courier"/>
                  </a:rPr>
                  <a:t>newx</a:t>
                </a:r>
                <a:r>
                  <a:rPr sz="400" dirty="0">
                    <a:latin typeface="Courier"/>
                  </a:rPr>
                  <a:t>}{\</a:t>
                </a:r>
                <a:r>
                  <a:rPr sz="400" dirty="0" err="1">
                    <a:latin typeface="Courier"/>
                  </a:rPr>
                  <a:t>newy</a:t>
                </a:r>
                <a:r>
                  <a:rPr sz="400" dirty="0">
                    <a:latin typeface="Courier"/>
                  </a:rPr>
                  <a:t>}{\</a:t>
                </a:r>
                <a:r>
                  <a:rPr sz="400" dirty="0" err="1">
                    <a:latin typeface="Courier"/>
                  </a:rPr>
                  <a:t>newsize</a:t>
                </a:r>
                <a:r>
                  <a:rPr sz="400" dirty="0">
                    <a:latin typeface="Courier"/>
                  </a:rPr>
                  <a:t>}{\</a:t>
                </a:r>
                <a:r>
                  <a:rPr sz="400" dirty="0" err="1">
                    <a:latin typeface="Courier"/>
                  </a:rPr>
                  <a:t>nextlevel</a:t>
                </a:r>
                <a:r>
                  <a:rPr sz="400" dirty="0">
                    <a:latin typeface="Courier"/>
                  </a:rPr>
                  <a:t>}%
        \fi
      }
    }
  \fi
}</a:t>
                </a:r>
              </a:p>
              <a:p>
                <a:pPr marL="0" lvl="0" indent="0">
                  <a:buNone/>
                </a:pPr>
                <a:r>
                  <a:rPr sz="400" dirty="0" err="1"/>
                  <a:t>Результат</a:t>
                </a:r>
                <a:r>
                  <a:rPr sz="400" dirty="0"/>
                  <a:t>: </a:t>
                </a:r>
                <a:r>
                  <a:rPr sz="400" dirty="0" err="1"/>
                  <a:t>Ковер</a:t>
                </a:r>
                <a:r>
                  <a:rPr sz="400" dirty="0"/>
                  <a:t> </a:t>
                </a:r>
                <a:r>
                  <a:rPr sz="400" dirty="0" err="1"/>
                  <a:t>Серпинского</a:t>
                </a:r>
                <a:endParaRPr sz="400" dirty="0"/>
              </a:p>
              <a:p>
                <a:pPr marL="0" lvl="0" indent="0">
                  <a:buNone/>
                </a:pPr>
                <a:r>
                  <a:rPr sz="400" dirty="0" err="1"/>
                  <a:t>Анализ</a:t>
                </a:r>
                <a:r>
                  <a:rPr sz="400" dirty="0"/>
                  <a:t> </a:t>
                </a:r>
                <a:r>
                  <a:rPr sz="400" dirty="0" err="1"/>
                  <a:t>сложности</a:t>
                </a:r>
                <a:endParaRPr sz="400" dirty="0"/>
              </a:p>
              <a:p>
                <a:pPr marL="0" lvl="0" indent="0">
                  <a:buNone/>
                </a:pPr>
                <a:r>
                  <a:rPr sz="400" dirty="0"/>
                  <a:t>0.48 </a:t>
                </a:r>
                <a:r>
                  <a:rPr sz="400" b="1" dirty="0" err="1"/>
                  <a:t>Временная</a:t>
                </a:r>
                <a:r>
                  <a:rPr sz="400" b="1" dirty="0"/>
                  <a:t> </a:t>
                </a:r>
                <a:r>
                  <a:rPr sz="400" b="1" dirty="0" err="1"/>
                  <a:t>сложность</a:t>
                </a:r>
                <a:r>
                  <a:rPr sz="400" b="1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0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sz="4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sz="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00" b="1" dirty="0"/>
              </a:p>
              <a:p>
                <a:pPr marL="0" lvl="0" indent="0">
                  <a:buNone/>
                </a:pPr>
                <a:r>
                  <a:rPr sz="400" dirty="0" err="1"/>
                  <a:t>На</a:t>
                </a:r>
                <a:r>
                  <a:rPr sz="400" dirty="0"/>
                  <a:t> </a:t>
                </a:r>
                <a:r>
                  <a:rPr sz="400" dirty="0" err="1"/>
                  <a:t>каждом</a:t>
                </a:r>
                <a:r>
                  <a:rPr sz="400" dirty="0"/>
                  <a:t> </a:t>
                </a:r>
                <a:r>
                  <a:rPr sz="400" dirty="0" err="1"/>
                  <a:t>уровне</a:t>
                </a:r>
                <a:r>
                  <a:rPr sz="400" dirty="0"/>
                  <a:t>:</a:t>
                </a:r>
              </a:p>
              <a:p>
                <a:pPr lvl="0"/>
                <a:r>
                  <a:rPr sz="400" dirty="0" err="1"/>
                  <a:t>Проверяется</a:t>
                </a:r>
                <a:r>
                  <a:rPr sz="400" dirty="0"/>
                  <a:t> 9 </a:t>
                </a:r>
                <a:r>
                  <a:rPr sz="400" dirty="0" err="1"/>
                  <a:t>позиций</a:t>
                </a:r>
                <a:endParaRPr sz="400" dirty="0"/>
              </a:p>
              <a:p>
                <a:pPr lvl="0"/>
                <a:r>
                  <a:rPr sz="400" dirty="0" err="1"/>
                  <a:t>Рисуется</a:t>
                </a:r>
                <a:r>
                  <a:rPr sz="400" dirty="0"/>
                  <a:t> 8 </a:t>
                </a:r>
                <a:r>
                  <a:rPr sz="400" dirty="0" err="1"/>
                  <a:t>квадратов</a:t>
                </a:r>
                <a:endParaRPr sz="400" dirty="0"/>
              </a:p>
              <a:p>
                <a:pPr lvl="0"/>
                <a:r>
                  <a:rPr sz="400" dirty="0" err="1"/>
                  <a:t>Глубина</a:t>
                </a:r>
                <a:r>
                  <a:rPr sz="400" dirty="0"/>
                  <a:t> </a:t>
                </a:r>
                <a:r>
                  <a:rPr sz="400" dirty="0" err="1"/>
                  <a:t>рекурсии</a:t>
                </a:r>
                <a:r>
                  <a:rPr sz="400" dirty="0"/>
                  <a:t>: </a:t>
                </a:r>
                <a14:m>
                  <m:oMath xmlns:m="http://schemas.openxmlformats.org/officeDocument/2006/math">
                    <m:r>
                      <a:rPr sz="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400" dirty="0"/>
              </a:p>
              <a:p>
                <a:pPr marL="0" lvl="0" indent="0">
                  <a:buNone/>
                </a:pPr>
                <a:r>
                  <a:rPr sz="400" dirty="0"/>
                  <a:t>0.48 </a:t>
                </a:r>
                <a:r>
                  <a:rPr sz="400" b="1" dirty="0" err="1"/>
                  <a:t>Пространственная</a:t>
                </a:r>
                <a:r>
                  <a:rPr sz="400" b="1" dirty="0"/>
                  <a:t> </a:t>
                </a:r>
                <a:r>
                  <a:rPr sz="400" b="1" dirty="0" err="1"/>
                  <a:t>сложность</a:t>
                </a:r>
                <a:r>
                  <a:rPr sz="400" b="1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0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00" b="1" dirty="0"/>
              </a:p>
              <a:p>
                <a:pPr marL="0" lvl="0" indent="0">
                  <a:buNone/>
                </a:pPr>
                <a:r>
                  <a:rPr sz="400" dirty="0" err="1"/>
                  <a:t>Стек</a:t>
                </a:r>
                <a:r>
                  <a:rPr sz="400" dirty="0"/>
                  <a:t> </a:t>
                </a:r>
                <a:r>
                  <a:rPr sz="400" dirty="0" err="1"/>
                  <a:t>вызовов</a:t>
                </a:r>
                <a:r>
                  <a:rPr sz="400" dirty="0"/>
                  <a:t>:</a:t>
                </a:r>
              </a:p>
              <a:p>
                <a:pPr lvl="0"/>
                <a:r>
                  <a:rPr sz="400" dirty="0" err="1"/>
                  <a:t>Максимальная</a:t>
                </a:r>
                <a:r>
                  <a:rPr sz="400" dirty="0"/>
                  <a:t> </a:t>
                </a:r>
                <a:r>
                  <a:rPr sz="400" dirty="0" err="1"/>
                  <a:t>глубина</a:t>
                </a:r>
                <a:r>
                  <a:rPr sz="400" dirty="0"/>
                  <a:t>: </a:t>
                </a:r>
                <a14:m>
                  <m:oMath xmlns:m="http://schemas.openxmlformats.org/officeDocument/2006/math">
                    <m:r>
                      <a:rPr sz="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400" dirty="0"/>
              </a:p>
              <a:p>
                <a:pPr lvl="0"/>
                <a:r>
                  <a:rPr sz="400" dirty="0" err="1"/>
                  <a:t>Каждый</a:t>
                </a:r>
                <a:r>
                  <a:rPr sz="400" dirty="0"/>
                  <a:t> </a:t>
                </a:r>
                <a:r>
                  <a:rPr sz="400" dirty="0" err="1"/>
                  <a:t>уровень</a:t>
                </a:r>
                <a:r>
                  <a:rPr sz="400" dirty="0"/>
                  <a:t> </a:t>
                </a:r>
                <a:r>
                  <a:rPr sz="400" dirty="0" err="1"/>
                  <a:t>хранит</a:t>
                </a:r>
                <a:r>
                  <a:rPr sz="400" dirty="0"/>
                  <a:t> </a:t>
                </a:r>
                <a:r>
                  <a:rPr sz="400" dirty="0" err="1"/>
                  <a:t>параметры</a:t>
                </a:r>
                <a:endParaRPr sz="400" dirty="0"/>
              </a:p>
              <a:p>
                <a:pPr lvl="0"/>
                <a:r>
                  <a:rPr sz="400" dirty="0" err="1"/>
                  <a:t>Линейная</a:t>
                </a:r>
                <a:r>
                  <a:rPr sz="400" dirty="0"/>
                  <a:t> </a:t>
                </a:r>
                <a:r>
                  <a:rPr sz="400" dirty="0" err="1"/>
                  <a:t>зависимость</a:t>
                </a:r>
                <a:endParaRPr sz="400" dirty="0"/>
              </a:p>
              <a:p>
                <a:pPr marL="0" lvl="0" indent="0">
                  <a:buNone/>
                </a:pPr>
                <a:r>
                  <a:rPr sz="400" dirty="0" err="1"/>
                  <a:t>Практическое</a:t>
                </a:r>
                <a:r>
                  <a:rPr sz="400" dirty="0"/>
                  <a:t> </a:t>
                </a:r>
                <a:r>
                  <a:rPr sz="400" dirty="0" err="1"/>
                  <a:t>ограничение</a:t>
                </a:r>
                <a:r>
                  <a:rPr sz="400" dirty="0"/>
                  <a:t> </a:t>
                </a:r>
                <a:r>
                  <a:rPr sz="400" dirty="0" err="1"/>
                  <a:t>Для</a:t>
                </a:r>
                <a:r>
                  <a:rPr sz="400" dirty="0"/>
                  <a:t> </a:t>
                </a:r>
                <a:r>
                  <a:rPr sz="400" dirty="0" err="1"/>
                  <a:t>этапа</a:t>
                </a:r>
                <a:r>
                  <a:rPr sz="400" dirty="0"/>
                  <a:t> 5 </a:t>
                </a:r>
                <a:r>
                  <a:rPr sz="400" dirty="0" err="1"/>
                  <a:t>потребуется</a:t>
                </a:r>
                <a:r>
                  <a:rPr sz="400" dirty="0"/>
                  <a:t> </a:t>
                </a:r>
                <a:r>
                  <a:rPr sz="400" dirty="0" err="1"/>
                  <a:t>нарисовать</a:t>
                </a:r>
                <a:r>
                  <a:rPr sz="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sz="40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sz="400">
                        <a:latin typeface="Cambria Math" panose="02040503050406030204" pitchFamily="18" charset="0"/>
                      </a:rPr>
                      <m:t>=32 768</m:t>
                    </m:r>
                  </m:oMath>
                </a14:m>
                <a:r>
                  <a:rPr sz="400" dirty="0"/>
                  <a:t> </a:t>
                </a:r>
                <a:r>
                  <a:rPr sz="400" dirty="0" err="1"/>
                  <a:t>квадратов</a:t>
                </a:r>
                <a:r>
                  <a:rPr sz="400" dirty="0"/>
                  <a:t>, </a:t>
                </a:r>
                <a:r>
                  <a:rPr sz="400" dirty="0" err="1"/>
                  <a:t>что</a:t>
                </a:r>
                <a:r>
                  <a:rPr sz="400" dirty="0"/>
                  <a:t> </a:t>
                </a:r>
                <a:r>
                  <a:rPr sz="400" dirty="0" err="1"/>
                  <a:t>может</a:t>
                </a:r>
                <a:r>
                  <a:rPr sz="400" dirty="0"/>
                  <a:t> </a:t>
                </a:r>
                <a:r>
                  <a:rPr sz="400" dirty="0" err="1"/>
                  <a:t>занять</a:t>
                </a:r>
                <a:r>
                  <a:rPr sz="400" dirty="0"/>
                  <a:t> </a:t>
                </a:r>
                <a:r>
                  <a:rPr sz="400" dirty="0" err="1"/>
                  <a:t>значительное</a:t>
                </a:r>
                <a:r>
                  <a:rPr sz="400" dirty="0"/>
                  <a:t> </a:t>
                </a:r>
                <a:r>
                  <a:rPr sz="400" dirty="0" err="1"/>
                  <a:t>время</a:t>
                </a:r>
                <a:r>
                  <a:rPr sz="400" dirty="0"/>
                  <a:t> </a:t>
                </a:r>
                <a:r>
                  <a:rPr sz="400" dirty="0" err="1"/>
                  <a:t>компиляции</a:t>
                </a:r>
                <a:endParaRPr sz="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59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4268312" cy="3394472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dirty="0" err="1"/>
              <a:t>Освоенные</a:t>
            </a:r>
            <a:r>
              <a:rPr dirty="0"/>
              <a:t> </a:t>
            </a:r>
            <a:r>
              <a:rPr dirty="0" err="1"/>
              <a:t>навыки</a:t>
            </a:r>
            <a:endParaRPr dirty="0"/>
          </a:p>
          <a:p>
            <a:pPr marL="0" lvl="0" indent="0">
              <a:buNone/>
            </a:pPr>
            <a:r>
              <a:rPr dirty="0"/>
              <a:t>0.48 </a:t>
            </a:r>
            <a:r>
              <a:rPr b="1" dirty="0" err="1"/>
              <a:t>Технические</a:t>
            </a:r>
            <a:r>
              <a:rPr b="1" dirty="0"/>
              <a:t> </a:t>
            </a:r>
            <a:r>
              <a:rPr b="1" dirty="0" err="1"/>
              <a:t>навыки</a:t>
            </a:r>
            <a:r>
              <a:rPr b="1" dirty="0"/>
              <a:t>:</a:t>
            </a:r>
          </a:p>
          <a:p>
            <a:pPr lvl="0"/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узлами</a:t>
            </a:r>
            <a:r>
              <a:rPr dirty="0"/>
              <a:t> и </a:t>
            </a:r>
            <a:r>
              <a:rPr dirty="0" err="1"/>
              <a:t>стилями</a:t>
            </a:r>
            <a:endParaRPr dirty="0"/>
          </a:p>
          <a:p>
            <a:pPr lvl="0"/>
            <a:r>
              <a:rPr dirty="0" err="1"/>
              <a:t>Построение</a:t>
            </a:r>
            <a:r>
              <a:rPr dirty="0"/>
              <a:t> </a:t>
            </a:r>
            <a:r>
              <a:rPr dirty="0" err="1"/>
              <a:t>различных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 </a:t>
            </a:r>
            <a:r>
              <a:rPr dirty="0" err="1"/>
              <a:t>линий</a:t>
            </a:r>
            <a:endParaRPr dirty="0"/>
          </a:p>
          <a:p>
            <a:pPr lvl="0"/>
            <a:r>
              <a:rPr dirty="0" err="1"/>
              <a:t>Визуализация</a:t>
            </a:r>
            <a:r>
              <a:rPr dirty="0"/>
              <a:t> </a:t>
            </a:r>
            <a:r>
              <a:rPr dirty="0" err="1"/>
              <a:t>функций</a:t>
            </a:r>
            <a:endParaRPr dirty="0"/>
          </a:p>
          <a:p>
            <a:pPr lvl="0"/>
            <a:r>
              <a:rPr dirty="0" err="1"/>
              <a:t>Рекурсивное</a:t>
            </a:r>
            <a:r>
              <a:rPr dirty="0"/>
              <a:t> </a:t>
            </a:r>
            <a:r>
              <a:rPr dirty="0" err="1"/>
              <a:t>программирование</a:t>
            </a:r>
            <a:endParaRPr dirty="0"/>
          </a:p>
          <a:p>
            <a:pPr lvl="0"/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координатами</a:t>
            </a:r>
            <a:endParaRPr dirty="0"/>
          </a:p>
          <a:p>
            <a:pPr marL="0" lvl="0" indent="0">
              <a:buNone/>
            </a:pPr>
            <a:r>
              <a:rPr dirty="0"/>
              <a:t>0.48 </a:t>
            </a:r>
            <a:r>
              <a:rPr b="1" dirty="0" err="1"/>
              <a:t>Теоретические</a:t>
            </a:r>
            <a:r>
              <a:rPr b="1" dirty="0"/>
              <a:t> </a:t>
            </a:r>
            <a:r>
              <a:rPr b="1" dirty="0" err="1"/>
              <a:t>знания</a:t>
            </a:r>
            <a:r>
              <a:rPr b="1" dirty="0"/>
              <a:t>:</a:t>
            </a:r>
          </a:p>
          <a:p>
            <a:pPr lvl="0"/>
            <a:r>
              <a:rPr dirty="0" err="1"/>
              <a:t>Теория</a:t>
            </a:r>
            <a:r>
              <a:rPr dirty="0"/>
              <a:t> </a:t>
            </a:r>
            <a:r>
              <a:rPr dirty="0" err="1"/>
              <a:t>графов</a:t>
            </a:r>
            <a:endParaRPr dirty="0"/>
          </a:p>
          <a:p>
            <a:pPr lvl="0"/>
            <a:r>
              <a:rPr dirty="0" err="1"/>
              <a:t>Математический</a:t>
            </a:r>
            <a:r>
              <a:rPr dirty="0"/>
              <a:t> </a:t>
            </a:r>
            <a:r>
              <a:rPr dirty="0" err="1"/>
              <a:t>анализ</a:t>
            </a:r>
            <a:endParaRPr dirty="0"/>
          </a:p>
          <a:p>
            <a:pPr lvl="0"/>
            <a:r>
              <a:rPr dirty="0" err="1"/>
              <a:t>Фрактальная</a:t>
            </a:r>
            <a:r>
              <a:rPr dirty="0"/>
              <a:t> </a:t>
            </a:r>
            <a:r>
              <a:rPr dirty="0" err="1"/>
              <a:t>геометрия</a:t>
            </a:r>
            <a:endParaRPr dirty="0"/>
          </a:p>
          <a:p>
            <a:pPr lvl="0"/>
            <a:r>
              <a:rPr dirty="0" err="1"/>
              <a:t>Алгоритмы</a:t>
            </a:r>
            <a:r>
              <a:rPr dirty="0"/>
              <a:t> и </a:t>
            </a:r>
            <a:r>
              <a:rPr dirty="0" err="1"/>
              <a:t>сложность</a:t>
            </a:r>
            <a:endParaRPr dirty="0"/>
          </a:p>
          <a:p>
            <a:pPr lvl="0"/>
            <a:r>
              <a:rPr dirty="0" err="1"/>
              <a:t>Векторная</a:t>
            </a:r>
            <a:r>
              <a:rPr dirty="0"/>
              <a:t> </a:t>
            </a:r>
            <a:r>
              <a:rPr dirty="0" err="1"/>
              <a:t>графика</a:t>
            </a:r>
            <a:endParaRPr dirty="0"/>
          </a:p>
          <a:p>
            <a:pPr marL="0" lvl="0" indent="0">
              <a:buNone/>
            </a:pP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TikZ</a:t>
            </a:r>
            <a:r>
              <a:rPr dirty="0"/>
              <a:t> — </a:t>
            </a:r>
            <a:r>
              <a:rPr dirty="0" err="1"/>
              <a:t>мощный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высококачественной</a:t>
            </a:r>
            <a:r>
              <a:rPr dirty="0"/>
              <a:t> </a:t>
            </a:r>
            <a:r>
              <a:rPr dirty="0" err="1"/>
              <a:t>научной</a:t>
            </a:r>
            <a:r>
              <a:rPr dirty="0"/>
              <a:t> </a:t>
            </a:r>
            <a:r>
              <a:rPr dirty="0" err="1"/>
              <a:t>графики</a:t>
            </a:r>
            <a:r>
              <a:rPr dirty="0"/>
              <a:t>, </a:t>
            </a:r>
            <a:r>
              <a:rPr dirty="0" err="1"/>
              <a:t>интегрированной</a:t>
            </a:r>
            <a:r>
              <a:rPr dirty="0"/>
              <a:t> с </a:t>
            </a:r>
            <a:r>
              <a:rPr dirty="0" err="1"/>
              <a:t>LaTeX</a:t>
            </a:r>
            <a:endParaRPr dirty="0"/>
          </a:p>
          <a:p>
            <a:pPr marL="0" lvl="0" indent="0">
              <a:buNone/>
            </a:pPr>
            <a:r>
              <a:rPr dirty="0" err="1"/>
              <a:t>Преимущества</a:t>
            </a:r>
            <a:r>
              <a:rPr dirty="0"/>
              <a:t> </a:t>
            </a:r>
            <a:r>
              <a:rPr dirty="0" err="1"/>
              <a:t>TikZ</a:t>
            </a:r>
            <a:endParaRPr dirty="0"/>
          </a:p>
          <a:p>
            <a:pPr marL="0" lvl="0" indent="0">
              <a:buNone/>
            </a:pPr>
            <a:r>
              <a:rPr dirty="0"/>
              <a:t>0.55</a:t>
            </a:r>
          </a:p>
          <a:p>
            <a:pPr lvl="0"/>
            <a:r>
              <a:rPr b="1" dirty="0" err="1"/>
              <a:t>Точность</a:t>
            </a:r>
            <a:r>
              <a:rPr dirty="0"/>
              <a:t> — </a:t>
            </a:r>
            <a:r>
              <a:rPr dirty="0" err="1"/>
              <a:t>математически</a:t>
            </a:r>
            <a:r>
              <a:rPr dirty="0"/>
              <a:t> </a:t>
            </a:r>
            <a:r>
              <a:rPr dirty="0" err="1"/>
              <a:t>точные</a:t>
            </a:r>
            <a:r>
              <a:rPr dirty="0"/>
              <a:t> </a:t>
            </a:r>
            <a:r>
              <a:rPr dirty="0" err="1"/>
              <a:t>построения</a:t>
            </a:r>
            <a:endParaRPr dirty="0"/>
          </a:p>
          <a:p>
            <a:pPr lvl="0"/>
            <a:r>
              <a:rPr b="1" dirty="0" err="1"/>
              <a:t>Масштабируемость</a:t>
            </a:r>
            <a:r>
              <a:rPr dirty="0"/>
              <a:t> — </a:t>
            </a:r>
            <a:r>
              <a:rPr dirty="0" err="1"/>
              <a:t>векторная</a:t>
            </a:r>
            <a:r>
              <a:rPr dirty="0"/>
              <a:t> </a:t>
            </a:r>
            <a:r>
              <a:rPr dirty="0" err="1"/>
              <a:t>графика</a:t>
            </a:r>
            <a:endParaRPr dirty="0"/>
          </a:p>
          <a:p>
            <a:pPr lvl="0"/>
            <a:r>
              <a:rPr b="1" dirty="0" err="1"/>
              <a:t>Интеграция</a:t>
            </a:r>
            <a:r>
              <a:rPr dirty="0"/>
              <a:t> — </a:t>
            </a:r>
            <a:r>
              <a:rPr dirty="0" err="1"/>
              <a:t>единый</a:t>
            </a:r>
            <a:r>
              <a:rPr dirty="0"/>
              <a:t> </a:t>
            </a:r>
            <a:r>
              <a:rPr dirty="0" err="1"/>
              <a:t>стиль</a:t>
            </a:r>
            <a:r>
              <a:rPr dirty="0"/>
              <a:t> с </a:t>
            </a:r>
            <a:r>
              <a:rPr dirty="0" err="1"/>
              <a:t>документом</a:t>
            </a:r>
            <a:endParaRPr dirty="0"/>
          </a:p>
          <a:p>
            <a:pPr lvl="0"/>
            <a:r>
              <a:rPr b="1" dirty="0" err="1"/>
              <a:t>Программируемость</a:t>
            </a:r>
            <a:r>
              <a:rPr dirty="0"/>
              <a:t> — </a:t>
            </a:r>
            <a:r>
              <a:rPr dirty="0" err="1"/>
              <a:t>автоматизация</a:t>
            </a:r>
            <a:endParaRPr dirty="0"/>
          </a:p>
          <a:p>
            <a:pPr lvl="0"/>
            <a:r>
              <a:rPr b="1" dirty="0" err="1"/>
              <a:t>Воспроизводимость</a:t>
            </a:r>
            <a:r>
              <a:rPr dirty="0"/>
              <a:t> —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файлов</a:t>
            </a:r>
            <a:endParaRPr dirty="0"/>
          </a:p>
          <a:p>
            <a:pPr marL="0" lvl="0" indent="0">
              <a:buNone/>
            </a:pPr>
            <a:r>
              <a:rPr dirty="0"/>
              <a:t>0.4</a:t>
            </a:r>
          </a:p>
          <a:p>
            <a:pPr marL="0" lvl="0" indent="0">
              <a:buNone/>
            </a:pPr>
            <a:r>
              <a:rPr dirty="0" err="1"/>
              <a:t>Области</a:t>
            </a:r>
            <a:r>
              <a:rPr dirty="0"/>
              <a:t> </a:t>
            </a:r>
            <a:r>
              <a:rPr dirty="0" err="1"/>
              <a:t>применения</a:t>
            </a:r>
            <a:endParaRPr dirty="0"/>
          </a:p>
          <a:p>
            <a:pPr marL="0" lvl="0" indent="0">
              <a:buNone/>
            </a:pPr>
            <a:r>
              <a:rPr dirty="0" err="1"/>
              <a:t>Дальнейшее</a:t>
            </a:r>
            <a:r>
              <a:rPr dirty="0"/>
              <a:t> </a:t>
            </a:r>
            <a:r>
              <a:rPr dirty="0" err="1"/>
              <a:t>развитие</a:t>
            </a:r>
            <a:endParaRPr dirty="0"/>
          </a:p>
          <a:p>
            <a:pPr marL="0" lvl="0" indent="0">
              <a:buNone/>
            </a:pPr>
            <a:r>
              <a:rPr dirty="0" err="1"/>
              <a:t>Возможные</a:t>
            </a:r>
            <a:r>
              <a:rPr dirty="0"/>
              <a:t> </a:t>
            </a:r>
            <a:r>
              <a:rPr dirty="0" err="1"/>
              <a:t>направления</a:t>
            </a:r>
            <a:endParaRPr dirty="0"/>
          </a:p>
          <a:p>
            <a:pPr lvl="0"/>
            <a:r>
              <a:rPr dirty="0" err="1"/>
              <a:t>Изучение</a:t>
            </a:r>
            <a:r>
              <a:rPr dirty="0"/>
              <a:t> </a:t>
            </a:r>
            <a:r>
              <a:rPr dirty="0" err="1"/>
              <a:t>библиотек</a:t>
            </a:r>
            <a:r>
              <a:rPr dirty="0"/>
              <a:t> </a:t>
            </a:r>
            <a:r>
              <a:rPr dirty="0" err="1"/>
              <a:t>TikZ</a:t>
            </a:r>
            <a:r>
              <a:rPr dirty="0"/>
              <a:t> (circuits, automata, </a:t>
            </a:r>
            <a:r>
              <a:rPr dirty="0" err="1"/>
              <a:t>mindmap</a:t>
            </a:r>
            <a:r>
              <a:rPr dirty="0"/>
              <a:t>)</a:t>
            </a:r>
          </a:p>
          <a:p>
            <a:pPr lvl="0"/>
            <a:r>
              <a:rPr dirty="0"/>
              <a:t>3D-графика с </a:t>
            </a:r>
            <a:r>
              <a:rPr dirty="0" err="1"/>
              <a:t>помощью</a:t>
            </a:r>
            <a:r>
              <a:rPr dirty="0"/>
              <a:t> tikz-3dplot</a:t>
            </a:r>
          </a:p>
          <a:p>
            <a:pPr lvl="0"/>
            <a:r>
              <a:rPr dirty="0" err="1"/>
              <a:t>Анимация</a:t>
            </a:r>
            <a:r>
              <a:rPr dirty="0"/>
              <a:t> с </a:t>
            </a:r>
            <a:r>
              <a:rPr dirty="0" err="1"/>
              <a:t>использованием</a:t>
            </a:r>
            <a:r>
              <a:rPr dirty="0"/>
              <a:t> animate</a:t>
            </a:r>
          </a:p>
          <a:p>
            <a:pPr lvl="0"/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интерактивных</a:t>
            </a:r>
            <a:r>
              <a:rPr dirty="0"/>
              <a:t> </a:t>
            </a:r>
            <a:r>
              <a:rPr dirty="0" err="1"/>
              <a:t>диаграмм</a:t>
            </a:r>
            <a:endParaRPr dirty="0"/>
          </a:p>
          <a:p>
            <a:pPr lvl="0"/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собственных</a:t>
            </a:r>
            <a:r>
              <a:rPr dirty="0"/>
              <a:t> </a:t>
            </a:r>
            <a:r>
              <a:rPr dirty="0" err="1"/>
              <a:t>библиотек</a:t>
            </a:r>
            <a:r>
              <a:rPr dirty="0"/>
              <a:t> </a:t>
            </a:r>
            <a:r>
              <a:rPr dirty="0" err="1"/>
              <a:t>стилей</a:t>
            </a:r>
            <a:endParaRPr dirty="0"/>
          </a:p>
          <a:p>
            <a:pPr marL="0" lvl="0" indent="0">
              <a:buNone/>
            </a:pPr>
            <a:r>
              <a:rPr dirty="0" err="1"/>
              <a:t>Рекомендуемые</a:t>
            </a:r>
            <a:r>
              <a:rPr dirty="0"/>
              <a:t> </a:t>
            </a:r>
            <a:r>
              <a:rPr dirty="0" err="1"/>
              <a:t>ресурсы</a:t>
            </a:r>
            <a:endParaRPr dirty="0"/>
          </a:p>
          <a:p>
            <a:pPr lvl="0"/>
            <a:r>
              <a:rPr dirty="0" err="1"/>
              <a:t>Официальная</a:t>
            </a:r>
            <a:r>
              <a:rPr dirty="0"/>
              <a:t> </a:t>
            </a: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TikZ</a:t>
            </a:r>
            <a:r>
              <a:rPr dirty="0"/>
              <a:t> &amp; PGF (1300+ </a:t>
            </a:r>
            <a:r>
              <a:rPr dirty="0" err="1"/>
              <a:t>страниц</a:t>
            </a:r>
            <a:r>
              <a:rPr dirty="0"/>
              <a:t>)</a:t>
            </a:r>
          </a:p>
          <a:p>
            <a:pPr lvl="0"/>
            <a:r>
              <a:rPr dirty="0"/>
              <a:t>TeXample.net — </a:t>
            </a:r>
            <a:r>
              <a:rPr dirty="0" err="1"/>
              <a:t>галерея</a:t>
            </a:r>
            <a:r>
              <a:rPr dirty="0"/>
              <a:t> </a:t>
            </a:r>
            <a:r>
              <a:rPr dirty="0" err="1"/>
              <a:t>примеров</a:t>
            </a:r>
            <a:endParaRPr dirty="0"/>
          </a:p>
          <a:p>
            <a:pPr lvl="0"/>
            <a:r>
              <a:rPr dirty="0" err="1"/>
              <a:t>TeX</a:t>
            </a:r>
            <a:r>
              <a:rPr dirty="0"/>
              <a:t> Stack Exchange — </a:t>
            </a:r>
            <a:r>
              <a:rPr dirty="0" err="1"/>
              <a:t>сообщество</a:t>
            </a:r>
            <a:endParaRPr dirty="0"/>
          </a:p>
          <a:p>
            <a:pPr marL="0" lvl="0" indent="0">
              <a:buNone/>
            </a:pPr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!</a:t>
            </a:r>
          </a:p>
          <a:p>
            <a:pPr marL="0" lvl="0" indent="0">
              <a:buNone/>
            </a:pPr>
            <a:r>
              <a:rPr dirty="0" err="1"/>
              <a:t>Вопросы</a:t>
            </a:r>
            <a:r>
              <a:rPr dirty="0" smtClean="0"/>
              <a:t>?</a:t>
            </a:r>
            <a:endParaRPr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985715"/>
            <a:ext cx="4572000" cy="387798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ru-RU" sz="600" dirty="0"/>
              <a:t>Приложение: Полный код графа</a:t>
            </a:r>
          </a:p>
          <a:p>
            <a:pPr lvl="0" indent="0">
              <a:buNone/>
            </a:pPr>
            <a:r>
              <a:rPr lang="ru-RU" sz="600" dirty="0">
                <a:latin typeface="Courier"/>
              </a:rPr>
              <a:t>\</a:t>
            </a:r>
            <a:r>
              <a:rPr lang="en-US" sz="600" dirty="0" err="1">
                <a:latin typeface="Courier"/>
              </a:rPr>
              <a:t>documentclass</a:t>
            </a:r>
            <a:r>
              <a:rPr lang="en-US" sz="600" dirty="0">
                <a:latin typeface="Courier"/>
              </a:rPr>
              <a:t>[border=1cm]{standalone}
\</a:t>
            </a:r>
            <a:r>
              <a:rPr lang="en-US" sz="600" dirty="0" err="1">
                <a:latin typeface="Courier"/>
              </a:rPr>
              <a:t>usepackage</a:t>
            </a:r>
            <a:r>
              <a:rPr lang="en-US" sz="600" dirty="0">
                <a:latin typeface="Courier"/>
              </a:rPr>
              <a:t>{</a:t>
            </a:r>
            <a:r>
              <a:rPr lang="en-US" sz="600" dirty="0" err="1">
                <a:latin typeface="Courier"/>
              </a:rPr>
              <a:t>tikz</a:t>
            </a:r>
            <a:r>
              <a:rPr lang="en-US" sz="600" dirty="0">
                <a:latin typeface="Courier"/>
              </a:rPr>
              <a:t>}
\</a:t>
            </a:r>
            <a:r>
              <a:rPr lang="en-US" sz="600" dirty="0" err="1">
                <a:latin typeface="Courier"/>
              </a:rPr>
              <a:t>usetikzlibrary</a:t>
            </a:r>
            <a:r>
              <a:rPr lang="en-US" sz="600" dirty="0">
                <a:latin typeface="Courier"/>
              </a:rPr>
              <a:t>{</a:t>
            </a:r>
            <a:r>
              <a:rPr lang="en-US" sz="600" dirty="0" err="1">
                <a:latin typeface="Courier"/>
              </a:rPr>
              <a:t>positioning,calc</a:t>
            </a:r>
            <a:r>
              <a:rPr lang="en-US" sz="600" dirty="0">
                <a:latin typeface="Courier"/>
              </a:rPr>
              <a:t>}
\begin{document}
\begin{</a:t>
            </a:r>
            <a:r>
              <a:rPr lang="en-US" sz="600" dirty="0" err="1">
                <a:latin typeface="Courier"/>
              </a:rPr>
              <a:t>tikzpicture</a:t>
            </a:r>
            <a:r>
              <a:rPr lang="en-US" sz="600" dirty="0">
                <a:latin typeface="Courier"/>
              </a:rPr>
              <a:t>}[&gt;=stealth, every node/.style={font=\small}]
  \</a:t>
            </a:r>
            <a:r>
              <a:rPr lang="en-US" sz="600" dirty="0" err="1">
                <a:latin typeface="Courier"/>
              </a:rPr>
              <a:t>tikzset</a:t>
            </a:r>
            <a:r>
              <a:rPr lang="en-US" sz="600" dirty="0">
                <a:latin typeface="Courier"/>
              </a:rPr>
              <a:t>{
    ring/.style={</a:t>
            </a:r>
            <a:r>
              <a:rPr lang="en-US" sz="600" dirty="0" err="1">
                <a:latin typeface="Courier"/>
              </a:rPr>
              <a:t>circle,draw</a:t>
            </a:r>
            <a:r>
              <a:rPr lang="en-US" sz="600" dirty="0">
                <a:latin typeface="Courier"/>
              </a:rPr>
              <a:t>=</a:t>
            </a:r>
            <a:r>
              <a:rPr lang="en-US" sz="600" dirty="0" err="1">
                <a:latin typeface="Courier"/>
              </a:rPr>
              <a:t>black,thin,double</a:t>
            </a:r>
            <a:r>
              <a:rPr lang="en-US" sz="600" dirty="0">
                <a:latin typeface="Courier"/>
              </a:rPr>
              <a:t>=black,
                 double distance=1.5pt,minimum size=9mm,
                 inner </a:t>
            </a:r>
            <a:r>
              <a:rPr lang="en-US" sz="600" dirty="0" err="1">
                <a:latin typeface="Courier"/>
              </a:rPr>
              <a:t>sep</a:t>
            </a:r>
            <a:r>
              <a:rPr lang="en-US" sz="600" dirty="0">
                <a:latin typeface="Courier"/>
              </a:rPr>
              <a:t>=0pt,fill=white},
    green/.style={</a:t>
            </a:r>
            <a:r>
              <a:rPr lang="en-US" sz="600" dirty="0" err="1">
                <a:latin typeface="Courier"/>
              </a:rPr>
              <a:t>circle,draw</a:t>
            </a:r>
            <a:r>
              <a:rPr lang="en-US" sz="600" dirty="0">
                <a:latin typeface="Courier"/>
              </a:rPr>
              <a:t>=</a:t>
            </a:r>
            <a:r>
              <a:rPr lang="en-US" sz="600" dirty="0" err="1">
                <a:latin typeface="Courier"/>
              </a:rPr>
              <a:t>black,very</a:t>
            </a:r>
            <a:r>
              <a:rPr lang="en-US" sz="600" dirty="0">
                <a:latin typeface="Courier"/>
              </a:rPr>
              <a:t> thick,
                  minimum size=9mm,inner </a:t>
            </a:r>
            <a:r>
              <a:rPr lang="en-US" sz="600" dirty="0" err="1">
                <a:latin typeface="Courier"/>
              </a:rPr>
              <a:t>sep</a:t>
            </a:r>
            <a:r>
              <a:rPr lang="en-US" sz="600" dirty="0">
                <a:latin typeface="Courier"/>
              </a:rPr>
              <a:t>=0pt,fill=green!60},
  }
  \node[green] (A) at (90:3cm) {A};
  \node[ring]  (B) at (150:3cm) {B};
  \node[green] (C) at (210:3cm) {C};
  \node[ring]  (D) at (270:3cm) {D};
  \node[green] (E) at (330:3cm) {E};
  \node[ring]  (F) at (30:3cm)  {F};
  \draw[</a:t>
            </a:r>
            <a:r>
              <a:rPr lang="en-US" sz="600" dirty="0" err="1">
                <a:latin typeface="Courier"/>
              </a:rPr>
              <a:t>dotted,blue,line</a:t>
            </a:r>
            <a:r>
              <a:rPr lang="en-US" sz="600" dirty="0">
                <a:latin typeface="Courier"/>
              </a:rPr>
              <a:t> width=1.5pt] (B) -- 
    node[</a:t>
            </a:r>
            <a:r>
              <a:rPr lang="en-US" sz="600" dirty="0" err="1">
                <a:latin typeface="Courier"/>
              </a:rPr>
              <a:t>midway,above,fill</a:t>
            </a:r>
            <a:r>
              <a:rPr lang="en-US" sz="600" dirty="0">
                <a:latin typeface="Courier"/>
              </a:rPr>
              <a:t>=white] {6} (F);
  \draw[</a:t>
            </a:r>
            <a:r>
              <a:rPr lang="en-US" sz="600" dirty="0" err="1">
                <a:latin typeface="Courier"/>
              </a:rPr>
              <a:t>dotted,blue,very</a:t>
            </a:r>
            <a:r>
              <a:rPr lang="en-US" sz="600" dirty="0">
                <a:latin typeface="Courier"/>
              </a:rPr>
              <a:t> thick] (B) -- 
    node[</a:t>
            </a:r>
            <a:r>
              <a:rPr lang="en-US" sz="600" dirty="0" err="1">
                <a:latin typeface="Courier"/>
              </a:rPr>
              <a:t>pos</a:t>
            </a:r>
            <a:r>
              <a:rPr lang="en-US" sz="600" dirty="0">
                <a:latin typeface="Courier"/>
              </a:rPr>
              <a:t>=0.5,left,fill=white] {2} (D);
  \draw[</a:t>
            </a:r>
            <a:r>
              <a:rPr lang="en-US" sz="600" dirty="0" err="1">
                <a:latin typeface="Courier"/>
              </a:rPr>
              <a:t>dotted,blue,very</a:t>
            </a:r>
            <a:r>
              <a:rPr lang="en-US" sz="600" dirty="0">
                <a:latin typeface="Courier"/>
              </a:rPr>
              <a:t> thick] (F) -- 
    node[</a:t>
            </a:r>
            <a:r>
              <a:rPr lang="en-US" sz="600" dirty="0" err="1">
                <a:latin typeface="Courier"/>
              </a:rPr>
              <a:t>pos</a:t>
            </a:r>
            <a:r>
              <a:rPr lang="en-US" sz="600" dirty="0">
                <a:latin typeface="Courier"/>
              </a:rPr>
              <a:t>=0.5,right,fill=white] {4} (D);
  \draw[cyan!80!black,very </a:t>
            </a:r>
            <a:r>
              <a:rPr lang="en-US" sz="600" dirty="0" err="1">
                <a:latin typeface="Courier"/>
              </a:rPr>
              <a:t>thick,rounded</a:t>
            </a:r>
            <a:r>
              <a:rPr lang="en-US" sz="600" dirty="0">
                <a:latin typeface="Courier"/>
              </a:rPr>
              <a:t> corners=6pt]
    (B) to[out=200,in=160] (C) to[out=-20,in=180] (D);
  \draw[red!80!black,very </a:t>
            </a:r>
            <a:r>
              <a:rPr lang="en-US" sz="600" dirty="0" err="1">
                <a:latin typeface="Courier"/>
              </a:rPr>
              <a:t>thick,smooth</a:t>
            </a:r>
            <a:r>
              <a:rPr lang="en-US" sz="600" dirty="0">
                <a:latin typeface="Courier"/>
              </a:rPr>
              <a:t>]
    (A) to[out=-60,in=90] 
    node[</a:t>
            </a:r>
            <a:r>
              <a:rPr lang="en-US" sz="600" dirty="0" err="1">
                <a:latin typeface="Courier"/>
              </a:rPr>
              <a:t>pos</a:t>
            </a:r>
            <a:r>
              <a:rPr lang="en-US" sz="600" dirty="0">
                <a:latin typeface="Courier"/>
              </a:rPr>
              <a:t>=0.5,right,red,fill=white] {$\</a:t>
            </a:r>
            <a:r>
              <a:rPr lang="en-US" sz="600" dirty="0" err="1">
                <a:latin typeface="Courier"/>
              </a:rPr>
              <a:t>sqrt</a:t>
            </a:r>
            <a:r>
              <a:rPr lang="en-US" sz="600" dirty="0">
                <a:latin typeface="Courier"/>
              </a:rPr>
              <a:t>{2}$} (D);
  \draw[red!80!black,very </a:t>
            </a:r>
            <a:r>
              <a:rPr lang="en-US" sz="600" dirty="0" err="1">
                <a:latin typeface="Courier"/>
              </a:rPr>
              <a:t>thick,smooth</a:t>
            </a:r>
            <a:r>
              <a:rPr lang="en-US" sz="600" dirty="0">
                <a:latin typeface="Courier"/>
              </a:rPr>
              <a:t>]
    (A) to[out=-30,in=90] (E);
  \draw[red!80!black,very </a:t>
            </a:r>
            <a:r>
              <a:rPr lang="en-US" sz="600" dirty="0" err="1">
                <a:latin typeface="Courier"/>
              </a:rPr>
              <a:t>thick,smooth</a:t>
            </a:r>
            <a:r>
              <a:rPr lang="en-US" sz="600" dirty="0">
                <a:latin typeface="Courier"/>
              </a:rPr>
              <a:t>]
    (A) to[out=180,in=90] (B);
\end{</a:t>
            </a:r>
            <a:r>
              <a:rPr lang="en-US" sz="600" dirty="0" err="1">
                <a:latin typeface="Courier"/>
              </a:rPr>
              <a:t>tikzpicture</a:t>
            </a:r>
            <a:r>
              <a:rPr lang="en-US" sz="600" dirty="0">
                <a:latin typeface="Courier"/>
              </a:rPr>
              <a:t>}
\end{document}</a:t>
            </a:r>
          </a:p>
          <a:p>
            <a:pPr lvl="0"/>
            <a:r>
              <a:rPr lang="ru-RU" sz="600" dirty="0"/>
              <a:t>Приложение: Литература</a:t>
            </a:r>
          </a:p>
          <a:p>
            <a:pPr lvl="0"/>
            <a:r>
              <a:rPr lang="ru-RU" sz="600" dirty="0"/>
              <a:t>99 </a:t>
            </a:r>
            <a:r>
              <a:rPr lang="en-US" sz="600" dirty="0"/>
              <a:t>Till </a:t>
            </a:r>
            <a:r>
              <a:rPr lang="en-US" sz="600" dirty="0" err="1"/>
              <a:t>Tantau</a:t>
            </a:r>
            <a:r>
              <a:rPr lang="en-US" sz="600" dirty="0"/>
              <a:t>. </a:t>
            </a:r>
            <a:r>
              <a:rPr lang="en-US" sz="600" i="1" dirty="0"/>
              <a:t>The </a:t>
            </a:r>
            <a:r>
              <a:rPr lang="en-US" sz="600" i="1" dirty="0" err="1"/>
              <a:t>TikZ</a:t>
            </a:r>
            <a:r>
              <a:rPr lang="en-US" sz="600" i="1" dirty="0"/>
              <a:t> and PGF Packages</a:t>
            </a:r>
            <a:r>
              <a:rPr lang="en-US" sz="600" dirty="0"/>
              <a:t>. Manual for version 3.1.10, 2023.</a:t>
            </a:r>
          </a:p>
          <a:p>
            <a:pPr lvl="0"/>
            <a:r>
              <a:rPr lang="en-US" sz="600" dirty="0"/>
              <a:t>Benoit Mandelbrot. </a:t>
            </a:r>
            <a:r>
              <a:rPr lang="en-US" sz="600" i="1" dirty="0"/>
              <a:t>The Fractal Geometry of Nature</a:t>
            </a:r>
            <a:r>
              <a:rPr lang="en-US" sz="600" dirty="0"/>
              <a:t>. W. H. Freeman and Company, 1982.</a:t>
            </a:r>
          </a:p>
          <a:p>
            <a:pPr lvl="0"/>
            <a:r>
              <a:rPr lang="en-US" sz="600" dirty="0"/>
              <a:t>Donald E. Knuth. </a:t>
            </a:r>
            <a:r>
              <a:rPr lang="en-US" sz="600" i="1" dirty="0"/>
              <a:t>The </a:t>
            </a:r>
            <a:r>
              <a:rPr lang="en-US" sz="600" i="1" dirty="0" err="1"/>
              <a:t>TeXbook</a:t>
            </a:r>
            <a:r>
              <a:rPr lang="en-US" sz="600" dirty="0"/>
              <a:t>. Addison-Wesley, 1986.</a:t>
            </a:r>
          </a:p>
          <a:p>
            <a:pPr lvl="0"/>
            <a:r>
              <a:rPr lang="en-US" sz="600" dirty="0"/>
              <a:t>Leslie </a:t>
            </a:r>
            <a:r>
              <a:rPr lang="en-US" sz="600" dirty="0" err="1"/>
              <a:t>Lamport</a:t>
            </a:r>
            <a:r>
              <a:rPr lang="en-US" sz="600" dirty="0"/>
              <a:t>. </a:t>
            </a:r>
            <a:r>
              <a:rPr lang="en-US" sz="600" i="1" dirty="0" err="1"/>
              <a:t>LaTeX</a:t>
            </a:r>
            <a:r>
              <a:rPr lang="en-US" sz="600" i="1" dirty="0"/>
              <a:t>: A Document Preparation System</a:t>
            </a:r>
            <a:r>
              <a:rPr lang="en-US" sz="600" dirty="0"/>
              <a:t>. Addison-Wesley, 1994.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Экран (16:9)</PresentationFormat>
  <Paragraphs>134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Courier</vt:lpstr>
      <vt:lpstr>Office Theme</vt:lpstr>
      <vt:lpstr>Построение графических объектов в TikZ</vt:lpstr>
      <vt:lpstr>Презентация PowerPoint</vt:lpstr>
      <vt:lpstr>Введение</vt:lpstr>
      <vt:lpstr>Задание 1: Граф</vt:lpstr>
      <vt:lpstr>Задание 2: Функции</vt:lpstr>
      <vt:lpstr>Задание 3: Фрактал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Построение графических объектов в TikZ</dc:title>
  <dc:creator>Выполнил: [Викторов Егор] Группа: [НПМмд02-24]</dc:creator>
  <cp:keywords/>
  <cp:lastModifiedBy>Пользователь</cp:lastModifiedBy>
  <cp:revision>1</cp:revision>
  <dcterms:created xsi:type="dcterms:W3CDTF">2025-12-19T07:36:31Z</dcterms:created>
  <dcterms:modified xsi:type="dcterms:W3CDTF">2025-12-19T07:55:14Z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2025-12-19</vt:lpwstr>
  </property>
  <property fmtid="{D5CDD505-2E9C-101B-9397-08002B2CF9AE}" pid="3" name="subtitle">
    <vt:lpwstr>Графы, функции и фракталы</vt:lpwstr>
  </property>
</Properties>
</file>